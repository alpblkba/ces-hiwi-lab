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snapToObjects="1">
      <p:cViewPr varScale="1">
        <p:scale>
          <a:sx n="104" d="100"/>
          <a:sy n="104" d="100"/>
        </p:scale>
        <p:origin x="232" y="5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elfoli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DE3DA4-1A9A-4B49-B924-215979D2EA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467" y="3635614"/>
            <a:ext cx="11914263" cy="2704642"/>
          </a:xfrm>
          <a:prstGeom prst="rect">
            <a:avLst/>
          </a:prstGeom>
        </p:spPr>
      </p:pic>
      <p:sp>
        <p:nvSpPr>
          <p:cNvPr id="8" name="Textplatzhalter 18"/>
          <p:cNvSpPr>
            <a:spLocks noGrp="1"/>
          </p:cNvSpPr>
          <p:nvPr>
            <p:ph type="body" sz="quarter" idx="11" hasCustomPrompt="1"/>
          </p:nvPr>
        </p:nvSpPr>
        <p:spPr>
          <a:xfrm>
            <a:off x="338667" y="1953781"/>
            <a:ext cx="11366076" cy="1001397"/>
          </a:xfrm>
        </p:spPr>
        <p:txBody>
          <a:bodyPr anchor="ctr">
            <a:normAutofit/>
          </a:bodyPr>
          <a:lstStyle>
            <a:lvl1pPr marL="0" indent="0">
              <a:lnSpc>
                <a:spcPct val="100000"/>
              </a:lnSpc>
              <a:buFont typeface="Arial" panose="020B0604020202020204" pitchFamily="34" charset="0"/>
              <a:buNone/>
              <a:defRPr sz="3466" b="1"/>
            </a:lvl1pPr>
            <a:lvl2pPr marL="473979" indent="0">
              <a:buFont typeface="Arial" panose="020B0604020202020204" pitchFamily="34" charset="0"/>
              <a:buNone/>
              <a:defRPr sz="3466" b="1"/>
            </a:lvl2pPr>
            <a:lvl3pPr marL="956422" indent="0">
              <a:buFont typeface="Arial" panose="020B0604020202020204" pitchFamily="34" charset="0"/>
              <a:buNone/>
              <a:defRPr sz="3466" b="1"/>
            </a:lvl3pPr>
            <a:lvl4pPr marL="1430402" indent="0">
              <a:buFont typeface="Arial" panose="020B0604020202020204" pitchFamily="34" charset="0"/>
              <a:buNone/>
              <a:defRPr sz="3466" b="1"/>
            </a:lvl4pPr>
            <a:lvl5pPr marL="1912845" indent="0">
              <a:buFont typeface="Arial" panose="020B0604020202020204" pitchFamily="34" charset="0"/>
              <a:buNone/>
              <a:defRPr sz="3466" b="1"/>
            </a:lvl5pPr>
          </a:lstStyle>
          <a:p>
            <a:pPr lvl="0"/>
            <a:r>
              <a:rPr lang="de-DE" dirty="0"/>
              <a:t>Click </a:t>
            </a:r>
            <a:r>
              <a:rPr lang="de-DE" dirty="0" err="1"/>
              <a:t>to</a:t>
            </a:r>
            <a:r>
              <a:rPr lang="de-DE" dirty="0"/>
              <a:t> </a:t>
            </a:r>
            <a:r>
              <a:rPr lang="de-DE" dirty="0" err="1"/>
              <a:t>add</a:t>
            </a:r>
            <a:r>
              <a:rPr lang="de-DE" dirty="0"/>
              <a:t> </a:t>
            </a:r>
            <a:r>
              <a:rPr lang="de-DE" dirty="0" err="1"/>
              <a:t>the</a:t>
            </a:r>
            <a:r>
              <a:rPr lang="de-DE" dirty="0"/>
              <a:t> title</a:t>
            </a:r>
          </a:p>
        </p:txBody>
      </p:sp>
      <p:sp>
        <p:nvSpPr>
          <p:cNvPr id="10" name="Text Box 14">
            <a:extLst>
              <a:ext uri="{FF2B5EF4-FFF2-40B4-BE49-F238E27FC236}">
                <a16:creationId xmlns:a16="http://schemas.microsoft.com/office/drawing/2014/main" id="{537A5579-09BA-4663-B67D-33B154205799}"/>
              </a:ext>
            </a:extLst>
          </p:cNvPr>
          <p:cNvSpPr txBox="1">
            <a:spLocks noChangeArrowheads="1"/>
          </p:cNvSpPr>
          <p:nvPr/>
        </p:nvSpPr>
        <p:spPr bwMode="auto">
          <a:xfrm>
            <a:off x="155467" y="6525687"/>
            <a:ext cx="4808893" cy="169277"/>
          </a:xfrm>
          <a:prstGeom prst="rect">
            <a:avLst/>
          </a:prstGeom>
          <a:noFill/>
          <a:ln w="9525">
            <a:noFill/>
            <a:miter lim="800000"/>
            <a:headEnd/>
            <a:tailEnd/>
          </a:ln>
          <a:effectLst/>
        </p:spPr>
        <p:txBody>
          <a:bodyPr wrap="square" lIns="0" tIns="0" rIns="0" bIns="0">
            <a:spAutoFit/>
          </a:bodyPr>
          <a:lstStyle/>
          <a:p>
            <a:r>
              <a:rPr lang="en-US" sz="1100" noProof="0" dirty="0"/>
              <a:t>KIT – The Research University in the Helmholtz Association</a:t>
            </a:r>
          </a:p>
        </p:txBody>
      </p:sp>
      <p:sp>
        <p:nvSpPr>
          <p:cNvPr id="11" name="Text Box 14">
            <a:extLst>
              <a:ext uri="{FF2B5EF4-FFF2-40B4-BE49-F238E27FC236}">
                <a16:creationId xmlns:a16="http://schemas.microsoft.com/office/drawing/2014/main" id="{6C188393-F356-4F5D-80C7-5DAA7302CAFB}"/>
              </a:ext>
            </a:extLst>
          </p:cNvPr>
          <p:cNvSpPr txBox="1">
            <a:spLocks noChangeArrowheads="1"/>
          </p:cNvSpPr>
          <p:nvPr/>
        </p:nvSpPr>
        <p:spPr bwMode="auto">
          <a:xfrm>
            <a:off x="9757834" y="6432820"/>
            <a:ext cx="2302933" cy="328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de-DE" altLang="de-DE" sz="2133" b="1" dirty="0">
                <a:solidFill>
                  <a:schemeClr val="tx1"/>
                </a:solidFill>
              </a:rPr>
              <a:t>ces.itec.kit.edu</a:t>
            </a:r>
          </a:p>
        </p:txBody>
      </p:sp>
      <p:pic>
        <p:nvPicPr>
          <p:cNvPr id="12" name="Grafik 11">
            <a:extLst>
              <a:ext uri="{FF2B5EF4-FFF2-40B4-BE49-F238E27FC236}">
                <a16:creationId xmlns:a16="http://schemas.microsoft.com/office/drawing/2014/main" id="{F170E65B-29E8-4B34-8C2D-4A01E1FD964E}"/>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528000" y="479852"/>
            <a:ext cx="2162067" cy="1001397"/>
          </a:xfrm>
          <a:prstGeom prst="rect">
            <a:avLst/>
          </a:prstGeom>
        </p:spPr>
      </p:pic>
      <p:pic>
        <p:nvPicPr>
          <p:cNvPr id="14" name="Picture 13">
            <a:extLst>
              <a:ext uri="{FF2B5EF4-FFF2-40B4-BE49-F238E27FC236}">
                <a16:creationId xmlns:a16="http://schemas.microsoft.com/office/drawing/2014/main" id="{D030C395-2F6A-4527-8B16-1851C169BF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53365" y="479852"/>
            <a:ext cx="2499968" cy="793494"/>
          </a:xfrm>
          <a:prstGeom prst="rect">
            <a:avLst/>
          </a:prstGeom>
        </p:spPr>
      </p:pic>
      <p:sp>
        <p:nvSpPr>
          <p:cNvPr id="2" name="Textplatzhalter 18">
            <a:extLst>
              <a:ext uri="{FF2B5EF4-FFF2-40B4-BE49-F238E27FC236}">
                <a16:creationId xmlns:a16="http://schemas.microsoft.com/office/drawing/2014/main" id="{6A260E99-0BCE-C497-80F5-5071FAA53631}"/>
              </a:ext>
            </a:extLst>
          </p:cNvPr>
          <p:cNvSpPr>
            <a:spLocks noGrp="1"/>
          </p:cNvSpPr>
          <p:nvPr>
            <p:ph type="body" sz="quarter" idx="12" hasCustomPrompt="1"/>
          </p:nvPr>
        </p:nvSpPr>
        <p:spPr>
          <a:xfrm>
            <a:off x="338667" y="3843518"/>
            <a:ext cx="11514667" cy="1383273"/>
          </a:xfrm>
          <a:prstGeom prst="rect">
            <a:avLst/>
          </a:prstGeom>
        </p:spPr>
        <p:txBody>
          <a:bodyPr anchor="t">
            <a:normAutofit/>
          </a:bodyPr>
          <a:lstStyle>
            <a:lvl1pPr marL="0" indent="0">
              <a:lnSpc>
                <a:spcPct val="100000"/>
              </a:lnSpc>
              <a:buFont typeface="Arial" panose="020B0604020202020204" pitchFamily="34" charset="0"/>
              <a:buNone/>
              <a:defRPr sz="2399" b="1">
                <a:solidFill>
                  <a:schemeClr val="bg1"/>
                </a:solidFill>
                <a:effectLst>
                  <a:outerShdw blurRad="38100" dist="38100" dir="2700000" algn="tl">
                    <a:srgbClr val="000000">
                      <a:alpha val="43137"/>
                    </a:srgbClr>
                  </a:outerShdw>
                </a:effectLst>
              </a:defRPr>
            </a:lvl1pPr>
            <a:lvl2pPr marL="473979" indent="0">
              <a:buFont typeface="Arial" panose="020B0604020202020204" pitchFamily="34" charset="0"/>
              <a:buNone/>
              <a:defRPr sz="3466" b="1"/>
            </a:lvl2pPr>
            <a:lvl3pPr marL="956422" indent="0">
              <a:buFont typeface="Arial" panose="020B0604020202020204" pitchFamily="34" charset="0"/>
              <a:buNone/>
              <a:defRPr sz="3466" b="1"/>
            </a:lvl3pPr>
            <a:lvl4pPr marL="1430402" indent="0">
              <a:buFont typeface="Arial" panose="020B0604020202020204" pitchFamily="34" charset="0"/>
              <a:buNone/>
              <a:defRPr sz="3466" b="1"/>
            </a:lvl4pPr>
            <a:lvl5pPr marL="1912845" indent="0">
              <a:buFont typeface="Arial" panose="020B0604020202020204" pitchFamily="34" charset="0"/>
              <a:buNone/>
              <a:defRPr sz="3466" b="1"/>
            </a:lvl5pPr>
          </a:lstStyle>
          <a:p>
            <a:pPr lvl="0"/>
            <a:r>
              <a:rPr lang="en-US" noProof="0" dirty="0"/>
              <a:t>Click to add Authors, Subtitle, Description, Comments, etc.</a:t>
            </a:r>
          </a:p>
        </p:txBody>
      </p:sp>
      <p:sp>
        <p:nvSpPr>
          <p:cNvPr id="3" name="Textplatzhalter 18">
            <a:extLst>
              <a:ext uri="{FF2B5EF4-FFF2-40B4-BE49-F238E27FC236}">
                <a16:creationId xmlns:a16="http://schemas.microsoft.com/office/drawing/2014/main" id="{D7360E02-3185-A131-CEFC-E55C6464B306}"/>
              </a:ext>
            </a:extLst>
          </p:cNvPr>
          <p:cNvSpPr>
            <a:spLocks noGrp="1"/>
          </p:cNvSpPr>
          <p:nvPr>
            <p:ph type="body" sz="quarter" idx="13" hasCustomPrompt="1"/>
          </p:nvPr>
        </p:nvSpPr>
        <p:spPr>
          <a:xfrm>
            <a:off x="338667" y="5397646"/>
            <a:ext cx="11514667" cy="733948"/>
          </a:xfrm>
          <a:prstGeom prst="rect">
            <a:avLst/>
          </a:prstGeom>
        </p:spPr>
        <p:txBody>
          <a:bodyPr anchor="b">
            <a:normAutofit/>
          </a:bodyPr>
          <a:lstStyle>
            <a:lvl1pPr marL="0" indent="0">
              <a:lnSpc>
                <a:spcPct val="100000"/>
              </a:lnSpc>
              <a:buFont typeface="Arial" panose="020B0604020202020204" pitchFamily="34" charset="0"/>
              <a:buNone/>
              <a:defRPr sz="2133" b="0">
                <a:solidFill>
                  <a:schemeClr val="bg1"/>
                </a:solidFill>
                <a:effectLst>
                  <a:outerShdw blurRad="38100" dist="38100" dir="2700000" algn="tl">
                    <a:srgbClr val="000000">
                      <a:alpha val="43137"/>
                    </a:srgbClr>
                  </a:outerShdw>
                </a:effectLst>
              </a:defRPr>
            </a:lvl1pPr>
            <a:lvl2pPr marL="473979" indent="0">
              <a:buFont typeface="Arial" panose="020B0604020202020204" pitchFamily="34" charset="0"/>
              <a:buNone/>
              <a:defRPr sz="3466" b="1"/>
            </a:lvl2pPr>
            <a:lvl3pPr marL="956422" indent="0">
              <a:buFont typeface="Arial" panose="020B0604020202020204" pitchFamily="34" charset="0"/>
              <a:buNone/>
              <a:defRPr sz="3466" b="1"/>
            </a:lvl3pPr>
            <a:lvl4pPr marL="1430402" indent="0">
              <a:buFont typeface="Arial" panose="020B0604020202020204" pitchFamily="34" charset="0"/>
              <a:buNone/>
              <a:defRPr sz="3466" b="1"/>
            </a:lvl4pPr>
            <a:lvl5pPr marL="1912845" indent="0">
              <a:buFont typeface="Arial" panose="020B0604020202020204" pitchFamily="34" charset="0"/>
              <a:buNone/>
              <a:defRPr sz="3466" b="1"/>
            </a:lvl5pPr>
          </a:lstStyle>
          <a:p>
            <a:pPr lvl="0"/>
            <a:r>
              <a:rPr lang="en-US" noProof="0" dirty="0"/>
              <a:t>Click to add Acknowledgement, Project name, etc. (if applicable)</a:t>
            </a:r>
          </a:p>
        </p:txBody>
      </p:sp>
    </p:spTree>
    <p:extLst>
      <p:ext uri="{BB962C8B-B14F-4D97-AF65-F5344CB8AC3E}">
        <p14:creationId xmlns:p14="http://schemas.microsoft.com/office/powerpoint/2010/main" val="668417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33400" y="1583512"/>
            <a:ext cx="11125200" cy="4486472"/>
          </a:xfrm>
        </p:spPr>
        <p:txBody>
          <a:bodyPr/>
          <a:lstStyle>
            <a:lvl1pPr>
              <a:defRPr/>
            </a:lvl1pPr>
            <a:lvl2pPr>
              <a:defRPr/>
            </a:lvl2pPr>
            <a:lvl3pPr>
              <a:defRPr/>
            </a:lvl3pPr>
            <a:lvl4pPr>
              <a:defRPr/>
            </a:lvl4pPr>
            <a:lvl5pPr>
              <a:defRPr sz="2133"/>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Date Placeholder 3"/>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6" name="Slide Number Placeholder 5"/>
          <p:cNvSpPr>
            <a:spLocks noGrp="1"/>
          </p:cNvSpPr>
          <p:nvPr>
            <p:ph type="sldNum" sz="quarter" idx="12"/>
          </p:nvPr>
        </p:nvSpPr>
        <p:spPr>
          <a:xfrm>
            <a:off x="288000" y="6329811"/>
            <a:ext cx="435157" cy="528189"/>
          </a:xfrm>
          <a:prstGeom prst="rect">
            <a:avLst/>
          </a:prstGeom>
        </p:spPr>
        <p:txBody>
          <a:bodyPr/>
          <a:lstStyle>
            <a:lvl1pPr>
              <a:defRPr/>
            </a:lvl1pPr>
          </a:lstStyle>
          <a:p>
            <a:fld id="{C1FF6DA9-008F-8B48-92A6-B652298478BF}" type="slidenum">
              <a:rPr lang="en-US" smtClean="0"/>
              <a:t>‹#›</a:t>
            </a:fld>
            <a:endParaRPr lang="en-US"/>
          </a:p>
        </p:txBody>
      </p:sp>
      <p:sp>
        <p:nvSpPr>
          <p:cNvPr id="7" name="Title Placeholder 1">
            <a:extLst>
              <a:ext uri="{FF2B5EF4-FFF2-40B4-BE49-F238E27FC236}">
                <a16:creationId xmlns:a16="http://schemas.microsoft.com/office/drawing/2014/main" id="{340BE303-A4F2-4BCB-AF82-DC9DDFB7C7E7}"/>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1489919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33400" y="1583512"/>
            <a:ext cx="5486400" cy="4593452"/>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Content Placeholder 3"/>
          <p:cNvSpPr>
            <a:spLocks noGrp="1"/>
          </p:cNvSpPr>
          <p:nvPr>
            <p:ph sz="half" idx="2" hasCustomPrompt="1"/>
          </p:nvPr>
        </p:nvSpPr>
        <p:spPr>
          <a:xfrm>
            <a:off x="6172200" y="1583512"/>
            <a:ext cx="5486399" cy="4593452"/>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Date Placeholder 4"/>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7" name="Slide Number Placeholder 6"/>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9" name="Title Placeholder 1">
            <a:extLst>
              <a:ext uri="{FF2B5EF4-FFF2-40B4-BE49-F238E27FC236}">
                <a16:creationId xmlns:a16="http://schemas.microsoft.com/office/drawing/2014/main" id="{6862948F-D5FC-499A-8B74-0B5A4CF727CD}"/>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1469792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rei Inhalte">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33400" y="1583512"/>
            <a:ext cx="3608832" cy="4593452"/>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Content Placeholder 3"/>
          <p:cNvSpPr>
            <a:spLocks noGrp="1"/>
          </p:cNvSpPr>
          <p:nvPr>
            <p:ph sz="half" idx="2" hasCustomPrompt="1"/>
          </p:nvPr>
        </p:nvSpPr>
        <p:spPr>
          <a:xfrm>
            <a:off x="4290060" y="1583512"/>
            <a:ext cx="3608832" cy="4593452"/>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Date Placeholder 4"/>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7" name="Slide Number Placeholder 6"/>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9" name="Title Placeholder 1">
            <a:extLst>
              <a:ext uri="{FF2B5EF4-FFF2-40B4-BE49-F238E27FC236}">
                <a16:creationId xmlns:a16="http://schemas.microsoft.com/office/drawing/2014/main" id="{6862948F-D5FC-499A-8B74-0B5A4CF727CD}"/>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
        <p:nvSpPr>
          <p:cNvPr id="8" name="Content Placeholder 3"/>
          <p:cNvSpPr>
            <a:spLocks noGrp="1"/>
          </p:cNvSpPr>
          <p:nvPr>
            <p:ph sz="half" idx="13" hasCustomPrompt="1"/>
          </p:nvPr>
        </p:nvSpPr>
        <p:spPr>
          <a:xfrm>
            <a:off x="8046720" y="1583512"/>
            <a:ext cx="3608832" cy="4593452"/>
          </a:xfrm>
        </p:spPr>
        <p:txBody>
          <a:bodyPr/>
          <a:lstStyle>
            <a:lvl1pPr algn="l">
              <a:defRPr/>
            </a:lvl1pPr>
            <a:lvl2pPr algn="l">
              <a:defRPr/>
            </a:lvl2pPr>
            <a:lvl3pPr algn="l">
              <a:defRPr/>
            </a:lvl3pPr>
            <a:lvl4pPr algn="l">
              <a:defRPr/>
            </a:lvl4pPr>
            <a:lvl5pPr algn="l">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Tree>
    <p:extLst>
      <p:ext uri="{BB962C8B-B14F-4D97-AF65-F5344CB8AC3E}">
        <p14:creationId xmlns:p14="http://schemas.microsoft.com/office/powerpoint/2010/main" val="2757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
        <p:nvSpPr>
          <p:cNvPr id="8" name="Bildplatzhalter 4"/>
          <p:cNvSpPr>
            <a:spLocks noGrp="1"/>
          </p:cNvSpPr>
          <p:nvPr>
            <p:ph type="pic" sz="quarter" idx="13" hasCustomPrompt="1"/>
          </p:nvPr>
        </p:nvSpPr>
        <p:spPr>
          <a:xfrm>
            <a:off x="6207759" y="1584471"/>
            <a:ext cx="5467775" cy="4611218"/>
          </a:xfrm>
          <a:prstGeom prst="round2DiagRect">
            <a:avLst>
              <a:gd name="adj1" fmla="val 0"/>
              <a:gd name="adj2" fmla="val 8317"/>
            </a:avLst>
          </a:prstGeom>
          <a:solidFill>
            <a:srgbClr val="FF99FF"/>
          </a:solidFill>
          <a:ln w="12700">
            <a:solidFill>
              <a:schemeClr val="bg2"/>
            </a:solidFill>
          </a:ln>
        </p:spPr>
        <p:txBody>
          <a:bodyPr/>
          <a:lstStyle>
            <a:lvl1pPr marL="0" indent="0">
              <a:buFont typeface="Arial" panose="020B0604020202020204" pitchFamily="34" charset="0"/>
              <a:buNone/>
              <a:defRPr baseline="0"/>
            </a:lvl1pPr>
          </a:lstStyle>
          <a:p>
            <a:r>
              <a:rPr lang="en-US" dirty="0"/>
              <a:t>Please insert a picture in the master slide</a:t>
            </a:r>
          </a:p>
        </p:txBody>
      </p:sp>
      <p:sp>
        <p:nvSpPr>
          <p:cNvPr id="3" name="Content Placeholder 2"/>
          <p:cNvSpPr>
            <a:spLocks noGrp="1"/>
          </p:cNvSpPr>
          <p:nvPr>
            <p:ph sz="half" idx="1" hasCustomPrompt="1"/>
          </p:nvPr>
        </p:nvSpPr>
        <p:spPr>
          <a:xfrm>
            <a:off x="533400" y="1583512"/>
            <a:ext cx="5486400" cy="4593452"/>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Date Placeholder 4"/>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7" name="Slide Number Placeholder 6"/>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9" name="Title Placeholder 1">
            <a:extLst>
              <a:ext uri="{FF2B5EF4-FFF2-40B4-BE49-F238E27FC236}">
                <a16:creationId xmlns:a16="http://schemas.microsoft.com/office/drawing/2014/main" id="{6862948F-D5FC-499A-8B74-0B5A4CF727CD}"/>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1181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33400" y="1583512"/>
            <a:ext cx="5464176" cy="823912"/>
          </a:xfrm>
        </p:spPr>
        <p:txBody>
          <a:bodyPr anchor="b">
            <a:normAutofit/>
          </a:bodyPr>
          <a:lstStyle>
            <a:lvl1pPr marL="0" indent="0">
              <a:buNone/>
              <a:defRPr sz="2666" b="1"/>
            </a:lvl1pPr>
            <a:lvl2pPr marL="457173" indent="0">
              <a:buNone/>
              <a:defRPr sz="1999" b="1"/>
            </a:lvl2pPr>
            <a:lvl3pPr marL="914347" indent="0">
              <a:buNone/>
              <a:defRPr sz="1799" b="1"/>
            </a:lvl3pPr>
            <a:lvl4pPr marL="1371519" indent="0">
              <a:buNone/>
              <a:defRPr sz="1599" b="1"/>
            </a:lvl4pPr>
            <a:lvl5pPr marL="1828693" indent="0">
              <a:buNone/>
              <a:defRPr sz="1599" b="1"/>
            </a:lvl5pPr>
            <a:lvl6pPr marL="2285866" indent="0">
              <a:buNone/>
              <a:defRPr sz="1599" b="1"/>
            </a:lvl6pPr>
            <a:lvl7pPr marL="2743040" indent="0">
              <a:buNone/>
              <a:defRPr sz="1599" b="1"/>
            </a:lvl7pPr>
            <a:lvl8pPr marL="3200213" indent="0">
              <a:buNone/>
              <a:defRPr sz="1599" b="1"/>
            </a:lvl8pPr>
            <a:lvl9pPr marL="3657387" indent="0">
              <a:buNone/>
              <a:defRPr sz="1599" b="1"/>
            </a:lvl9pPr>
          </a:lstStyle>
          <a:p>
            <a:pPr lvl="0"/>
            <a:r>
              <a:rPr lang="en-US" altLang="de-DE" dirty="0"/>
              <a:t>Click to add subline</a:t>
            </a:r>
          </a:p>
        </p:txBody>
      </p:sp>
      <p:sp>
        <p:nvSpPr>
          <p:cNvPr id="4" name="Content Placeholder 3"/>
          <p:cNvSpPr>
            <a:spLocks noGrp="1"/>
          </p:cNvSpPr>
          <p:nvPr>
            <p:ph sz="half" idx="2" hasCustomPrompt="1"/>
          </p:nvPr>
        </p:nvSpPr>
        <p:spPr>
          <a:xfrm>
            <a:off x="533400" y="2582458"/>
            <a:ext cx="5464176" cy="3607205"/>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Text Placeholder 4"/>
          <p:cNvSpPr>
            <a:spLocks noGrp="1"/>
          </p:cNvSpPr>
          <p:nvPr>
            <p:ph type="body" sz="quarter" idx="3" hasCustomPrompt="1"/>
          </p:nvPr>
        </p:nvSpPr>
        <p:spPr>
          <a:xfrm>
            <a:off x="6194424" y="1583512"/>
            <a:ext cx="5464176" cy="823912"/>
          </a:xfrm>
        </p:spPr>
        <p:txBody>
          <a:bodyPr anchor="b">
            <a:normAutofit/>
          </a:bodyPr>
          <a:lstStyle>
            <a:lvl1pPr marL="0" indent="0">
              <a:buNone/>
              <a:defRPr sz="2666" b="1"/>
            </a:lvl1pPr>
            <a:lvl2pPr marL="457173" indent="0">
              <a:buNone/>
              <a:defRPr sz="1999" b="1"/>
            </a:lvl2pPr>
            <a:lvl3pPr marL="914347" indent="0">
              <a:buNone/>
              <a:defRPr sz="1799" b="1"/>
            </a:lvl3pPr>
            <a:lvl4pPr marL="1371519" indent="0">
              <a:buNone/>
              <a:defRPr sz="1599" b="1"/>
            </a:lvl4pPr>
            <a:lvl5pPr marL="1828693" indent="0">
              <a:buNone/>
              <a:defRPr sz="1599" b="1"/>
            </a:lvl5pPr>
            <a:lvl6pPr marL="2285866" indent="0">
              <a:buNone/>
              <a:defRPr sz="1599" b="1"/>
            </a:lvl6pPr>
            <a:lvl7pPr marL="2743040" indent="0">
              <a:buNone/>
              <a:defRPr sz="1599" b="1"/>
            </a:lvl7pPr>
            <a:lvl8pPr marL="3200213" indent="0">
              <a:buNone/>
              <a:defRPr sz="1599" b="1"/>
            </a:lvl8pPr>
            <a:lvl9pPr marL="3657387" indent="0">
              <a:buNone/>
              <a:defRPr sz="1599" b="1"/>
            </a:lvl9pPr>
          </a:lstStyle>
          <a:p>
            <a:pPr lvl="0"/>
            <a:r>
              <a:rPr lang="en-US" altLang="de-DE" dirty="0"/>
              <a:t>Click to add subline</a:t>
            </a:r>
          </a:p>
        </p:txBody>
      </p:sp>
      <p:sp>
        <p:nvSpPr>
          <p:cNvPr id="6" name="Content Placeholder 5"/>
          <p:cNvSpPr>
            <a:spLocks noGrp="1"/>
          </p:cNvSpPr>
          <p:nvPr>
            <p:ph sz="quarter" idx="4" hasCustomPrompt="1"/>
          </p:nvPr>
        </p:nvSpPr>
        <p:spPr>
          <a:xfrm>
            <a:off x="6194424" y="2582458"/>
            <a:ext cx="5464176" cy="3607206"/>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7" name="Date Placeholder 6"/>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9" name="Slide Number Placeholder 8"/>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11" name="Title Placeholder 1">
            <a:extLst>
              <a:ext uri="{FF2B5EF4-FFF2-40B4-BE49-F238E27FC236}">
                <a16:creationId xmlns:a16="http://schemas.microsoft.com/office/drawing/2014/main" id="{7E438375-C357-462F-AB62-257249F8E3AC}"/>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577030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Vergleich">
    <p:spTree>
      <p:nvGrpSpPr>
        <p:cNvPr id="1" name=""/>
        <p:cNvGrpSpPr/>
        <p:nvPr/>
      </p:nvGrpSpPr>
      <p:grpSpPr>
        <a:xfrm>
          <a:off x="0" y="0"/>
          <a:ext cx="0" cy="0"/>
          <a:chOff x="0" y="0"/>
          <a:chExt cx="0" cy="0"/>
        </a:xfrm>
      </p:grpSpPr>
      <p:sp>
        <p:nvSpPr>
          <p:cNvPr id="10" name="Bildplatzhalter 4"/>
          <p:cNvSpPr>
            <a:spLocks noGrp="1"/>
          </p:cNvSpPr>
          <p:nvPr>
            <p:ph type="pic" sz="quarter" idx="13" hasCustomPrompt="1"/>
          </p:nvPr>
        </p:nvSpPr>
        <p:spPr>
          <a:xfrm>
            <a:off x="6207759" y="2590003"/>
            <a:ext cx="5467775" cy="3605685"/>
          </a:xfrm>
          <a:prstGeom prst="round2DiagRect">
            <a:avLst>
              <a:gd name="adj1" fmla="val 0"/>
              <a:gd name="adj2" fmla="val 8317"/>
            </a:avLst>
          </a:prstGeom>
          <a:solidFill>
            <a:srgbClr val="FF99FF"/>
          </a:solidFill>
          <a:ln w="12700">
            <a:solidFill>
              <a:schemeClr val="bg2"/>
            </a:solidFill>
          </a:ln>
        </p:spPr>
        <p:txBody>
          <a:bodyPr/>
          <a:lstStyle>
            <a:lvl1pPr marL="0" indent="0">
              <a:buFont typeface="Arial" panose="020B0604020202020204" pitchFamily="34" charset="0"/>
              <a:buNone/>
              <a:defRPr baseline="0"/>
            </a:lvl1pPr>
          </a:lstStyle>
          <a:p>
            <a:r>
              <a:rPr lang="en-US" dirty="0"/>
              <a:t>Please insert a picture in the master slide</a:t>
            </a:r>
          </a:p>
        </p:txBody>
      </p:sp>
      <p:sp>
        <p:nvSpPr>
          <p:cNvPr id="3" name="Text Placeholder 2"/>
          <p:cNvSpPr>
            <a:spLocks noGrp="1"/>
          </p:cNvSpPr>
          <p:nvPr>
            <p:ph type="body" idx="1" hasCustomPrompt="1"/>
          </p:nvPr>
        </p:nvSpPr>
        <p:spPr>
          <a:xfrm>
            <a:off x="533400" y="1583512"/>
            <a:ext cx="5464176" cy="823912"/>
          </a:xfrm>
        </p:spPr>
        <p:txBody>
          <a:bodyPr anchor="b">
            <a:normAutofit/>
          </a:bodyPr>
          <a:lstStyle>
            <a:lvl1pPr marL="0" indent="0">
              <a:buNone/>
              <a:defRPr sz="2666" b="1"/>
            </a:lvl1pPr>
            <a:lvl2pPr marL="457173" indent="0">
              <a:buNone/>
              <a:defRPr sz="1999" b="1"/>
            </a:lvl2pPr>
            <a:lvl3pPr marL="914347" indent="0">
              <a:buNone/>
              <a:defRPr sz="1799" b="1"/>
            </a:lvl3pPr>
            <a:lvl4pPr marL="1371519" indent="0">
              <a:buNone/>
              <a:defRPr sz="1599" b="1"/>
            </a:lvl4pPr>
            <a:lvl5pPr marL="1828693" indent="0">
              <a:buNone/>
              <a:defRPr sz="1599" b="1"/>
            </a:lvl5pPr>
            <a:lvl6pPr marL="2285866" indent="0">
              <a:buNone/>
              <a:defRPr sz="1599" b="1"/>
            </a:lvl6pPr>
            <a:lvl7pPr marL="2743040" indent="0">
              <a:buNone/>
              <a:defRPr sz="1599" b="1"/>
            </a:lvl7pPr>
            <a:lvl8pPr marL="3200213" indent="0">
              <a:buNone/>
              <a:defRPr sz="1599" b="1"/>
            </a:lvl8pPr>
            <a:lvl9pPr marL="3657387" indent="0">
              <a:buNone/>
              <a:defRPr sz="1599" b="1"/>
            </a:lvl9pPr>
          </a:lstStyle>
          <a:p>
            <a:pPr lvl="0"/>
            <a:r>
              <a:rPr lang="en-US" altLang="de-DE" dirty="0"/>
              <a:t>Click to add subline</a:t>
            </a:r>
          </a:p>
        </p:txBody>
      </p:sp>
      <p:sp>
        <p:nvSpPr>
          <p:cNvPr id="4" name="Content Placeholder 3"/>
          <p:cNvSpPr>
            <a:spLocks noGrp="1"/>
          </p:cNvSpPr>
          <p:nvPr>
            <p:ph sz="half" idx="2" hasCustomPrompt="1"/>
          </p:nvPr>
        </p:nvSpPr>
        <p:spPr>
          <a:xfrm>
            <a:off x="533400" y="2582458"/>
            <a:ext cx="5464176" cy="3607205"/>
          </a:xfrm>
        </p:spPr>
        <p:txBody>
          <a:bodyPr/>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5" name="Text Placeholder 4"/>
          <p:cNvSpPr>
            <a:spLocks noGrp="1"/>
          </p:cNvSpPr>
          <p:nvPr>
            <p:ph type="body" sz="quarter" idx="3" hasCustomPrompt="1"/>
          </p:nvPr>
        </p:nvSpPr>
        <p:spPr>
          <a:xfrm>
            <a:off x="6194424" y="1583512"/>
            <a:ext cx="5464176" cy="823912"/>
          </a:xfrm>
        </p:spPr>
        <p:txBody>
          <a:bodyPr anchor="b">
            <a:normAutofit/>
          </a:bodyPr>
          <a:lstStyle>
            <a:lvl1pPr marL="0" indent="0">
              <a:buNone/>
              <a:defRPr sz="2666" b="1"/>
            </a:lvl1pPr>
            <a:lvl2pPr marL="457173" indent="0">
              <a:buNone/>
              <a:defRPr sz="1999" b="1"/>
            </a:lvl2pPr>
            <a:lvl3pPr marL="914347" indent="0">
              <a:buNone/>
              <a:defRPr sz="1799" b="1"/>
            </a:lvl3pPr>
            <a:lvl4pPr marL="1371519" indent="0">
              <a:buNone/>
              <a:defRPr sz="1599" b="1"/>
            </a:lvl4pPr>
            <a:lvl5pPr marL="1828693" indent="0">
              <a:buNone/>
              <a:defRPr sz="1599" b="1"/>
            </a:lvl5pPr>
            <a:lvl6pPr marL="2285866" indent="0">
              <a:buNone/>
              <a:defRPr sz="1599" b="1"/>
            </a:lvl6pPr>
            <a:lvl7pPr marL="2743040" indent="0">
              <a:buNone/>
              <a:defRPr sz="1599" b="1"/>
            </a:lvl7pPr>
            <a:lvl8pPr marL="3200213" indent="0">
              <a:buNone/>
              <a:defRPr sz="1599" b="1"/>
            </a:lvl8pPr>
            <a:lvl9pPr marL="3657387" indent="0">
              <a:buNone/>
              <a:defRPr sz="1599" b="1"/>
            </a:lvl9pPr>
          </a:lstStyle>
          <a:p>
            <a:pPr lvl="0"/>
            <a:r>
              <a:rPr lang="en-US" altLang="de-DE" dirty="0"/>
              <a:t>Click to add subline</a:t>
            </a:r>
          </a:p>
        </p:txBody>
      </p:sp>
      <p:sp>
        <p:nvSpPr>
          <p:cNvPr id="7" name="Date Placeholder 6"/>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9" name="Slide Number Placeholder 8"/>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11" name="Title Placeholder 1">
            <a:extLst>
              <a:ext uri="{FF2B5EF4-FFF2-40B4-BE49-F238E27FC236}">
                <a16:creationId xmlns:a16="http://schemas.microsoft.com/office/drawing/2014/main" id="{7E438375-C357-462F-AB62-257249F8E3AC}"/>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p>
        </p:txBody>
      </p:sp>
    </p:spTree>
    <p:extLst>
      <p:ext uri="{BB962C8B-B14F-4D97-AF65-F5344CB8AC3E}">
        <p14:creationId xmlns:p14="http://schemas.microsoft.com/office/powerpoint/2010/main" val="2839550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Nur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5" name="Slide Number Placeholder 4"/>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7" name="Title Placeholder 1">
            <a:extLst>
              <a:ext uri="{FF2B5EF4-FFF2-40B4-BE49-F238E27FC236}">
                <a16:creationId xmlns:a16="http://schemas.microsoft.com/office/drawing/2014/main" id="{910E8322-A2A9-45EC-9F17-A3F73D42D1C3}"/>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
        <p:nvSpPr>
          <p:cNvPr id="8" name="Bildplatzhalter 3"/>
          <p:cNvSpPr>
            <a:spLocks noGrp="1"/>
          </p:cNvSpPr>
          <p:nvPr>
            <p:ph type="pic" sz="quarter" idx="14"/>
          </p:nvPr>
        </p:nvSpPr>
        <p:spPr>
          <a:xfrm>
            <a:off x="0" y="1770680"/>
            <a:ext cx="12192000" cy="4404693"/>
          </a:xfrm>
          <a:solidFill>
            <a:srgbClr val="FF99FF"/>
          </a:solidFill>
        </p:spPr>
        <p:txBody>
          <a:bodyPr anchor="t"/>
          <a:lstStyle>
            <a:lvl1pPr marL="0" indent="0" algn="ctr">
              <a:buFont typeface="Arial" panose="020B0604020202020204" pitchFamily="34" charset="0"/>
              <a:buNone/>
              <a:defRPr/>
            </a:lvl1pPr>
          </a:lstStyle>
          <a:p>
            <a:r>
              <a:rPr lang="en-US"/>
              <a:t>Click icon to add picture</a:t>
            </a:r>
            <a:endParaRPr lang="en-US" dirty="0"/>
          </a:p>
        </p:txBody>
      </p:sp>
    </p:spTree>
    <p:extLst>
      <p:ext uri="{BB962C8B-B14F-4D97-AF65-F5344CB8AC3E}">
        <p14:creationId xmlns:p14="http://schemas.microsoft.com/office/powerpoint/2010/main" val="3995001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Nur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5" name="Slide Number Placeholder 4"/>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7" name="Title Placeholder 1">
            <a:extLst>
              <a:ext uri="{FF2B5EF4-FFF2-40B4-BE49-F238E27FC236}">
                <a16:creationId xmlns:a16="http://schemas.microsoft.com/office/drawing/2014/main" id="{910E8322-A2A9-45EC-9F17-A3F73D42D1C3}"/>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
        <p:nvSpPr>
          <p:cNvPr id="2" name="Rechteck 1"/>
          <p:cNvSpPr/>
          <p:nvPr/>
        </p:nvSpPr>
        <p:spPr>
          <a:xfrm>
            <a:off x="0" y="6201408"/>
            <a:ext cx="12192000" cy="243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399"/>
          </a:p>
        </p:txBody>
      </p:sp>
      <p:sp>
        <p:nvSpPr>
          <p:cNvPr id="8" name="Bildplatzhalter 3"/>
          <p:cNvSpPr>
            <a:spLocks noGrp="1"/>
          </p:cNvSpPr>
          <p:nvPr>
            <p:ph type="pic" sz="quarter" idx="14"/>
          </p:nvPr>
        </p:nvSpPr>
        <p:spPr>
          <a:xfrm>
            <a:off x="0" y="1770679"/>
            <a:ext cx="12192000" cy="4558317"/>
          </a:xfrm>
          <a:solidFill>
            <a:srgbClr val="FF99FF"/>
          </a:solidFill>
        </p:spPr>
        <p:txBody>
          <a:bodyPr anchor="t"/>
          <a:lstStyle>
            <a:lvl1pPr marL="0" indent="0" algn="ctr">
              <a:buFont typeface="Arial" panose="020B0604020202020204" pitchFamily="34" charset="0"/>
              <a:buNone/>
              <a:defRPr/>
            </a:lvl1pPr>
          </a:lstStyle>
          <a:p>
            <a:r>
              <a:rPr lang="en-US"/>
              <a:t>Click icon to add picture</a:t>
            </a:r>
            <a:endParaRPr lang="en-US" dirty="0"/>
          </a:p>
        </p:txBody>
      </p:sp>
    </p:spTree>
    <p:extLst>
      <p:ext uri="{BB962C8B-B14F-4D97-AF65-F5344CB8AC3E}">
        <p14:creationId xmlns:p14="http://schemas.microsoft.com/office/powerpoint/2010/main" val="1118763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Nur Titel">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5" name="Slide Number Placeholder 4"/>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7" name="Title Placeholder 1">
            <a:extLst>
              <a:ext uri="{FF2B5EF4-FFF2-40B4-BE49-F238E27FC236}">
                <a16:creationId xmlns:a16="http://schemas.microsoft.com/office/drawing/2014/main" id="{910E8322-A2A9-45EC-9F17-A3F73D42D1C3}"/>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4228380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4" name="Slide Number Placeholder 3"/>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32220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nhalt mit Überschri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148853" y="1583511"/>
            <a:ext cx="6509747" cy="4277541"/>
          </a:xfrm>
        </p:spPr>
        <p:txBody>
          <a:bodyPr/>
          <a:lstStyle>
            <a:lvl1pPr>
              <a:defRPr sz="1999"/>
            </a:lvl1pPr>
            <a:lvl2pPr>
              <a:defRPr sz="1799"/>
            </a:lvl2pPr>
            <a:lvl3pPr>
              <a:defRPr sz="1599"/>
            </a:lvl3pPr>
            <a:lvl4pPr>
              <a:defRPr sz="1599"/>
            </a:lvl4pPr>
            <a:lvl5pPr marL="1435016" indent="0">
              <a:buNone/>
              <a:defRPr sz="1599"/>
            </a:lvl5pPr>
            <a:lvl6pPr>
              <a:defRPr sz="1999"/>
            </a:lvl6pPr>
            <a:lvl7pPr>
              <a:defRPr sz="1999"/>
            </a:lvl7pPr>
            <a:lvl8pPr>
              <a:defRPr sz="1999"/>
            </a:lvl8pPr>
            <a:lvl9pPr>
              <a:defRPr sz="1999"/>
            </a:lvl9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Text Placeholder 3"/>
          <p:cNvSpPr>
            <a:spLocks noGrp="1"/>
          </p:cNvSpPr>
          <p:nvPr>
            <p:ph type="body" sz="half" idx="2" hasCustomPrompt="1"/>
          </p:nvPr>
        </p:nvSpPr>
        <p:spPr>
          <a:xfrm>
            <a:off x="533402" y="1583512"/>
            <a:ext cx="4238625" cy="4277541"/>
          </a:xfrm>
        </p:spPr>
        <p:txBody>
          <a:bodyPr/>
          <a:lstStyle>
            <a:lvl1pPr marL="0" indent="0">
              <a:buNone/>
              <a:defRPr sz="1599"/>
            </a:lvl1pPr>
            <a:lvl2pPr marL="457173" indent="0">
              <a:buNone/>
              <a:defRPr sz="1400"/>
            </a:lvl2pPr>
            <a:lvl3pPr marL="914347" indent="0">
              <a:buNone/>
              <a:defRPr sz="1200"/>
            </a:lvl3pPr>
            <a:lvl4pPr marL="1371519" indent="0">
              <a:buNone/>
              <a:defRPr sz="1000"/>
            </a:lvl4pPr>
            <a:lvl5pPr marL="1828693" indent="0">
              <a:buNone/>
              <a:defRPr sz="1000"/>
            </a:lvl5pPr>
            <a:lvl6pPr marL="2285866" indent="0">
              <a:buNone/>
              <a:defRPr sz="1000"/>
            </a:lvl6pPr>
            <a:lvl7pPr marL="2743040" indent="0">
              <a:buNone/>
              <a:defRPr sz="1000"/>
            </a:lvl7pPr>
            <a:lvl8pPr marL="3200213" indent="0">
              <a:buNone/>
              <a:defRPr sz="1000"/>
            </a:lvl8pPr>
            <a:lvl9pPr marL="3657387" indent="0">
              <a:buNone/>
              <a:defRPr sz="1000"/>
            </a:lvl9pPr>
          </a:lstStyle>
          <a:p>
            <a:pPr lvl="0"/>
            <a:r>
              <a:rPr lang="en-US" altLang="de-DE" dirty="0"/>
              <a:t>Click to add text</a:t>
            </a:r>
          </a:p>
        </p:txBody>
      </p:sp>
      <p:sp>
        <p:nvSpPr>
          <p:cNvPr id="5" name="Date Placeholder 4"/>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7" name="Slide Number Placeholder 6"/>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9" name="Title Placeholder 1">
            <a:extLst>
              <a:ext uri="{FF2B5EF4-FFF2-40B4-BE49-F238E27FC236}">
                <a16:creationId xmlns:a16="http://schemas.microsoft.com/office/drawing/2014/main" id="{5F47D9EC-E3C8-4173-84B3-DB5A91069C3D}"/>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702393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ild mit Überschrift">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458554" y="624691"/>
            <a:ext cx="7295047" cy="4149200"/>
          </a:xfrm>
        </p:spPr>
        <p:txBody>
          <a:bodyPr anchor="t"/>
          <a:lstStyle>
            <a:lvl1pPr marL="0" indent="0">
              <a:buNone/>
              <a:defRPr sz="3200"/>
            </a:lvl1pPr>
            <a:lvl2pPr marL="457173" indent="0">
              <a:buNone/>
              <a:defRPr sz="2800"/>
            </a:lvl2pPr>
            <a:lvl3pPr marL="914347" indent="0">
              <a:buNone/>
              <a:defRPr sz="2399"/>
            </a:lvl3pPr>
            <a:lvl4pPr marL="1371519" indent="0">
              <a:buNone/>
              <a:defRPr sz="1999"/>
            </a:lvl4pPr>
            <a:lvl5pPr marL="1828693" indent="0">
              <a:buNone/>
              <a:defRPr sz="1999"/>
            </a:lvl5pPr>
            <a:lvl6pPr marL="2285866" indent="0">
              <a:buNone/>
              <a:defRPr sz="1999"/>
            </a:lvl6pPr>
            <a:lvl7pPr marL="2743040" indent="0">
              <a:buNone/>
              <a:defRPr sz="1999"/>
            </a:lvl7pPr>
            <a:lvl8pPr marL="3200213" indent="0">
              <a:buNone/>
              <a:defRPr sz="1999"/>
            </a:lvl8pPr>
            <a:lvl9pPr marL="3657387" indent="0">
              <a:buNone/>
              <a:defRPr sz="1999"/>
            </a:lvl9pPr>
          </a:lstStyle>
          <a:p>
            <a:r>
              <a:rPr lang="en-US"/>
              <a:t>Click icon to add picture</a:t>
            </a:r>
            <a:endParaRPr lang="de-DE" dirty="0"/>
          </a:p>
        </p:txBody>
      </p:sp>
      <p:sp>
        <p:nvSpPr>
          <p:cNvPr id="5" name="Date Placeholder 4"/>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7" name="Slide Number Placeholder 6"/>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8" name="Title 1">
            <a:extLst>
              <a:ext uri="{FF2B5EF4-FFF2-40B4-BE49-F238E27FC236}">
                <a16:creationId xmlns:a16="http://schemas.microsoft.com/office/drawing/2014/main" id="{874D6481-F98B-45EE-B6D0-BF8C42A11F43}"/>
              </a:ext>
            </a:extLst>
          </p:cNvPr>
          <p:cNvSpPr>
            <a:spLocks noGrp="1"/>
          </p:cNvSpPr>
          <p:nvPr>
            <p:ph type="title" hasCustomPrompt="1"/>
          </p:nvPr>
        </p:nvSpPr>
        <p:spPr>
          <a:xfrm>
            <a:off x="2458553" y="4836496"/>
            <a:ext cx="7291569" cy="566777"/>
          </a:xfrm>
          <a:prstGeom prst="rect">
            <a:avLst/>
          </a:prstGeom>
        </p:spPr>
        <p:txBody>
          <a:bodyPr anchor="b">
            <a:normAutofit/>
          </a:bodyPr>
          <a:lstStyle>
            <a:lvl1pPr>
              <a:defRPr sz="1999"/>
            </a:lvl1pPr>
          </a:lstStyle>
          <a:p>
            <a:r>
              <a:rPr lang="en-US" altLang="de-DE" dirty="0"/>
              <a:t>Click to add title</a:t>
            </a:r>
            <a:endParaRPr lang="en-US" dirty="0"/>
          </a:p>
        </p:txBody>
      </p:sp>
      <p:sp>
        <p:nvSpPr>
          <p:cNvPr id="9" name="Text Placeholder 3">
            <a:extLst>
              <a:ext uri="{FF2B5EF4-FFF2-40B4-BE49-F238E27FC236}">
                <a16:creationId xmlns:a16="http://schemas.microsoft.com/office/drawing/2014/main" id="{85119134-5DDA-43C1-B0D4-2BD9056B0DD6}"/>
              </a:ext>
            </a:extLst>
          </p:cNvPr>
          <p:cNvSpPr>
            <a:spLocks noGrp="1"/>
          </p:cNvSpPr>
          <p:nvPr>
            <p:ph type="body" sz="half" idx="2"/>
          </p:nvPr>
        </p:nvSpPr>
        <p:spPr>
          <a:xfrm>
            <a:off x="2462030" y="5463729"/>
            <a:ext cx="7291569" cy="769581"/>
          </a:xfrm>
        </p:spPr>
        <p:txBody>
          <a:bodyPr>
            <a:normAutofit/>
          </a:bodyPr>
          <a:lstStyle>
            <a:lvl1pPr marL="0" indent="0">
              <a:buNone/>
              <a:defRPr sz="1400"/>
            </a:lvl1pPr>
            <a:lvl2pPr marL="457173" indent="0">
              <a:buNone/>
              <a:defRPr sz="1400"/>
            </a:lvl2pPr>
            <a:lvl3pPr marL="914347" indent="0">
              <a:buNone/>
              <a:defRPr sz="1200"/>
            </a:lvl3pPr>
            <a:lvl4pPr marL="1371519" indent="0">
              <a:buNone/>
              <a:defRPr sz="1000"/>
            </a:lvl4pPr>
            <a:lvl5pPr marL="1828693" indent="0">
              <a:buNone/>
              <a:defRPr sz="1000"/>
            </a:lvl5pPr>
            <a:lvl6pPr marL="2285866" indent="0">
              <a:buNone/>
              <a:defRPr sz="1000"/>
            </a:lvl6pPr>
            <a:lvl7pPr marL="2743040" indent="0">
              <a:buNone/>
              <a:defRPr sz="1000"/>
            </a:lvl7pPr>
            <a:lvl8pPr marL="3200213" indent="0">
              <a:buNone/>
              <a:defRPr sz="1000"/>
            </a:lvl8pPr>
            <a:lvl9pPr marL="3657387" indent="0">
              <a:buNone/>
              <a:defRPr sz="1000"/>
            </a:lvl9pPr>
          </a:lstStyle>
          <a:p>
            <a:pPr lvl="0"/>
            <a:r>
              <a:rPr lang="en-US" altLang="de-DE"/>
              <a:t>Click to edit Master text styles</a:t>
            </a:r>
          </a:p>
        </p:txBody>
      </p:sp>
    </p:spTree>
    <p:extLst>
      <p:ext uri="{BB962C8B-B14F-4D97-AF65-F5344CB8AC3E}">
        <p14:creationId xmlns:p14="http://schemas.microsoft.com/office/powerpoint/2010/main" val="907548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el und vertikaler Text">
    <p:spTree>
      <p:nvGrpSpPr>
        <p:cNvPr id="1" name=""/>
        <p:cNvGrpSpPr/>
        <p:nvPr/>
      </p:nvGrpSpPr>
      <p:grpSpPr>
        <a:xfrm>
          <a:off x="0" y="0"/>
          <a:ext cx="0" cy="0"/>
          <a:chOff x="0" y="0"/>
          <a:chExt cx="0" cy="0"/>
        </a:xfrm>
      </p:grpSpPr>
      <p:sp>
        <p:nvSpPr>
          <p:cNvPr id="3" name="Vertical Text Placeholder 2"/>
          <p:cNvSpPr>
            <a:spLocks noGrp="1"/>
          </p:cNvSpPr>
          <p:nvPr>
            <p:ph type="body" orient="vert" idx="1" hasCustomPrompt="1"/>
          </p:nvPr>
        </p:nvSpPr>
        <p:spPr>
          <a:xfrm>
            <a:off x="533400" y="1423972"/>
            <a:ext cx="11125200" cy="4682105"/>
          </a:xfrm>
        </p:spPr>
        <p:txBody>
          <a:bodyPr vert="eaVert"/>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Date Placeholder 3"/>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6" name="Slide Number Placeholder 5"/>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
        <p:nvSpPr>
          <p:cNvPr id="8" name="Title Placeholder 1">
            <a:extLst>
              <a:ext uri="{FF2B5EF4-FFF2-40B4-BE49-F238E27FC236}">
                <a16:creationId xmlns:a16="http://schemas.microsoft.com/office/drawing/2014/main" id="{A0AF9471-6F4B-417A-9B82-1D3AC42AE952}"/>
              </a:ext>
            </a:extLst>
          </p:cNvPr>
          <p:cNvSpPr>
            <a:spLocks noGrp="1"/>
          </p:cNvSpPr>
          <p:nvPr>
            <p:ph type="title" hasCustomPrompt="1"/>
          </p:nvPr>
        </p:nvSpPr>
        <p:spPr>
          <a:xfrm>
            <a:off x="528000" y="394871"/>
            <a:ext cx="9158904" cy="767748"/>
          </a:xfrm>
          <a:prstGeom prst="rect">
            <a:avLst/>
          </a:prstGeom>
        </p:spPr>
        <p:txBody>
          <a:bodyPr vert="horz" lIns="0" tIns="0" rIns="0" bIns="0" rtlCol="0" anchor="b">
            <a:normAutofit/>
          </a:bodyPr>
          <a:lstStyle>
            <a:lvl1pPr>
              <a:defRPr/>
            </a:lvl1pPr>
          </a:lstStyle>
          <a:p>
            <a:r>
              <a:rPr lang="en-US" altLang="de-DE" dirty="0"/>
              <a:t>Click to add title</a:t>
            </a:r>
            <a:endParaRPr lang="en-US" dirty="0"/>
          </a:p>
        </p:txBody>
      </p:sp>
    </p:spTree>
    <p:extLst>
      <p:ext uri="{BB962C8B-B14F-4D97-AF65-F5344CB8AC3E}">
        <p14:creationId xmlns:p14="http://schemas.microsoft.com/office/powerpoint/2010/main" val="3616555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9027183" y="365124"/>
            <a:ext cx="2628900" cy="5811838"/>
          </a:xfrm>
          <a:prstGeom prst="rect">
            <a:avLst/>
          </a:prstGeom>
        </p:spPr>
        <p:txBody>
          <a:bodyPr vert="eaVert"/>
          <a:lstStyle>
            <a:lvl1pPr>
              <a:defRPr/>
            </a:lvl1pPr>
          </a:lstStyle>
          <a:p>
            <a:r>
              <a:rPr lang="en-US" altLang="de-DE" dirty="0"/>
              <a:t>Click to add title</a:t>
            </a:r>
            <a:endParaRPr lang="en-US" dirty="0"/>
          </a:p>
        </p:txBody>
      </p:sp>
      <p:sp>
        <p:nvSpPr>
          <p:cNvPr id="3" name="Vertical Text Placeholder 2"/>
          <p:cNvSpPr>
            <a:spLocks noGrp="1"/>
          </p:cNvSpPr>
          <p:nvPr>
            <p:ph type="body" orient="vert" idx="1" hasCustomPrompt="1"/>
          </p:nvPr>
        </p:nvSpPr>
        <p:spPr>
          <a:xfrm>
            <a:off x="535920" y="365124"/>
            <a:ext cx="8300763" cy="5811838"/>
          </a:xfrm>
        </p:spPr>
        <p:txBody>
          <a:bodyPr vert="eaVert"/>
          <a:lstStyle>
            <a:lvl1pPr>
              <a:defRPr/>
            </a:lvl1pPr>
            <a:lvl2pPr>
              <a:defRPr/>
            </a:lvl2pPr>
            <a:lvl3pPr>
              <a:defRPr/>
            </a:lvl3pPr>
            <a:lvl4pPr>
              <a:defRPr/>
            </a:lvl4pPr>
            <a:lvl5pPr>
              <a:defRPr/>
            </a:lvl5pPr>
          </a:lstStyle>
          <a:p>
            <a:pPr lvl="0"/>
            <a:r>
              <a:rPr lang="en-US" altLang="de-DE" dirty="0"/>
              <a:t>Click to add text</a:t>
            </a:r>
          </a:p>
          <a:p>
            <a:pPr lvl="1"/>
            <a:r>
              <a:rPr lang="en-US" altLang="de-DE" dirty="0"/>
              <a:t>Second level</a:t>
            </a:r>
          </a:p>
          <a:p>
            <a:pPr lvl="2"/>
            <a:r>
              <a:rPr lang="en-US" altLang="de-DE" dirty="0"/>
              <a:t>Third level</a:t>
            </a:r>
          </a:p>
          <a:p>
            <a:pPr lvl="3"/>
            <a:r>
              <a:rPr lang="en-US" altLang="de-DE" dirty="0"/>
              <a:t>Fourth level</a:t>
            </a:r>
          </a:p>
          <a:p>
            <a:pPr lvl="4"/>
            <a:r>
              <a:rPr lang="en-US" altLang="de-DE" dirty="0"/>
              <a:t>Fifth level</a:t>
            </a:r>
          </a:p>
        </p:txBody>
      </p:sp>
      <p:sp>
        <p:nvSpPr>
          <p:cNvPr id="4" name="Date Placeholder 3"/>
          <p:cNvSpPr>
            <a:spLocks noGrp="1"/>
          </p:cNvSpPr>
          <p:nvPr>
            <p:ph type="dt" sz="half" idx="10"/>
          </p:nvPr>
        </p:nvSpPr>
        <p:spPr>
          <a:xfrm>
            <a:off x="836313" y="6329811"/>
            <a:ext cx="1370340" cy="528189"/>
          </a:xfrm>
          <a:prstGeom prst="rect">
            <a:avLst/>
          </a:prstGeom>
        </p:spPr>
        <p:txBody>
          <a:bodyPr/>
          <a:lstStyle/>
          <a:p>
            <a:fld id="{5BCAD085-E8A6-8845-BD4E-CB4CCA059FC4}" type="datetimeFigureOut">
              <a:rPr lang="en-US" smtClean="0"/>
              <a:t>8/3/26</a:t>
            </a:fld>
            <a:endParaRPr lang="en-US"/>
          </a:p>
        </p:txBody>
      </p:sp>
      <p:sp>
        <p:nvSpPr>
          <p:cNvPr id="6" name="Slide Number Placeholder 5"/>
          <p:cNvSpPr>
            <a:spLocks noGrp="1"/>
          </p:cNvSpPr>
          <p:nvPr>
            <p:ph type="sldNum" sz="quarter" idx="12"/>
          </p:nvPr>
        </p:nvSpPr>
        <p:spPr>
          <a:xfrm>
            <a:off x="288000" y="6329811"/>
            <a:ext cx="435157" cy="528189"/>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9092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8000" y="394871"/>
            <a:ext cx="9158904" cy="767748"/>
          </a:xfrm>
          <a:prstGeom prst="rect">
            <a:avLst/>
          </a:prstGeom>
        </p:spPr>
        <p:txBody>
          <a:bodyPr vert="horz" lIns="0" tIns="0" rIns="0" bIns="0" rtlCol="0" anchor="b">
            <a:normAutofit/>
          </a:bodyPr>
          <a:lstStyle/>
          <a:p>
            <a:r>
              <a:rPr lang="en-US" altLang="de-DE" dirty="0"/>
              <a:t>Click to add title</a:t>
            </a:r>
            <a:endParaRPr lang="en-US" dirty="0"/>
          </a:p>
        </p:txBody>
      </p:sp>
      <p:sp>
        <p:nvSpPr>
          <p:cNvPr id="3" name="Text Placeholder 2"/>
          <p:cNvSpPr>
            <a:spLocks noGrp="1"/>
          </p:cNvSpPr>
          <p:nvPr>
            <p:ph type="body" idx="1"/>
          </p:nvPr>
        </p:nvSpPr>
        <p:spPr>
          <a:xfrm>
            <a:off x="528001" y="1582633"/>
            <a:ext cx="11135999" cy="4523445"/>
          </a:xfrm>
          <a:prstGeom prst="rect">
            <a:avLst/>
          </a:prstGeom>
        </p:spPr>
        <p:txBody>
          <a:bodyPr vert="horz" lIns="0" tIns="0" rIns="0" bIns="0" rtlCol="0">
            <a:normAutofit/>
          </a:bodyPr>
          <a:lstStyle/>
          <a:p>
            <a:pPr lvl="0"/>
            <a:r>
              <a:rPr lang="de-DE" altLang="de-DE" dirty="0"/>
              <a:t>Karlsruher Institute </a:t>
            </a:r>
            <a:r>
              <a:rPr lang="de-DE" altLang="de-DE" dirty="0" err="1"/>
              <a:t>for</a:t>
            </a:r>
            <a:r>
              <a:rPr lang="de-DE" altLang="de-DE" dirty="0"/>
              <a:t> Technology (KIT).</a:t>
            </a:r>
          </a:p>
          <a:p>
            <a:pPr lvl="1"/>
            <a:r>
              <a:rPr lang="en-US" altLang="de-DE" dirty="0"/>
              <a:t>Second level</a:t>
            </a:r>
          </a:p>
          <a:p>
            <a:pPr lvl="2"/>
            <a:r>
              <a:rPr lang="en-US" altLang="de-DE" dirty="0"/>
              <a:t>Third level</a:t>
            </a:r>
          </a:p>
          <a:p>
            <a:pPr lvl="3"/>
            <a:r>
              <a:rPr lang="en-US" altLang="de-DE" dirty="0"/>
              <a:t>Fourth level           </a:t>
            </a:r>
          </a:p>
        </p:txBody>
      </p:sp>
      <p:cxnSp>
        <p:nvCxnSpPr>
          <p:cNvPr id="12" name="Gerade Verbindung 11"/>
          <p:cNvCxnSpPr/>
          <p:nvPr/>
        </p:nvCxnSpPr>
        <p:spPr>
          <a:xfrm>
            <a:off x="143929" y="6319881"/>
            <a:ext cx="11520069"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4" name="Grafik 13">
            <a:extLst>
              <a:ext uri="{FF2B5EF4-FFF2-40B4-BE49-F238E27FC236}">
                <a16:creationId xmlns:a16="http://schemas.microsoft.com/office/drawing/2014/main" id="{49C6492B-9F9B-4588-8AB6-62DBF42A6EA9}"/>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224001" y="441464"/>
            <a:ext cx="1439999" cy="666959"/>
          </a:xfrm>
          <a:prstGeom prst="rect">
            <a:avLst/>
          </a:prstGeom>
        </p:spPr>
      </p:pic>
      <p:sp>
        <p:nvSpPr>
          <p:cNvPr id="15" name="Date Placeholder 3"/>
          <p:cNvSpPr>
            <a:spLocks noGrp="1"/>
          </p:cNvSpPr>
          <p:nvPr>
            <p:ph type="dt" sz="half" idx="2"/>
          </p:nvPr>
        </p:nvSpPr>
        <p:spPr>
          <a:xfrm>
            <a:off x="836313" y="6329811"/>
            <a:ext cx="1370340" cy="528189"/>
          </a:xfrm>
          <a:prstGeom prst="rect">
            <a:avLst/>
          </a:prstGeom>
        </p:spPr>
        <p:txBody>
          <a:bodyPr vert="horz" lIns="0" tIns="0" rIns="0" bIns="0" rtlCol="0" anchor="ctr"/>
          <a:lstStyle>
            <a:lvl1pPr algn="l">
              <a:defRPr sz="1200">
                <a:solidFill>
                  <a:schemeClr val="tx1"/>
                </a:solidFill>
              </a:defRPr>
            </a:lvl1pPr>
          </a:lstStyle>
          <a:p>
            <a:fld id="{5BCAD085-E8A6-8845-BD4E-CB4CCA059FC4}" type="datetimeFigureOut">
              <a:rPr lang="en-US" smtClean="0"/>
              <a:t>8/3/26</a:t>
            </a:fld>
            <a:endParaRPr lang="en-US"/>
          </a:p>
        </p:txBody>
      </p:sp>
      <p:sp>
        <p:nvSpPr>
          <p:cNvPr id="16" name="Slide Number Placeholder 5"/>
          <p:cNvSpPr>
            <a:spLocks noGrp="1"/>
          </p:cNvSpPr>
          <p:nvPr>
            <p:ph type="sldNum" sz="quarter" idx="4"/>
          </p:nvPr>
        </p:nvSpPr>
        <p:spPr>
          <a:xfrm>
            <a:off x="288000" y="6329811"/>
            <a:ext cx="435157" cy="528189"/>
          </a:xfrm>
          <a:prstGeom prst="rect">
            <a:avLst/>
          </a:prstGeom>
        </p:spPr>
        <p:txBody>
          <a:bodyPr vert="horz" lIns="0" tIns="0" rIns="0" bIns="0" rtlCol="0" anchor="ctr"/>
          <a:lstStyle>
            <a:lvl1pPr algn="l">
              <a:defRPr sz="1200" b="1">
                <a:solidFill>
                  <a:schemeClr val="tx1"/>
                </a:solidFill>
              </a:defRPr>
            </a:lvl1pPr>
          </a:lstStyle>
          <a:p>
            <a:fld id="{C1FF6DA9-008F-8B48-92A6-B652298478BF}" type="slidenum">
              <a:rPr lang="en-US" smtClean="0"/>
              <a:t>‹#›</a:t>
            </a:fld>
            <a:endParaRPr lang="en-US"/>
          </a:p>
        </p:txBody>
      </p:sp>
      <p:sp>
        <p:nvSpPr>
          <p:cNvPr id="17" name="Footer Placeholder 4">
            <a:extLst>
              <a:ext uri="{FF2B5EF4-FFF2-40B4-BE49-F238E27FC236}">
                <a16:creationId xmlns:a16="http://schemas.microsoft.com/office/drawing/2014/main" id="{74D87B36-D57F-487F-9086-156B2F77E750}"/>
              </a:ext>
            </a:extLst>
          </p:cNvPr>
          <p:cNvSpPr txBox="1">
            <a:spLocks/>
          </p:cNvSpPr>
          <p:nvPr/>
        </p:nvSpPr>
        <p:spPr>
          <a:xfrm>
            <a:off x="2267108" y="6329811"/>
            <a:ext cx="4908393" cy="528189"/>
          </a:xfrm>
          <a:prstGeom prst="rect">
            <a:avLst/>
          </a:prstGeom>
        </p:spPr>
        <p:txBody>
          <a:bodyPr vert="horz" lIns="0" tIns="0" rIns="0" bIns="0" rtlCol="0" anchor="ctr"/>
          <a:lstStyle>
            <a:defPPr>
              <a:defRPr lang="en-US"/>
            </a:defPPr>
            <a:lvl1pPr marL="0" algn="l" defTabSz="457200" rtl="0" eaLnBrk="1" latinLnBrk="0" hangingPunct="1">
              <a:defRPr sz="9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Bef>
                <a:spcPct val="50000"/>
              </a:spcBef>
              <a:defRPr/>
            </a:pPr>
            <a:r>
              <a:rPr lang="en-US" sz="1200" dirty="0"/>
              <a:t>Speaker (e.g. J. Henkel) @ Conference, Place, Date</a:t>
            </a:r>
            <a:endParaRPr lang="de-DE" sz="1200" b="1" dirty="0"/>
          </a:p>
        </p:txBody>
      </p:sp>
      <p:sp>
        <p:nvSpPr>
          <p:cNvPr id="18" name="Fußzeilenplatzhalter 4">
            <a:extLst>
              <a:ext uri="{FF2B5EF4-FFF2-40B4-BE49-F238E27FC236}">
                <a16:creationId xmlns:a16="http://schemas.microsoft.com/office/drawing/2014/main" id="{AE6A56DB-B5EE-4225-952A-4A1FEE4F4716}"/>
              </a:ext>
            </a:extLst>
          </p:cNvPr>
          <p:cNvSpPr txBox="1">
            <a:spLocks/>
          </p:cNvSpPr>
          <p:nvPr/>
        </p:nvSpPr>
        <p:spPr>
          <a:xfrm>
            <a:off x="5903964" y="6319881"/>
            <a:ext cx="4618669" cy="528189"/>
          </a:xfrm>
          <a:prstGeom prst="rect">
            <a:avLst/>
          </a:prstGeom>
        </p:spPr>
        <p:txBody>
          <a:bodyPr vert="horz" lIns="0" tIns="0" rIns="0" bIns="0" rtlCol="0" anchor="ctr"/>
          <a:lstStyle>
            <a:defPPr>
              <a:defRPr lang="de-DE"/>
            </a:defPPr>
            <a:lvl1pPr marL="0" algn="l" defTabSz="914400" rtl="0" eaLnBrk="1" latinLnBrk="0" hangingPunct="1">
              <a:defRPr sz="11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r" defTabSz="1218804" rtl="0" eaLnBrk="1" fontAlgn="base" latinLnBrk="0" hangingPunct="1">
              <a:lnSpc>
                <a:spcPct val="100000"/>
              </a:lnSpc>
              <a:spcBef>
                <a:spcPts val="0"/>
              </a:spcBef>
              <a:spcAft>
                <a:spcPts val="267"/>
              </a:spcAft>
              <a:buClrTx/>
              <a:buSzTx/>
              <a:buFontTx/>
              <a:buNone/>
              <a:tabLst/>
              <a:defRPr/>
            </a:pPr>
            <a:r>
              <a:rPr lang="en-US" sz="1200" kern="1200" noProof="0" dirty="0">
                <a:solidFill>
                  <a:schemeClr val="tx1"/>
                </a:solidFill>
                <a:latin typeface="Arial" charset="0"/>
                <a:ea typeface="+mn-ea"/>
                <a:cs typeface="+mn-cs"/>
              </a:rPr>
              <a:t>ces.itec.kit.edu</a:t>
            </a:r>
            <a:endParaRPr lang="en-US" sz="1200" dirty="0"/>
          </a:p>
        </p:txBody>
      </p:sp>
      <p:pic>
        <p:nvPicPr>
          <p:cNvPr id="5" name="Picture 4">
            <a:extLst>
              <a:ext uri="{FF2B5EF4-FFF2-40B4-BE49-F238E27FC236}">
                <a16:creationId xmlns:a16="http://schemas.microsoft.com/office/drawing/2014/main" id="{EC0E066C-2E1A-4557-8C6F-F307995973B5}"/>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0634859" y="6416535"/>
            <a:ext cx="1029140" cy="326651"/>
          </a:xfrm>
          <a:prstGeom prst="rect">
            <a:avLst/>
          </a:prstGeom>
        </p:spPr>
      </p:pic>
    </p:spTree>
    <p:extLst>
      <p:ext uri="{BB962C8B-B14F-4D97-AF65-F5344CB8AC3E}">
        <p14:creationId xmlns:p14="http://schemas.microsoft.com/office/powerpoint/2010/main" val="24286319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defTabSz="914347" rtl="0" eaLnBrk="1" latinLnBrk="0" hangingPunct="1">
        <a:lnSpc>
          <a:spcPct val="90000"/>
        </a:lnSpc>
        <a:spcBef>
          <a:spcPct val="0"/>
        </a:spcBef>
        <a:buNone/>
        <a:defRPr lang="en-US" sz="3199" b="1" kern="1200" dirty="0">
          <a:solidFill>
            <a:schemeClr val="tx1"/>
          </a:solidFill>
          <a:latin typeface="+mj-lt"/>
          <a:ea typeface="+mj-ea"/>
          <a:cs typeface="Arial" panose="020B0604020202020204" pitchFamily="34" charset="0"/>
        </a:defRPr>
      </a:lvl1pPr>
    </p:titleStyle>
    <p:bodyStyle>
      <a:lvl1pPr marL="271448" indent="-271448" algn="l" defTabSz="914347" rtl="0" eaLnBrk="1" latinLnBrk="0" hangingPunct="1">
        <a:lnSpc>
          <a:spcPct val="100000"/>
        </a:lnSpc>
        <a:spcBef>
          <a:spcPts val="480"/>
        </a:spcBef>
        <a:buSzPct val="88000"/>
        <a:buFontTx/>
        <a:buBlip>
          <a:blip r:embed="rId19"/>
        </a:buBlip>
        <a:defRPr sz="2666" kern="1200">
          <a:solidFill>
            <a:schemeClr val="tx1"/>
          </a:solidFill>
          <a:latin typeface="+mn-lt"/>
          <a:ea typeface="+mn-ea"/>
          <a:cs typeface="+mn-cs"/>
        </a:defRPr>
      </a:lvl1pPr>
      <a:lvl2pPr marL="627027" indent="-271448" algn="l" defTabSz="914347" rtl="0" eaLnBrk="1" latinLnBrk="0" hangingPunct="1">
        <a:lnSpc>
          <a:spcPct val="90000"/>
        </a:lnSpc>
        <a:spcBef>
          <a:spcPts val="480"/>
        </a:spcBef>
        <a:buSzPct val="88000"/>
        <a:buFontTx/>
        <a:buBlip>
          <a:blip r:embed="rId19"/>
        </a:buBlip>
        <a:defRPr sz="2399" kern="1200">
          <a:solidFill>
            <a:schemeClr val="tx1"/>
          </a:solidFill>
          <a:latin typeface="+mn-lt"/>
          <a:ea typeface="+mn-ea"/>
          <a:cs typeface="+mn-cs"/>
        </a:defRPr>
      </a:lvl2pPr>
      <a:lvl3pPr marL="982606" indent="-265098" algn="l" defTabSz="898472" rtl="0" eaLnBrk="1" latinLnBrk="0" hangingPunct="1">
        <a:lnSpc>
          <a:spcPct val="90000"/>
        </a:lnSpc>
        <a:spcBef>
          <a:spcPts val="480"/>
        </a:spcBef>
        <a:buSzPct val="88000"/>
        <a:buFontTx/>
        <a:buBlip>
          <a:blip r:embed="rId19"/>
        </a:buBlip>
        <a:defRPr sz="2133" kern="1200">
          <a:solidFill>
            <a:schemeClr val="tx1"/>
          </a:solidFill>
          <a:latin typeface="+mn-lt"/>
          <a:ea typeface="+mn-ea"/>
          <a:cs typeface="+mn-cs"/>
        </a:defRPr>
      </a:lvl3pPr>
      <a:lvl4pPr marL="1344535" indent="-271448" algn="l" defTabSz="914347" rtl="0" eaLnBrk="1" latinLnBrk="0" hangingPunct="1">
        <a:lnSpc>
          <a:spcPct val="90000"/>
        </a:lnSpc>
        <a:spcBef>
          <a:spcPts val="480"/>
        </a:spcBef>
        <a:buSzPct val="88000"/>
        <a:buFontTx/>
        <a:buBlip>
          <a:blip r:embed="rId19"/>
        </a:buBlip>
        <a:defRPr sz="2133" kern="1200">
          <a:solidFill>
            <a:schemeClr val="tx1"/>
          </a:solidFill>
          <a:latin typeface="+mn-lt"/>
          <a:ea typeface="+mn-ea"/>
          <a:cs typeface="+mn-cs"/>
        </a:defRPr>
      </a:lvl4pPr>
      <a:lvl5pPr marL="1700114" indent="-265098" algn="l" defTabSz="914347" rtl="0" eaLnBrk="1" latinLnBrk="0" hangingPunct="1">
        <a:lnSpc>
          <a:spcPct val="90000"/>
        </a:lnSpc>
        <a:spcBef>
          <a:spcPts val="480"/>
        </a:spcBef>
        <a:buSzPct val="88000"/>
        <a:buFontTx/>
        <a:buBlip>
          <a:blip r:embed="rId19"/>
        </a:buBlip>
        <a:defRPr sz="1599" kern="1200">
          <a:solidFill>
            <a:schemeClr val="tx1"/>
          </a:solidFill>
          <a:latin typeface="+mn-lt"/>
          <a:ea typeface="+mn-ea"/>
          <a:cs typeface="+mn-cs"/>
        </a:defRPr>
      </a:lvl5pPr>
      <a:lvl6pPr marL="2514453" indent="-228587" algn="l" defTabSz="91434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626" indent="-228587" algn="l" defTabSz="91434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800" indent="-228587" algn="l" defTabSz="91434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973" indent="-228587" algn="l" defTabSz="914347"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347" rtl="0" eaLnBrk="1" latinLnBrk="0" hangingPunct="1">
        <a:defRPr sz="1799" kern="1200">
          <a:solidFill>
            <a:schemeClr val="tx1"/>
          </a:solidFill>
          <a:latin typeface="+mn-lt"/>
          <a:ea typeface="+mn-ea"/>
          <a:cs typeface="+mn-cs"/>
        </a:defRPr>
      </a:lvl1pPr>
      <a:lvl2pPr marL="457173" algn="l" defTabSz="914347" rtl="0" eaLnBrk="1" latinLnBrk="0" hangingPunct="1">
        <a:defRPr sz="1799" kern="1200">
          <a:solidFill>
            <a:schemeClr val="tx1"/>
          </a:solidFill>
          <a:latin typeface="+mn-lt"/>
          <a:ea typeface="+mn-ea"/>
          <a:cs typeface="+mn-cs"/>
        </a:defRPr>
      </a:lvl2pPr>
      <a:lvl3pPr marL="914347" algn="l" defTabSz="914347" rtl="0" eaLnBrk="1" latinLnBrk="0" hangingPunct="1">
        <a:defRPr sz="1799" kern="1200">
          <a:solidFill>
            <a:schemeClr val="tx1"/>
          </a:solidFill>
          <a:latin typeface="+mn-lt"/>
          <a:ea typeface="+mn-ea"/>
          <a:cs typeface="+mn-cs"/>
        </a:defRPr>
      </a:lvl3pPr>
      <a:lvl4pPr marL="1371519" algn="l" defTabSz="914347" rtl="0" eaLnBrk="1" latinLnBrk="0" hangingPunct="1">
        <a:defRPr sz="1799" kern="1200">
          <a:solidFill>
            <a:schemeClr val="tx1"/>
          </a:solidFill>
          <a:latin typeface="+mn-lt"/>
          <a:ea typeface="+mn-ea"/>
          <a:cs typeface="+mn-cs"/>
        </a:defRPr>
      </a:lvl4pPr>
      <a:lvl5pPr marL="1828693" algn="l" defTabSz="914347" rtl="0" eaLnBrk="1" latinLnBrk="0" hangingPunct="1">
        <a:defRPr sz="1799" kern="1200">
          <a:solidFill>
            <a:schemeClr val="tx1"/>
          </a:solidFill>
          <a:latin typeface="+mn-lt"/>
          <a:ea typeface="+mn-ea"/>
          <a:cs typeface="+mn-cs"/>
        </a:defRPr>
      </a:lvl5pPr>
      <a:lvl6pPr marL="2285866" algn="l" defTabSz="914347" rtl="0" eaLnBrk="1" latinLnBrk="0" hangingPunct="1">
        <a:defRPr sz="1799" kern="1200">
          <a:solidFill>
            <a:schemeClr val="tx1"/>
          </a:solidFill>
          <a:latin typeface="+mn-lt"/>
          <a:ea typeface="+mn-ea"/>
          <a:cs typeface="+mn-cs"/>
        </a:defRPr>
      </a:lvl6pPr>
      <a:lvl7pPr marL="2743040" algn="l" defTabSz="914347" rtl="0" eaLnBrk="1" latinLnBrk="0" hangingPunct="1">
        <a:defRPr sz="1799" kern="1200">
          <a:solidFill>
            <a:schemeClr val="tx1"/>
          </a:solidFill>
          <a:latin typeface="+mn-lt"/>
          <a:ea typeface="+mn-ea"/>
          <a:cs typeface="+mn-cs"/>
        </a:defRPr>
      </a:lvl7pPr>
      <a:lvl8pPr marL="3200213" algn="l" defTabSz="914347" rtl="0" eaLnBrk="1" latinLnBrk="0" hangingPunct="1">
        <a:defRPr sz="1799" kern="1200">
          <a:solidFill>
            <a:schemeClr val="tx1"/>
          </a:solidFill>
          <a:latin typeface="+mn-lt"/>
          <a:ea typeface="+mn-ea"/>
          <a:cs typeface="+mn-cs"/>
        </a:defRPr>
      </a:lvl8pPr>
      <a:lvl9pPr marL="3657387" algn="l" defTabSz="914347"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p15:clr>
            <a:srgbClr val="F26B43"/>
          </p15:clr>
        </p15:guide>
        <p15:guide id="3" orient="horz" pos="464">
          <p15:clr>
            <a:srgbClr val="F26B43"/>
          </p15:clr>
        </p15:guide>
        <p15:guide id="4"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88920"/>
            <a:ext cx="12191695" cy="82296"/>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1234440"/>
            <a:ext cx="11057839" cy="1463040"/>
          </a:xfrm>
          <a:prstGeom prst="rect">
            <a:avLst/>
          </a:prstGeom>
          <a:noFill/>
        </p:spPr>
        <p:txBody>
          <a:bodyPr wrap="square">
            <a:spAutoFit/>
          </a:bodyPr>
          <a:lstStyle/>
          <a:p>
            <a:pPr>
              <a:spcAft>
                <a:spcPts val="600"/>
              </a:spcAft>
            </a:pPr>
            <a:r>
              <a:rPr sz="3800" b="1">
                <a:solidFill>
                  <a:srgbClr val="222222"/>
                </a:solidFill>
                <a:latin typeface="Arial"/>
              </a:rPr>
              <a:t>Lab 3: Pragma design space exploration</a:t>
            </a:r>
          </a:p>
        </p:txBody>
      </p:sp>
      <p:sp>
        <p:nvSpPr>
          <p:cNvPr id="4" name="TextBox 3"/>
          <p:cNvSpPr txBox="1"/>
          <p:nvPr/>
        </p:nvSpPr>
        <p:spPr>
          <a:xfrm>
            <a:off x="566928" y="3063240"/>
            <a:ext cx="11057839" cy="640080"/>
          </a:xfrm>
          <a:prstGeom prst="rect">
            <a:avLst/>
          </a:prstGeom>
          <a:noFill/>
        </p:spPr>
        <p:txBody>
          <a:bodyPr wrap="square">
            <a:spAutoFit/>
          </a:bodyPr>
          <a:lstStyle/>
          <a:p>
            <a:pPr>
              <a:spcAft>
                <a:spcPts val="600"/>
              </a:spcAft>
            </a:pPr>
            <a:r>
              <a:rPr sz="2100" b="0">
                <a:solidFill>
                  <a:srgbClr val="009682"/>
                </a:solidFill>
                <a:latin typeface="Arial"/>
              </a:rPr>
              <a:t>The same C++, from 21 025 cycles down to 518</a:t>
            </a:r>
          </a:p>
        </p:txBody>
      </p:sp>
      <p:sp>
        <p:nvSpPr>
          <p:cNvPr id="5" name="TextBox 4"/>
          <p:cNvSpPr txBox="1"/>
          <p:nvPr/>
        </p:nvSpPr>
        <p:spPr>
          <a:xfrm>
            <a:off x="566928" y="3776472"/>
            <a:ext cx="11057839" cy="411480"/>
          </a:xfrm>
          <a:prstGeom prst="rect">
            <a:avLst/>
          </a:prstGeom>
          <a:noFill/>
        </p:spPr>
        <p:txBody>
          <a:bodyPr wrap="square">
            <a:spAutoFit/>
          </a:bodyPr>
          <a:lstStyle/>
          <a:p>
            <a:pPr>
              <a:spcAft>
                <a:spcPts val="600"/>
              </a:spcAft>
            </a:pPr>
            <a:r>
              <a:rPr sz="1300" b="0">
                <a:solidFill>
                  <a:srgbClr val="666666"/>
                </a:solidFill>
                <a:latin typeface="Arial"/>
              </a:rPr>
              <a:t>Customized Embedded Processors Lab  ·  Chair of Embedded Systems (CES)</a:t>
            </a:r>
          </a:p>
        </p:txBody>
      </p:sp>
      <p:sp>
        <p:nvSpPr>
          <p:cNvPr id="6" name="TextBox 5"/>
          <p:cNvSpPr txBox="1"/>
          <p:nvPr/>
        </p:nvSpPr>
        <p:spPr>
          <a:xfrm>
            <a:off x="566928" y="4160520"/>
            <a:ext cx="11057839" cy="411480"/>
          </a:xfrm>
          <a:prstGeom prst="rect">
            <a:avLst/>
          </a:prstGeom>
          <a:noFill/>
        </p:spPr>
        <p:txBody>
          <a:bodyPr wrap="square">
            <a:spAutoFit/>
          </a:bodyPr>
          <a:lstStyle/>
          <a:p>
            <a:pPr>
              <a:spcAft>
                <a:spcPts val="600"/>
              </a:spcAft>
            </a:pPr>
            <a:r>
              <a:rPr sz="1300" b="0">
                <a:solidFill>
                  <a:srgbClr val="666666"/>
                </a:solidFill>
                <a:latin typeface="Arial"/>
              </a:rPr>
              <a:t>Vitis HLS 2022.2  ·  Blackboard Zynq-7000 (xc7z007sclg400-1)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What is different about this lab</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298448"/>
            <a:ext cx="11057839" cy="1353312"/>
          </a:xfrm>
          <a:prstGeom prst="rect">
            <a:avLst/>
          </a:prstGeom>
          <a:noFill/>
        </p:spPr>
        <p:txBody>
          <a:bodyPr wrap="square">
            <a:spAutoFit/>
          </a:bodyPr>
          <a:lstStyle/>
          <a:p>
            <a:pPr>
              <a:spcAft>
                <a:spcPts val="700"/>
              </a:spcAft>
            </a:pPr>
            <a:r>
              <a:rPr sz="1400">
                <a:solidFill>
                  <a:srgbClr val="222222"/>
                </a:solidFill>
                <a:latin typeface="Arial"/>
              </a:rPr>
              <a:t>▪  Labs 1 and 2 described hardware that was small and control-shaped. The C++ was more or less the circuit.</a:t>
            </a:r>
          </a:p>
          <a:p>
            <a:pPr>
              <a:spcAft>
                <a:spcPts val="700"/>
              </a:spcAft>
            </a:pPr>
            <a:r>
              <a:rPr sz="1400">
                <a:solidFill>
                  <a:srgbClr val="222222"/>
                </a:solidFill>
                <a:latin typeface="Arial"/>
              </a:rPr>
              <a:t>▪  Lab 3 uses a dense neural-network layer: a regular nest of multiply-accumulate loops.</a:t>
            </a:r>
          </a:p>
          <a:p>
            <a:pPr>
              <a:spcAft>
                <a:spcPts val="700"/>
              </a:spcAft>
            </a:pPr>
            <a:r>
              <a:rPr sz="1400">
                <a:solidFill>
                  <a:srgbClr val="222222"/>
                </a:solidFill>
                <a:latin typeface="Arial"/>
              </a:rPr>
              <a:t>▪  Nothing in the source says how much hardware to build. The pragmas decide that.</a:t>
            </a:r>
          </a:p>
          <a:p>
            <a:pPr>
              <a:spcAft>
                <a:spcPts val="700"/>
              </a:spcAft>
            </a:pPr>
            <a:r>
              <a:rPr sz="1400">
                <a:solidFill>
                  <a:srgbClr val="222222"/>
                </a:solidFill>
                <a:latin typeface="Arial"/>
              </a:rPr>
              <a:t>▪  One source, many architectures — from tiny and slow to large and fast.</a:t>
            </a:r>
          </a:p>
        </p:txBody>
      </p:sp>
      <p:sp>
        <p:nvSpPr>
          <p:cNvPr id="5" name="Rounded Rectangle 4"/>
          <p:cNvSpPr/>
          <p:nvPr/>
        </p:nvSpPr>
        <p:spPr>
          <a:xfrm>
            <a:off x="566928" y="2779776"/>
            <a:ext cx="11057839" cy="630936"/>
          </a:xfrm>
          <a:prstGeom prst="roundRect">
            <a:avLst>
              <a:gd name="adj" fmla="val 3000"/>
            </a:avLst>
          </a:prstGeom>
          <a:solidFill>
            <a:srgbClr val="F2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2871216"/>
            <a:ext cx="10765231" cy="448056"/>
          </a:xfrm>
          <a:prstGeom prst="rect">
            <a:avLst/>
          </a:prstGeom>
          <a:noFill/>
        </p:spPr>
        <p:txBody>
          <a:bodyPr wrap="square">
            <a:spAutoFit/>
          </a:bodyPr>
          <a:lstStyle/>
          <a:p>
            <a:pPr>
              <a:spcAft>
                <a:spcPts val="100"/>
              </a:spcAft>
            </a:pPr>
            <a:r>
              <a:rPr sz="1050" b="0">
                <a:solidFill>
                  <a:srgbClr val="222222"/>
                </a:solidFill>
                <a:latin typeface="Consolas"/>
              </a:rPr>
              <a:t>16 x 16 x 16  =  4096 multiply-accumulate operations</a:t>
            </a:r>
          </a:p>
          <a:p>
            <a:pPr>
              <a:spcAft>
                <a:spcPts val="100"/>
              </a:spcAft>
            </a:pPr>
            <a:r>
              <a:rPr sz="1050" b="0">
                <a:solidFill>
                  <a:srgbClr val="222222"/>
                </a:solidFill>
                <a:latin typeface="Consolas"/>
              </a:rPr>
              <a:t>one C++ function  →  many possible circuits</a:t>
            </a:r>
          </a:p>
        </p:txBody>
      </p:sp>
      <p:sp>
        <p:nvSpPr>
          <p:cNvPr id="7" name="TextBox 6"/>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The kernel</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1298448"/>
            <a:ext cx="11057839" cy="2990088"/>
          </a:xfrm>
          <a:prstGeom prst="roundRect">
            <a:avLst>
              <a:gd name="adj" fmla="val 3000"/>
            </a:avLst>
          </a:prstGeom>
          <a:solidFill>
            <a:srgbClr val="F2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389888"/>
            <a:ext cx="10765231" cy="2807208"/>
          </a:xfrm>
          <a:prstGeom prst="rect">
            <a:avLst/>
          </a:prstGeom>
          <a:noFill/>
        </p:spPr>
        <p:txBody>
          <a:bodyPr wrap="square">
            <a:spAutoFit/>
          </a:bodyPr>
          <a:lstStyle/>
          <a:p>
            <a:pPr>
              <a:spcAft>
                <a:spcPts val="100"/>
              </a:spcAft>
            </a:pPr>
            <a:r>
              <a:rPr sz="1050" b="0">
                <a:solidFill>
                  <a:srgbClr val="222222"/>
                </a:solidFill>
                <a:latin typeface="Consolas"/>
              </a:rPr>
              <a:t>void matmul(const data_t A[N][N], const data_t B[N][N], acc_t C[N][N]) {</a:t>
            </a:r>
          </a:p>
          <a:p>
            <a:pPr>
              <a:spcAft>
                <a:spcPts val="100"/>
              </a:spcAft>
            </a:pPr>
            <a:r>
              <a:rPr sz="1050" b="0">
                <a:solidFill>
                  <a:srgbClr val="222222"/>
                </a:solidFill>
                <a:latin typeface="Consolas"/>
              </a:rPr>
              <a:t>row:</a:t>
            </a:r>
          </a:p>
          <a:p>
            <a:pPr>
              <a:spcAft>
                <a:spcPts val="100"/>
              </a:spcAft>
            </a:pPr>
            <a:r>
              <a:rPr sz="1050" b="0">
                <a:solidFill>
                  <a:srgbClr val="222222"/>
                </a:solidFill>
                <a:latin typeface="Consolas"/>
              </a:rPr>
              <a:t>    for (int i = 0; i &lt; N; i++) {</a:t>
            </a:r>
          </a:p>
          <a:p>
            <a:pPr>
              <a:spcAft>
                <a:spcPts val="100"/>
              </a:spcAft>
            </a:pPr>
            <a:r>
              <a:rPr sz="1050" b="0">
                <a:solidFill>
                  <a:srgbClr val="222222"/>
                </a:solidFill>
                <a:latin typeface="Consolas"/>
              </a:rPr>
              <a:t>    col:</a:t>
            </a:r>
          </a:p>
          <a:p>
            <a:pPr>
              <a:spcAft>
                <a:spcPts val="100"/>
              </a:spcAft>
            </a:pPr>
            <a:r>
              <a:rPr sz="1050" b="0">
                <a:solidFill>
                  <a:srgbClr val="222222"/>
                </a:solidFill>
                <a:latin typeface="Consolas"/>
              </a:rPr>
              <a:t>        for (int j = 0; j &lt; N; j++) {</a:t>
            </a:r>
          </a:p>
          <a:p>
            <a:pPr>
              <a:spcAft>
                <a:spcPts val="100"/>
              </a:spcAft>
            </a:pPr>
            <a:r>
              <a:rPr sz="1050" b="0">
                <a:solidFill>
                  <a:srgbClr val="222222"/>
                </a:solidFill>
                <a:latin typeface="Consolas"/>
              </a:rPr>
              <a:t>            acc_t acc = 0;</a:t>
            </a:r>
          </a:p>
          <a:p>
            <a:pPr>
              <a:spcAft>
                <a:spcPts val="100"/>
              </a:spcAft>
            </a:pPr>
            <a:r>
              <a:rPr sz="1050" b="0">
                <a:solidFill>
                  <a:srgbClr val="222222"/>
                </a:solidFill>
                <a:latin typeface="Consolas"/>
              </a:rPr>
              <a:t>        prod:</a:t>
            </a:r>
          </a:p>
          <a:p>
            <a:pPr>
              <a:spcAft>
                <a:spcPts val="100"/>
              </a:spcAft>
            </a:pPr>
            <a:r>
              <a:rPr sz="1050" b="0">
                <a:solidFill>
                  <a:srgbClr val="222222"/>
                </a:solidFill>
                <a:latin typeface="Consolas"/>
              </a:rPr>
              <a:t>            for (int k = 0; k &lt; N; k++) {</a:t>
            </a:r>
          </a:p>
          <a:p>
            <a:pPr>
              <a:spcAft>
                <a:spcPts val="100"/>
              </a:spcAft>
            </a:pPr>
            <a:r>
              <a:rPr sz="1050" b="0">
                <a:solidFill>
                  <a:srgbClr val="222222"/>
                </a:solidFill>
                <a:latin typeface="Consolas"/>
              </a:rPr>
              <a:t>                acc += (acc_t)A[i][k] * (acc_t)B[k][j];</a:t>
            </a:r>
          </a:p>
          <a:p>
            <a:pPr>
              <a:spcAft>
                <a:spcPts val="100"/>
              </a:spcAft>
            </a:pPr>
            <a:r>
              <a:rPr sz="1050" b="0">
                <a:solidFill>
                  <a:srgbClr val="222222"/>
                </a:solidFill>
                <a:latin typeface="Consolas"/>
              </a:rPr>
              <a:t>            }</a:t>
            </a:r>
          </a:p>
          <a:p>
            <a:pPr>
              <a:spcAft>
                <a:spcPts val="100"/>
              </a:spcAft>
            </a:pPr>
            <a:r>
              <a:rPr sz="1050" b="0">
                <a:solidFill>
                  <a:srgbClr val="222222"/>
                </a:solidFill>
                <a:latin typeface="Consolas"/>
              </a:rPr>
              <a:t>            C[i][j] = acc;</a:t>
            </a:r>
          </a:p>
          <a:p>
            <a:pPr>
              <a:spcAft>
                <a:spcPts val="100"/>
              </a:spcAft>
            </a:pPr>
            <a:r>
              <a:rPr sz="1050" b="0">
                <a:solidFill>
                  <a:srgbClr val="222222"/>
                </a:solidFill>
                <a:latin typeface="Consolas"/>
              </a:rPr>
              <a:t>        }</a:t>
            </a:r>
          </a:p>
          <a:p>
            <a:pPr>
              <a:spcAft>
                <a:spcPts val="100"/>
              </a:spcAft>
            </a:pPr>
            <a:r>
              <a:rPr sz="1050" b="0">
                <a:solidFill>
                  <a:srgbClr val="222222"/>
                </a:solidFill>
                <a:latin typeface="Consolas"/>
              </a:rPr>
              <a:t>    }</a:t>
            </a:r>
          </a:p>
          <a:p>
            <a:pPr>
              <a:spcAft>
                <a:spcPts val="100"/>
              </a:spcAft>
            </a:pPr>
            <a:r>
              <a:rPr sz="1050" b="0">
                <a:solidFill>
                  <a:srgbClr val="222222"/>
                </a:solidFill>
                <a:latin typeface="Consolas"/>
              </a:rPr>
              <a:t>}</a:t>
            </a:r>
          </a:p>
        </p:txBody>
      </p:sp>
      <p:sp>
        <p:nvSpPr>
          <p:cNvPr id="6" name="TextBox 5"/>
          <p:cNvSpPr txBox="1"/>
          <p:nvPr/>
        </p:nvSpPr>
        <p:spPr>
          <a:xfrm>
            <a:off x="566928" y="4416552"/>
            <a:ext cx="11057839" cy="731520"/>
          </a:xfrm>
          <a:prstGeom prst="rect">
            <a:avLst/>
          </a:prstGeom>
          <a:noFill/>
        </p:spPr>
        <p:txBody>
          <a:bodyPr wrap="square">
            <a:spAutoFit/>
          </a:bodyPr>
          <a:lstStyle/>
          <a:p>
            <a:pPr>
              <a:spcAft>
                <a:spcPts val="700"/>
              </a:spcAft>
            </a:pPr>
            <a:r>
              <a:rPr sz="1400">
                <a:solidFill>
                  <a:srgbClr val="222222"/>
                </a:solidFill>
                <a:latin typeface="Arial"/>
              </a:rPr>
              <a:t>▪  N = 16, fixed at compile time — a runtime size would make the report say ? instead of a latency.</a:t>
            </a:r>
          </a:p>
          <a:p>
            <a:pPr>
              <a:spcAft>
                <a:spcPts val="700"/>
              </a:spcAft>
            </a:pPr>
            <a:r>
              <a:rPr sz="1400">
                <a:solidFill>
                  <a:srgbClr val="222222"/>
                </a:solidFill>
                <a:latin typeface="Arial"/>
              </a:rPr>
              <a:t>▪  Loops are labelled so a pragma can target one specific loop.</a:t>
            </a:r>
          </a:p>
        </p:txBody>
      </p:sp>
      <p:sp>
        <p:nvSpPr>
          <p:cNvPr id="7" name="TextBox 6"/>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Two decisions made before the exploration starts</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298448"/>
            <a:ext cx="11057839" cy="329184"/>
          </a:xfrm>
          <a:prstGeom prst="rect">
            <a:avLst/>
          </a:prstGeom>
          <a:noFill/>
        </p:spPr>
        <p:txBody>
          <a:bodyPr wrap="square">
            <a:spAutoFit/>
          </a:bodyPr>
          <a:lstStyle/>
          <a:p>
            <a:pPr>
              <a:spcAft>
                <a:spcPts val="600"/>
              </a:spcAft>
            </a:pPr>
            <a:r>
              <a:rPr sz="1300" b="0">
                <a:solidFill>
                  <a:srgbClr val="222222"/>
                </a:solidFill>
                <a:latin typeface="Arial"/>
              </a:rPr>
              <a:t>Size is a compile-time constant. With a runtime N, Vitis HLS cannot compute</a:t>
            </a:r>
          </a:p>
        </p:txBody>
      </p:sp>
      <p:sp>
        <p:nvSpPr>
          <p:cNvPr id="5" name="TextBox 4"/>
          <p:cNvSpPr txBox="1"/>
          <p:nvPr/>
        </p:nvSpPr>
        <p:spPr>
          <a:xfrm>
            <a:off x="566928" y="1700784"/>
            <a:ext cx="11057839" cy="329184"/>
          </a:xfrm>
          <a:prstGeom prst="rect">
            <a:avLst/>
          </a:prstGeom>
          <a:noFill/>
        </p:spPr>
        <p:txBody>
          <a:bodyPr wrap="square">
            <a:spAutoFit/>
          </a:bodyPr>
          <a:lstStyle/>
          <a:p>
            <a:pPr>
              <a:spcAft>
                <a:spcPts val="600"/>
              </a:spcAft>
            </a:pPr>
            <a:r>
              <a:rPr sz="1300" b="0">
                <a:solidFill>
                  <a:srgbClr val="222222"/>
                </a:solidFill>
                <a:latin typeface="Arial"/>
              </a:rPr>
              <a:t>a trip count and reports latency as ?. A lab about comparing latency needs a number.</a:t>
            </a:r>
          </a:p>
        </p:txBody>
      </p:sp>
      <p:sp>
        <p:nvSpPr>
          <p:cNvPr id="6" name="TextBox 5"/>
          <p:cNvSpPr txBox="1"/>
          <p:nvPr/>
        </p:nvSpPr>
        <p:spPr>
          <a:xfrm>
            <a:off x="566928" y="2103120"/>
            <a:ext cx="11057839" cy="329184"/>
          </a:xfrm>
          <a:prstGeom prst="rect">
            <a:avLst/>
          </a:prstGeom>
          <a:noFill/>
        </p:spPr>
        <p:txBody>
          <a:bodyPr wrap="square">
            <a:spAutoFit/>
          </a:bodyPr>
          <a:lstStyle/>
          <a:p>
            <a:pPr>
              <a:spcAft>
                <a:spcPts val="600"/>
              </a:spcAft>
            </a:pPr>
            <a:r>
              <a:rPr sz="1300" b="0">
                <a:solidFill>
                  <a:srgbClr val="222222"/>
                </a:solidFill>
                <a:latin typeface="Arial"/>
              </a:rPr>
              <a:t>Operands are 8-bit, accumulator 32-bit — quantised-DNN practice, but here it is</a:t>
            </a:r>
          </a:p>
        </p:txBody>
      </p:sp>
      <p:sp>
        <p:nvSpPr>
          <p:cNvPr id="7" name="TextBox 6"/>
          <p:cNvSpPr txBox="1"/>
          <p:nvPr/>
        </p:nvSpPr>
        <p:spPr>
          <a:xfrm>
            <a:off x="566928" y="2505456"/>
            <a:ext cx="11057839" cy="329184"/>
          </a:xfrm>
          <a:prstGeom prst="rect">
            <a:avLst/>
          </a:prstGeom>
          <a:noFill/>
        </p:spPr>
        <p:txBody>
          <a:bodyPr wrap="square">
            <a:spAutoFit/>
          </a:bodyPr>
          <a:lstStyle/>
          <a:p>
            <a:pPr>
              <a:spcAft>
                <a:spcPts val="600"/>
              </a:spcAft>
            </a:pPr>
            <a:r>
              <a:rPr sz="1300" b="0">
                <a:solidFill>
                  <a:srgbClr val="222222"/>
                </a:solidFill>
                <a:latin typeface="Arial"/>
              </a:rPr>
              <a:t>closer to a requirement:</a:t>
            </a:r>
          </a:p>
        </p:txBody>
      </p:sp>
      <p:graphicFrame>
        <p:nvGraphicFramePr>
          <p:cNvPr id="8" name="Table 7"/>
          <p:cNvGraphicFramePr>
            <a:graphicFrameLocks noGrp="1"/>
          </p:cNvGraphicFramePr>
          <p:nvPr/>
        </p:nvGraphicFramePr>
        <p:xfrm>
          <a:off x="566928" y="2907792"/>
          <a:ext cx="11057839" cy="877824"/>
        </p:xfrm>
        <a:graphic>
          <a:graphicData uri="http://schemas.openxmlformats.org/drawingml/2006/table">
            <a:tbl>
              <a:tblPr>
                <a:tableStyleId>{5C22544A-7EE6-4342-B048-85BDC9FD1C3A}</a:tableStyleId>
              </a:tblPr>
              <a:tblGrid>
                <a:gridCol w="3685946">
                  <a:extLst>
                    <a:ext uri="{9D8B030D-6E8A-4147-A177-3AD203B41FA5}">
                      <a16:colId xmlns:a16="http://schemas.microsoft.com/office/drawing/2014/main" val="20000"/>
                    </a:ext>
                  </a:extLst>
                </a:gridCol>
                <a:gridCol w="3685946">
                  <a:extLst>
                    <a:ext uri="{9D8B030D-6E8A-4147-A177-3AD203B41FA5}">
                      <a16:colId xmlns:a16="http://schemas.microsoft.com/office/drawing/2014/main" val="20001"/>
                    </a:ext>
                  </a:extLst>
                </a:gridCol>
                <a:gridCol w="3685947">
                  <a:extLst>
                    <a:ext uri="{9D8B030D-6E8A-4147-A177-3AD203B41FA5}">
                      <a16:colId xmlns:a16="http://schemas.microsoft.com/office/drawing/2014/main" val="20002"/>
                    </a:ext>
                  </a:extLst>
                </a:gridCol>
              </a:tblGrid>
              <a:tr h="292608">
                <a:tc>
                  <a:txBody>
                    <a:bodyPr/>
                    <a:lstStyle/>
                    <a:p>
                      <a:r>
                        <a:rPr sz="1150" b="1">
                          <a:solidFill>
                            <a:srgbClr val="FFFFFF"/>
                          </a:solidFill>
                          <a:latin typeface="Arial"/>
                        </a:rPr>
                        <a:t>data type</a:t>
                      </a:r>
                    </a:p>
                  </a:txBody>
                  <a:tcPr anchor="ctr">
                    <a:solidFill>
                      <a:srgbClr val="009682"/>
                    </a:solidFill>
                  </a:tcPr>
                </a:tc>
                <a:tc>
                  <a:txBody>
                    <a:bodyPr/>
                    <a:lstStyle/>
                    <a:p>
                      <a:r>
                        <a:rPr sz="1150" b="1">
                          <a:solidFill>
                            <a:srgbClr val="FFFFFF"/>
                          </a:solidFill>
                          <a:latin typeface="Arial"/>
                        </a:rPr>
                        <a:t>DSP at baseline</a:t>
                      </a:r>
                    </a:p>
                  </a:txBody>
                  <a:tcPr anchor="ctr">
                    <a:solidFill>
                      <a:srgbClr val="009682"/>
                    </a:solidFill>
                  </a:tcPr>
                </a:tc>
                <a:tc>
                  <a:txBody>
                    <a:bodyPr/>
                    <a:lstStyle/>
                    <a:p>
                      <a:r>
                        <a:rPr sz="1150" b="1">
                          <a:solidFill>
                            <a:srgbClr val="FFFFFF"/>
                          </a:solidFill>
                          <a:latin typeface="Arial"/>
                        </a:rPr>
                        <a:t>share of the 66 available</a:t>
                      </a:r>
                    </a:p>
                  </a:txBody>
                  <a:tcPr anchor="ctr">
                    <a:solidFill>
                      <a:srgbClr val="009682"/>
                    </a:solidFill>
                  </a:tcPr>
                </a:tc>
                <a:extLst>
                  <a:ext uri="{0D108BD9-81ED-4DB2-BD59-A6C34878D82A}">
                    <a16:rowId xmlns:a16="http://schemas.microsoft.com/office/drawing/2014/main" val="10000"/>
                  </a:ext>
                </a:extLst>
              </a:tr>
              <a:tr h="292608">
                <a:tc>
                  <a:txBody>
                    <a:bodyPr/>
                    <a:lstStyle/>
                    <a:p>
                      <a:r>
                        <a:rPr sz="1150" b="0">
                          <a:solidFill>
                            <a:srgbClr val="222222"/>
                          </a:solidFill>
                          <a:latin typeface="Arial"/>
                        </a:rPr>
                        <a:t>int (32-bit)</a:t>
                      </a:r>
                    </a:p>
                  </a:txBody>
                  <a:tcPr anchor="ctr">
                    <a:solidFill>
                      <a:srgbClr val="FFFFFF"/>
                    </a:solidFill>
                  </a:tcPr>
                </a:tc>
                <a:tc>
                  <a:txBody>
                    <a:bodyPr/>
                    <a:lstStyle/>
                    <a:p>
                      <a:r>
                        <a:rPr sz="1150" b="0">
                          <a:solidFill>
                            <a:srgbClr val="222222"/>
                          </a:solidFill>
                          <a:latin typeface="Arial"/>
                        </a:rPr>
                        <a:t>42</a:t>
                      </a:r>
                    </a:p>
                  </a:txBody>
                  <a:tcPr anchor="ctr">
                    <a:solidFill>
                      <a:srgbClr val="FFFFFF"/>
                    </a:solidFill>
                  </a:tcPr>
                </a:tc>
                <a:tc>
                  <a:txBody>
                    <a:bodyPr/>
                    <a:lstStyle/>
                    <a:p>
                      <a:r>
                        <a:rPr sz="1150" b="0">
                          <a:solidFill>
                            <a:srgbClr val="222222"/>
                          </a:solidFill>
                          <a:latin typeface="Arial"/>
                        </a:rPr>
                        <a:t>63 %</a:t>
                      </a:r>
                    </a:p>
                  </a:txBody>
                  <a:tcPr anchor="ctr">
                    <a:solidFill>
                      <a:srgbClr val="FFFFFF"/>
                    </a:solidFill>
                  </a:tcPr>
                </a:tc>
                <a:extLst>
                  <a:ext uri="{0D108BD9-81ED-4DB2-BD59-A6C34878D82A}">
                    <a16:rowId xmlns:a16="http://schemas.microsoft.com/office/drawing/2014/main" val="10001"/>
                  </a:ext>
                </a:extLst>
              </a:tr>
              <a:tr h="292608">
                <a:tc>
                  <a:txBody>
                    <a:bodyPr/>
                    <a:lstStyle/>
                    <a:p>
                      <a:r>
                        <a:rPr sz="1150" b="0">
                          <a:solidFill>
                            <a:srgbClr val="222222"/>
                          </a:solidFill>
                          <a:latin typeface="Arial"/>
                        </a:rPr>
                        <a:t>ap_int → ap_int</a:t>
                      </a:r>
                    </a:p>
                  </a:txBody>
                  <a:tcPr anchor="ctr">
                    <a:solidFill>
                      <a:srgbClr val="F2F4F3"/>
                    </a:solidFill>
                  </a:tcPr>
                </a:tc>
                <a:tc>
                  <a:txBody>
                    <a:bodyPr/>
                    <a:lstStyle/>
                    <a:p>
                      <a:r>
                        <a:rPr sz="1150" b="0">
                          <a:solidFill>
                            <a:srgbClr val="222222"/>
                          </a:solidFill>
                          <a:latin typeface="Arial"/>
                        </a:rPr>
                        <a:t>8</a:t>
                      </a:r>
                    </a:p>
                  </a:txBody>
                  <a:tcPr anchor="ctr">
                    <a:solidFill>
                      <a:srgbClr val="F2F4F3"/>
                    </a:solidFill>
                  </a:tcPr>
                </a:tc>
                <a:tc>
                  <a:txBody>
                    <a:bodyPr/>
                    <a:lstStyle/>
                    <a:p>
                      <a:r>
                        <a:rPr sz="1150" b="0">
                          <a:solidFill>
                            <a:srgbClr val="222222"/>
                          </a:solidFill>
                          <a:latin typeface="Arial"/>
                        </a:rPr>
                        <a:t>12 %</a:t>
                      </a:r>
                    </a:p>
                  </a:txBody>
                  <a:tcPr anchor="ctr">
                    <a:solidFill>
                      <a:srgbClr val="F2F4F3"/>
                    </a:solidFill>
                  </a:tcPr>
                </a:tc>
                <a:extLst>
                  <a:ext uri="{0D108BD9-81ED-4DB2-BD59-A6C34878D82A}">
                    <a16:rowId xmlns:a16="http://schemas.microsoft.com/office/drawing/2014/main" val="10002"/>
                  </a:ext>
                </a:extLst>
              </a:tr>
            </a:tbl>
          </a:graphicData>
        </a:graphic>
      </p:graphicFrame>
      <p:sp>
        <p:nvSpPr>
          <p:cNvPr id="9" name="Rounded Rectangle 8"/>
          <p:cNvSpPr/>
          <p:nvPr/>
        </p:nvSpPr>
        <p:spPr>
          <a:xfrm>
            <a:off x="566928" y="3913632"/>
            <a:ext cx="11057839" cy="786384"/>
          </a:xfrm>
          <a:prstGeom prst="roundRect">
            <a:avLst>
              <a:gd name="adj" fmla="val 3000"/>
            </a:avLst>
          </a:prstGeom>
          <a:solidFill>
            <a:srgbClr val="E8F4F2"/>
          </a:solidFill>
          <a:ln w="15875">
            <a:solidFill>
              <a:srgbClr val="009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995928"/>
            <a:ext cx="10728655" cy="621792"/>
          </a:xfrm>
          <a:prstGeom prst="rect">
            <a:avLst/>
          </a:prstGeom>
          <a:noFill/>
        </p:spPr>
        <p:txBody>
          <a:bodyPr wrap="square">
            <a:spAutoFit/>
          </a:bodyPr>
          <a:lstStyle/>
          <a:p>
            <a:pPr>
              <a:spcAft>
                <a:spcPts val="200"/>
              </a:spcAft>
            </a:pPr>
            <a:r>
              <a:rPr sz="1200" b="0">
                <a:solidFill>
                  <a:srgbClr val="222222"/>
                </a:solidFill>
                <a:latin typeface="Arial"/>
              </a:rPr>
              <a:t>Both give identical latency. The data type does not change how many operations there are, only what each one costs. Starting from 32-bit would leave no DSP budget to explore with.</a:t>
            </a:r>
          </a:p>
        </p:txBody>
      </p:sp>
      <p:sp>
        <p:nvSpPr>
          <p:cNvPr id="11" name="TextBox 10"/>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The trap: the tool optimises before you do</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298448"/>
            <a:ext cx="11057839" cy="329184"/>
          </a:xfrm>
          <a:prstGeom prst="rect">
            <a:avLst/>
          </a:prstGeom>
          <a:noFill/>
        </p:spPr>
        <p:txBody>
          <a:bodyPr wrap="square">
            <a:spAutoFit/>
          </a:bodyPr>
          <a:lstStyle/>
          <a:p>
            <a:pPr>
              <a:spcAft>
                <a:spcPts val="600"/>
              </a:spcAft>
            </a:pPr>
            <a:r>
              <a:rPr sz="1300" b="0">
                <a:solidFill>
                  <a:srgbClr val="222222"/>
                </a:solidFill>
                <a:latin typeface="Arial"/>
              </a:rPr>
              <a:t>Synthesizing the kernel with no pragmas at all still produces this:</a:t>
            </a:r>
          </a:p>
        </p:txBody>
      </p:sp>
      <p:sp>
        <p:nvSpPr>
          <p:cNvPr id="5" name="Rounded Rectangle 4"/>
          <p:cNvSpPr/>
          <p:nvPr/>
        </p:nvSpPr>
        <p:spPr>
          <a:xfrm>
            <a:off x="566928" y="1700784"/>
            <a:ext cx="11057839" cy="630936"/>
          </a:xfrm>
          <a:prstGeom prst="roundRect">
            <a:avLst>
              <a:gd name="adj" fmla="val 3000"/>
            </a:avLst>
          </a:prstGeom>
          <a:solidFill>
            <a:srgbClr val="F2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792224"/>
            <a:ext cx="10765231" cy="448056"/>
          </a:xfrm>
          <a:prstGeom prst="rect">
            <a:avLst/>
          </a:prstGeom>
          <a:noFill/>
        </p:spPr>
        <p:txBody>
          <a:bodyPr wrap="square">
            <a:spAutoFit/>
          </a:bodyPr>
          <a:lstStyle/>
          <a:p>
            <a:pPr>
              <a:spcAft>
                <a:spcPts val="100"/>
              </a:spcAft>
            </a:pPr>
            <a:r>
              <a:rPr sz="1050" b="0">
                <a:solidFill>
                  <a:srgbClr val="222222"/>
                </a:solidFill>
                <a:latin typeface="Consolas"/>
              </a:rPr>
              <a:t>INFO: [XFORM 203-510] Pipelining loop 'col' ... automatically.</a:t>
            </a:r>
          </a:p>
          <a:p>
            <a:pPr>
              <a:spcAft>
                <a:spcPts val="100"/>
              </a:spcAft>
            </a:pPr>
            <a:r>
              <a:rPr sz="1050" b="0">
                <a:solidFill>
                  <a:srgbClr val="222222"/>
                </a:solidFill>
                <a:latin typeface="Consolas"/>
              </a:rPr>
              <a:t>INFO: [HLS 200-489] Unrolling loop 'prod' ... completely with a factor of 16.</a:t>
            </a:r>
          </a:p>
        </p:txBody>
      </p:sp>
      <p:graphicFrame>
        <p:nvGraphicFramePr>
          <p:cNvPr id="7" name="Table 6"/>
          <p:cNvGraphicFramePr>
            <a:graphicFrameLocks noGrp="1"/>
          </p:cNvGraphicFramePr>
          <p:nvPr/>
        </p:nvGraphicFramePr>
        <p:xfrm>
          <a:off x="566928" y="2459736"/>
          <a:ext cx="11057839" cy="877824"/>
        </p:xfrm>
        <a:graphic>
          <a:graphicData uri="http://schemas.openxmlformats.org/drawingml/2006/table">
            <a:tbl>
              <a:tblPr>
                <a:tableStyleId>{5C22544A-7EE6-4342-B048-85BDC9FD1C3A}</a:tableStyleId>
              </a:tblPr>
              <a:tblGrid>
                <a:gridCol w="2764459">
                  <a:extLst>
                    <a:ext uri="{9D8B030D-6E8A-4147-A177-3AD203B41FA5}">
                      <a16:colId xmlns:a16="http://schemas.microsoft.com/office/drawing/2014/main" val="20000"/>
                    </a:ext>
                  </a:extLst>
                </a:gridCol>
                <a:gridCol w="2764459">
                  <a:extLst>
                    <a:ext uri="{9D8B030D-6E8A-4147-A177-3AD203B41FA5}">
                      <a16:colId xmlns:a16="http://schemas.microsoft.com/office/drawing/2014/main" val="20001"/>
                    </a:ext>
                  </a:extLst>
                </a:gridCol>
                <a:gridCol w="2764459">
                  <a:extLst>
                    <a:ext uri="{9D8B030D-6E8A-4147-A177-3AD203B41FA5}">
                      <a16:colId xmlns:a16="http://schemas.microsoft.com/office/drawing/2014/main" val="20002"/>
                    </a:ext>
                  </a:extLst>
                </a:gridCol>
                <a:gridCol w="2764462">
                  <a:extLst>
                    <a:ext uri="{9D8B030D-6E8A-4147-A177-3AD203B41FA5}">
                      <a16:colId xmlns:a16="http://schemas.microsoft.com/office/drawing/2014/main" val="20003"/>
                    </a:ext>
                  </a:extLst>
                </a:gridCol>
              </a:tblGrid>
              <a:tr h="292608">
                <a:tc>
                  <a:txBody>
                    <a:bodyPr/>
                    <a:lstStyle/>
                    <a:p>
                      <a:r>
                        <a:rPr sz="1150" b="1">
                          <a:solidFill>
                            <a:srgbClr val="FFFFFF"/>
                          </a:solidFill>
                          <a:latin typeface="Arial"/>
                        </a:rPr>
                        <a:t>baseline</a:t>
                      </a:r>
                    </a:p>
                  </a:txBody>
                  <a:tcPr anchor="ctr">
                    <a:solidFill>
                      <a:srgbClr val="009682"/>
                    </a:solidFill>
                  </a:tcPr>
                </a:tc>
                <a:tc>
                  <a:txBody>
                    <a:bodyPr/>
                    <a:lstStyle/>
                    <a:p>
                      <a:r>
                        <a:rPr sz="1150" b="1">
                          <a:solidFill>
                            <a:srgbClr val="FFFFFF"/>
                          </a:solidFill>
                          <a:latin typeface="Arial"/>
                        </a:rPr>
                        <a:t>latency</a:t>
                      </a:r>
                    </a:p>
                  </a:txBody>
                  <a:tcPr anchor="ctr">
                    <a:solidFill>
                      <a:srgbClr val="009682"/>
                    </a:solidFill>
                  </a:tcPr>
                </a:tc>
                <a:tc>
                  <a:txBody>
                    <a:bodyPr/>
                    <a:lstStyle/>
                    <a:p>
                      <a:r>
                        <a:rPr sz="1150" b="1">
                          <a:solidFill>
                            <a:srgbClr val="FFFFFF"/>
                          </a:solidFill>
                          <a:latin typeface="Arial"/>
                        </a:rPr>
                        <a:t>DSP</a:t>
                      </a:r>
                    </a:p>
                  </a:txBody>
                  <a:tcPr anchor="ctr">
                    <a:solidFill>
                      <a:srgbClr val="009682"/>
                    </a:solidFill>
                  </a:tcPr>
                </a:tc>
                <a:tc>
                  <a:txBody>
                    <a:bodyPr/>
                    <a:lstStyle/>
                    <a:p>
                      <a:r>
                        <a:rPr sz="1150" b="1">
                          <a:solidFill>
                            <a:srgbClr val="FFFFFF"/>
                          </a:solidFill>
                          <a:latin typeface="Arial"/>
                        </a:rPr>
                        <a:t>LUT</a:t>
                      </a:r>
                    </a:p>
                  </a:txBody>
                  <a:tcPr anchor="ctr">
                    <a:solidFill>
                      <a:srgbClr val="009682"/>
                    </a:solidFill>
                  </a:tcPr>
                </a:tc>
                <a:extLst>
                  <a:ext uri="{0D108BD9-81ED-4DB2-BD59-A6C34878D82A}">
                    <a16:rowId xmlns:a16="http://schemas.microsoft.com/office/drawing/2014/main" val="10000"/>
                  </a:ext>
                </a:extLst>
              </a:tr>
              <a:tr h="292608">
                <a:tc>
                  <a:txBody>
                    <a:bodyPr/>
                    <a:lstStyle/>
                    <a:p>
                      <a:r>
                        <a:rPr sz="1150" b="0">
                          <a:solidFill>
                            <a:srgbClr val="222222"/>
                          </a:solidFill>
                          <a:latin typeface="Arial"/>
                        </a:rPr>
                        <a:t>tool defaults</a:t>
                      </a:r>
                    </a:p>
                  </a:txBody>
                  <a:tcPr anchor="ctr">
                    <a:solidFill>
                      <a:srgbClr val="FFFFFF"/>
                    </a:solidFill>
                  </a:tcPr>
                </a:tc>
                <a:tc>
                  <a:txBody>
                    <a:bodyPr/>
                    <a:lstStyle/>
                    <a:p>
                      <a:r>
                        <a:rPr sz="1150" b="0">
                          <a:solidFill>
                            <a:srgbClr val="222222"/>
                          </a:solidFill>
                          <a:latin typeface="Arial"/>
                        </a:rPr>
                        <a:t>2 057</a:t>
                      </a:r>
                    </a:p>
                  </a:txBody>
                  <a:tcPr anchor="ctr">
                    <a:solidFill>
                      <a:srgbClr val="FFFFFF"/>
                    </a:solidFill>
                  </a:tcPr>
                </a:tc>
                <a:tc>
                  <a:txBody>
                    <a:bodyPr/>
                    <a:lstStyle/>
                    <a:p>
                      <a:r>
                        <a:rPr sz="1150" b="0">
                          <a:solidFill>
                            <a:srgbClr val="222222"/>
                          </a:solidFill>
                          <a:latin typeface="Arial"/>
                        </a:rPr>
                        <a:t>8</a:t>
                      </a:r>
                    </a:p>
                  </a:txBody>
                  <a:tcPr anchor="ctr">
                    <a:solidFill>
                      <a:srgbClr val="FFFFFF"/>
                    </a:solidFill>
                  </a:tcPr>
                </a:tc>
                <a:tc>
                  <a:txBody>
                    <a:bodyPr/>
                    <a:lstStyle/>
                    <a:p>
                      <a:r>
                        <a:rPr sz="1150" b="0">
                          <a:solidFill>
                            <a:srgbClr val="222222"/>
                          </a:solidFill>
                          <a:latin typeface="Arial"/>
                        </a:rPr>
                        <a:t>1 264</a:t>
                      </a:r>
                    </a:p>
                  </a:txBody>
                  <a:tcPr anchor="ctr">
                    <a:solidFill>
                      <a:srgbClr val="FFFFFF"/>
                    </a:solidFill>
                  </a:tcPr>
                </a:tc>
                <a:extLst>
                  <a:ext uri="{0D108BD9-81ED-4DB2-BD59-A6C34878D82A}">
                    <a16:rowId xmlns:a16="http://schemas.microsoft.com/office/drawing/2014/main" val="10001"/>
                  </a:ext>
                </a:extLst>
              </a:tr>
              <a:tr h="292608">
                <a:tc>
                  <a:txBody>
                    <a:bodyPr/>
                    <a:lstStyle/>
                    <a:p>
                      <a:r>
                        <a:rPr sz="1150" b="0">
                          <a:solidFill>
                            <a:srgbClr val="222222"/>
                          </a:solidFill>
                          <a:latin typeface="Arial"/>
                        </a:rPr>
                        <a:t>automatic pipelining disabled</a:t>
                      </a:r>
                    </a:p>
                  </a:txBody>
                  <a:tcPr anchor="ctr">
                    <a:solidFill>
                      <a:srgbClr val="F2F4F3"/>
                    </a:solidFill>
                  </a:tcPr>
                </a:tc>
                <a:tc>
                  <a:txBody>
                    <a:bodyPr/>
                    <a:lstStyle/>
                    <a:p>
                      <a:r>
                        <a:rPr sz="1150" b="0">
                          <a:solidFill>
                            <a:srgbClr val="222222"/>
                          </a:solidFill>
                          <a:latin typeface="Arial"/>
                        </a:rPr>
                        <a:t>21 025</a:t>
                      </a:r>
                    </a:p>
                  </a:txBody>
                  <a:tcPr anchor="ctr">
                    <a:solidFill>
                      <a:srgbClr val="F2F4F3"/>
                    </a:solidFill>
                  </a:tcPr>
                </a:tc>
                <a:tc>
                  <a:txBody>
                    <a:bodyPr/>
                    <a:lstStyle/>
                    <a:p>
                      <a:r>
                        <a:rPr sz="1150" b="0">
                          <a:solidFill>
                            <a:srgbClr val="222222"/>
                          </a:solidFill>
                          <a:latin typeface="Arial"/>
                        </a:rPr>
                        <a:t>1</a:t>
                      </a:r>
                    </a:p>
                  </a:txBody>
                  <a:tcPr anchor="ctr">
                    <a:solidFill>
                      <a:srgbClr val="F2F4F3"/>
                    </a:solidFill>
                  </a:tcPr>
                </a:tc>
                <a:tc>
                  <a:txBody>
                    <a:bodyPr/>
                    <a:lstStyle/>
                    <a:p>
                      <a:r>
                        <a:rPr sz="1150" b="0">
                          <a:solidFill>
                            <a:srgbClr val="222222"/>
                          </a:solidFill>
                          <a:latin typeface="Arial"/>
                        </a:rPr>
                        <a:t>198</a:t>
                      </a:r>
                    </a:p>
                  </a:txBody>
                  <a:tcPr anchor="ctr">
                    <a:solidFill>
                      <a:srgbClr val="F2F4F3"/>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566928" y="3465576"/>
            <a:ext cx="11057839" cy="786384"/>
          </a:xfrm>
          <a:prstGeom prst="roundRect">
            <a:avLst>
              <a:gd name="adj" fmla="val 3000"/>
            </a:avLst>
          </a:prstGeom>
          <a:solidFill>
            <a:srgbClr val="FDF0E8"/>
          </a:solidFill>
          <a:ln w="15875">
            <a:solidFill>
              <a:srgbClr val="D05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547872"/>
            <a:ext cx="10728655" cy="621792"/>
          </a:xfrm>
          <a:prstGeom prst="rect">
            <a:avLst/>
          </a:prstGeom>
          <a:noFill/>
        </p:spPr>
        <p:txBody>
          <a:bodyPr wrap="square">
            <a:spAutoFit/>
          </a:bodyPr>
          <a:lstStyle/>
          <a:p>
            <a:pPr>
              <a:spcAft>
                <a:spcPts val="200"/>
              </a:spcAft>
            </a:pPr>
            <a:r>
              <a:rPr sz="1200" b="0">
                <a:solidFill>
                  <a:srgbClr val="222222"/>
                </a:solidFill>
                <a:latin typeface="Arial"/>
              </a:rPr>
              <a:t>Measured against 2 057, your pragmas look useless or harmful — you would not be adding optimisation, you would be overriding the tool's own. Every result in this lab uses config_compile -pipeline_loops 0.</a:t>
            </a:r>
          </a:p>
        </p:txBody>
      </p:sp>
      <p:sp>
        <p:nvSpPr>
          <p:cNvPr id="10" name="TextBox 9"/>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Task 3.1 — the baseline</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1298448"/>
            <a:ext cx="11057839" cy="630936"/>
          </a:xfrm>
          <a:prstGeom prst="roundRect">
            <a:avLst>
              <a:gd name="adj" fmla="val 3000"/>
            </a:avLst>
          </a:prstGeom>
          <a:solidFill>
            <a:srgbClr val="F2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389888"/>
            <a:ext cx="10765231" cy="448056"/>
          </a:xfrm>
          <a:prstGeom prst="rect">
            <a:avLst/>
          </a:prstGeom>
          <a:noFill/>
        </p:spPr>
        <p:txBody>
          <a:bodyPr wrap="square">
            <a:spAutoFit/>
          </a:bodyPr>
          <a:lstStyle/>
          <a:p>
            <a:pPr>
              <a:spcAft>
                <a:spcPts val="100"/>
              </a:spcAft>
            </a:pPr>
            <a:r>
              <a:rPr sz="1050" b="0">
                <a:solidFill>
                  <a:srgbClr val="222222"/>
                </a:solidFill>
                <a:latin typeface="Consolas"/>
              </a:rPr>
              <a:t>latency  21 025 cycles  (0.21 ms @ 100 MHz)</a:t>
            </a:r>
          </a:p>
          <a:p>
            <a:pPr>
              <a:spcAft>
                <a:spcPts val="100"/>
              </a:spcAft>
            </a:pPr>
            <a:r>
              <a:rPr sz="1050" b="0">
                <a:solidFill>
                  <a:srgbClr val="222222"/>
                </a:solidFill>
                <a:latin typeface="Consolas"/>
              </a:rPr>
              <a:t>DSP 1   ·   FF 75   ·   LUT 198   ·   BRAM 0</a:t>
            </a:r>
          </a:p>
        </p:txBody>
      </p:sp>
      <p:sp>
        <p:nvSpPr>
          <p:cNvPr id="6" name="TextBox 5"/>
          <p:cNvSpPr txBox="1"/>
          <p:nvPr/>
        </p:nvSpPr>
        <p:spPr>
          <a:xfrm>
            <a:off x="566928" y="2057400"/>
            <a:ext cx="11057839" cy="1042416"/>
          </a:xfrm>
          <a:prstGeom prst="rect">
            <a:avLst/>
          </a:prstGeom>
          <a:noFill/>
        </p:spPr>
        <p:txBody>
          <a:bodyPr wrap="square">
            <a:spAutoFit/>
          </a:bodyPr>
          <a:lstStyle/>
          <a:p>
            <a:pPr>
              <a:spcAft>
                <a:spcPts val="700"/>
              </a:spcAft>
            </a:pPr>
            <a:r>
              <a:rPr sz="1400">
                <a:solidFill>
                  <a:srgbClr val="222222"/>
                </a:solidFill>
                <a:latin typeface="Arial"/>
              </a:rPr>
              <a:t>▪  4096 multiply-accumulate operations, executed essentially one at a time.</a:t>
            </a:r>
          </a:p>
          <a:p>
            <a:pPr>
              <a:spcAft>
                <a:spcPts val="700"/>
              </a:spcAft>
            </a:pPr>
            <a:r>
              <a:rPr sz="1400">
                <a:solidFill>
                  <a:srgbClr val="222222"/>
                </a:solidFill>
                <a:latin typeface="Arial"/>
              </a:rPr>
              <a:t>▪  Uses 1 % of the device. There is a great deal of room to trade.</a:t>
            </a:r>
          </a:p>
          <a:p>
            <a:pPr>
              <a:spcAft>
                <a:spcPts val="700"/>
              </a:spcAft>
            </a:pPr>
            <a:r>
              <a:rPr sz="1400">
                <a:solidFill>
                  <a:srgbClr val="222222"/>
                </a:solidFill>
                <a:latin typeface="Arial"/>
              </a:rPr>
              <a:t>▪  This single number is the reference for everything in Task 3.2.</a:t>
            </a:r>
          </a:p>
        </p:txBody>
      </p:sp>
      <p:sp>
        <p:nvSpPr>
          <p:cNvPr id="7" name="Rounded Rectangle 6"/>
          <p:cNvSpPr/>
          <p:nvPr/>
        </p:nvSpPr>
        <p:spPr>
          <a:xfrm>
            <a:off x="566928" y="3227832"/>
            <a:ext cx="11057839" cy="786384"/>
          </a:xfrm>
          <a:prstGeom prst="roundRect">
            <a:avLst>
              <a:gd name="adj" fmla="val 3000"/>
            </a:avLst>
          </a:prstGeom>
          <a:solidFill>
            <a:srgbClr val="E8F4F2"/>
          </a:solidFill>
          <a:ln w="15875">
            <a:solidFill>
              <a:srgbClr val="009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10128"/>
            <a:ext cx="10728655" cy="621792"/>
          </a:xfrm>
          <a:prstGeom prst="rect">
            <a:avLst/>
          </a:prstGeom>
          <a:noFill/>
        </p:spPr>
        <p:txBody>
          <a:bodyPr wrap="square">
            <a:spAutoFit/>
          </a:bodyPr>
          <a:lstStyle/>
          <a:p>
            <a:pPr>
              <a:spcAft>
                <a:spcPts val="200"/>
              </a:spcAft>
            </a:pPr>
            <a:r>
              <a:rPr sz="1200" b="0">
                <a:solidFill>
                  <a:srgbClr val="222222"/>
                </a:solidFill>
                <a:latin typeface="Arial"/>
              </a:rPr>
              <a:t>Worth asking. The kernel performs 4096 multiplications but the design contains one multiplier. Where do the other 4095 happen?</a:t>
            </a:r>
          </a:p>
        </p:txBody>
      </p:sp>
      <p:sp>
        <p:nvSpPr>
          <p:cNvPr id="9" name="TextBox 8"/>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Task 3.2 — results</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66928" y="1298448"/>
          <a:ext cx="11057839" cy="3081528"/>
        </p:xfrm>
        <a:graphic>
          <a:graphicData uri="http://schemas.openxmlformats.org/drawingml/2006/table">
            <a:tbl>
              <a:tblPr>
                <a:tableStyleId>{5C22544A-7EE6-4342-B048-85BDC9FD1C3A}</a:tableStyleId>
              </a:tblPr>
              <a:tblGrid>
                <a:gridCol w="1842973">
                  <a:extLst>
                    <a:ext uri="{9D8B030D-6E8A-4147-A177-3AD203B41FA5}">
                      <a16:colId xmlns:a16="http://schemas.microsoft.com/office/drawing/2014/main" val="20000"/>
                    </a:ext>
                  </a:extLst>
                </a:gridCol>
                <a:gridCol w="1842973">
                  <a:extLst>
                    <a:ext uri="{9D8B030D-6E8A-4147-A177-3AD203B41FA5}">
                      <a16:colId xmlns:a16="http://schemas.microsoft.com/office/drawing/2014/main" val="20001"/>
                    </a:ext>
                  </a:extLst>
                </a:gridCol>
                <a:gridCol w="1842973">
                  <a:extLst>
                    <a:ext uri="{9D8B030D-6E8A-4147-A177-3AD203B41FA5}">
                      <a16:colId xmlns:a16="http://schemas.microsoft.com/office/drawing/2014/main" val="20002"/>
                    </a:ext>
                  </a:extLst>
                </a:gridCol>
                <a:gridCol w="1842973">
                  <a:extLst>
                    <a:ext uri="{9D8B030D-6E8A-4147-A177-3AD203B41FA5}">
                      <a16:colId xmlns:a16="http://schemas.microsoft.com/office/drawing/2014/main" val="20003"/>
                    </a:ext>
                  </a:extLst>
                </a:gridCol>
                <a:gridCol w="1842973">
                  <a:extLst>
                    <a:ext uri="{9D8B030D-6E8A-4147-A177-3AD203B41FA5}">
                      <a16:colId xmlns:a16="http://schemas.microsoft.com/office/drawing/2014/main" val="20004"/>
                    </a:ext>
                  </a:extLst>
                </a:gridCol>
                <a:gridCol w="1842974">
                  <a:extLst>
                    <a:ext uri="{9D8B030D-6E8A-4147-A177-3AD203B41FA5}">
                      <a16:colId xmlns:a16="http://schemas.microsoft.com/office/drawing/2014/main" val="20005"/>
                    </a:ext>
                  </a:extLst>
                </a:gridCol>
              </a:tblGrid>
              <a:tr h="292608">
                <a:tc>
                  <a:txBody>
                    <a:bodyPr/>
                    <a:lstStyle/>
                    <a:p>
                      <a:r>
                        <a:rPr sz="1150" b="1">
                          <a:solidFill>
                            <a:srgbClr val="FFFFFF"/>
                          </a:solidFill>
                          <a:latin typeface="Arial"/>
                        </a:rPr>
                        <a:t>#</a:t>
                      </a:r>
                    </a:p>
                  </a:txBody>
                  <a:tcPr anchor="ctr">
                    <a:solidFill>
                      <a:srgbClr val="009682"/>
                    </a:solidFill>
                  </a:tcPr>
                </a:tc>
                <a:tc>
                  <a:txBody>
                    <a:bodyPr/>
                    <a:lstStyle/>
                    <a:p>
                      <a:r>
                        <a:rPr sz="1150" b="1">
                          <a:solidFill>
                            <a:srgbClr val="FFFFFF"/>
                          </a:solidFill>
                          <a:latin typeface="Arial"/>
                        </a:rPr>
                        <a:t>configuration</a:t>
                      </a:r>
                    </a:p>
                  </a:txBody>
                  <a:tcPr anchor="ctr">
                    <a:solidFill>
                      <a:srgbClr val="009682"/>
                    </a:solidFill>
                  </a:tcPr>
                </a:tc>
                <a:tc>
                  <a:txBody>
                    <a:bodyPr/>
                    <a:lstStyle/>
                    <a:p>
                      <a:r>
                        <a:rPr sz="1150" b="1">
                          <a:solidFill>
                            <a:srgbClr val="FFFFFF"/>
                          </a:solidFill>
                          <a:latin typeface="Arial"/>
                        </a:rPr>
                        <a:t>latency</a:t>
                      </a:r>
                    </a:p>
                  </a:txBody>
                  <a:tcPr anchor="ctr">
                    <a:solidFill>
                      <a:srgbClr val="009682"/>
                    </a:solidFill>
                  </a:tcPr>
                </a:tc>
                <a:tc>
                  <a:txBody>
                    <a:bodyPr/>
                    <a:lstStyle/>
                    <a:p>
                      <a:r>
                        <a:rPr sz="1150" b="1">
                          <a:solidFill>
                            <a:srgbClr val="FFFFFF"/>
                          </a:solidFill>
                          <a:latin typeface="Arial"/>
                        </a:rPr>
                        <a:t>speed-up</a:t>
                      </a:r>
                    </a:p>
                  </a:txBody>
                  <a:tcPr anchor="ctr">
                    <a:solidFill>
                      <a:srgbClr val="009682"/>
                    </a:solidFill>
                  </a:tcPr>
                </a:tc>
                <a:tc>
                  <a:txBody>
                    <a:bodyPr/>
                    <a:lstStyle/>
                    <a:p>
                      <a:r>
                        <a:rPr sz="1150" b="1">
                          <a:solidFill>
                            <a:srgbClr val="FFFFFF"/>
                          </a:solidFill>
                          <a:latin typeface="Arial"/>
                        </a:rPr>
                        <a:t>DSP</a:t>
                      </a:r>
                    </a:p>
                  </a:txBody>
                  <a:tcPr anchor="ctr">
                    <a:solidFill>
                      <a:srgbClr val="009682"/>
                    </a:solidFill>
                  </a:tcPr>
                </a:tc>
                <a:tc>
                  <a:txBody>
                    <a:bodyPr/>
                    <a:lstStyle/>
                    <a:p>
                      <a:r>
                        <a:rPr sz="1150" b="1">
                          <a:solidFill>
                            <a:srgbClr val="FFFFFF"/>
                          </a:solidFill>
                          <a:latin typeface="Arial"/>
                        </a:rPr>
                        <a:t>LUT</a:t>
                      </a:r>
                    </a:p>
                  </a:txBody>
                  <a:tcPr anchor="ctr">
                    <a:solidFill>
                      <a:srgbClr val="009682"/>
                    </a:solidFill>
                  </a:tcPr>
                </a:tc>
                <a:extLst>
                  <a:ext uri="{0D108BD9-81ED-4DB2-BD59-A6C34878D82A}">
                    <a16:rowId xmlns:a16="http://schemas.microsoft.com/office/drawing/2014/main" val="10000"/>
                  </a:ext>
                </a:extLst>
              </a:tr>
              <a:tr h="292608">
                <a:tc>
                  <a:txBody>
                    <a:bodyPr/>
                    <a:lstStyle/>
                    <a:p>
                      <a:r>
                        <a:rPr sz="1150" b="0">
                          <a:solidFill>
                            <a:srgbClr val="222222"/>
                          </a:solidFill>
                          <a:latin typeface="Arial"/>
                        </a:rPr>
                        <a:t>V00</a:t>
                      </a:r>
                    </a:p>
                  </a:txBody>
                  <a:tcPr anchor="ctr">
                    <a:solidFill>
                      <a:srgbClr val="FFFFFF"/>
                    </a:solidFill>
                  </a:tcPr>
                </a:tc>
                <a:tc>
                  <a:txBody>
                    <a:bodyPr/>
                    <a:lstStyle/>
                    <a:p>
                      <a:r>
                        <a:rPr sz="1150" b="0">
                          <a:solidFill>
                            <a:srgbClr val="222222"/>
                          </a:solidFill>
                          <a:latin typeface="Arial"/>
                        </a:rPr>
                        <a:t>baseline</a:t>
                      </a:r>
                    </a:p>
                  </a:txBody>
                  <a:tcPr anchor="ctr">
                    <a:solidFill>
                      <a:srgbClr val="FFFFFF"/>
                    </a:solidFill>
                  </a:tcPr>
                </a:tc>
                <a:tc>
                  <a:txBody>
                    <a:bodyPr/>
                    <a:lstStyle/>
                    <a:p>
                      <a:r>
                        <a:rPr sz="1150" b="0">
                          <a:solidFill>
                            <a:srgbClr val="222222"/>
                          </a:solidFill>
                          <a:latin typeface="Arial"/>
                        </a:rPr>
                        <a:t>21 025</a:t>
                      </a:r>
                    </a:p>
                  </a:txBody>
                  <a:tcPr anchor="ctr">
                    <a:solidFill>
                      <a:srgbClr val="FFFFFF"/>
                    </a:solidFill>
                  </a:tcPr>
                </a:tc>
                <a:tc>
                  <a:txBody>
                    <a:bodyPr/>
                    <a:lstStyle/>
                    <a:p>
                      <a:r>
                        <a:rPr sz="1150" b="0">
                          <a:solidFill>
                            <a:srgbClr val="222222"/>
                          </a:solidFill>
                          <a:latin typeface="Arial"/>
                        </a:rPr>
                        <a:t>1.0×</a:t>
                      </a:r>
                    </a:p>
                  </a:txBody>
                  <a:tcPr anchor="ctr">
                    <a:solidFill>
                      <a:srgbClr val="FFFFFF"/>
                    </a:solidFill>
                  </a:tcPr>
                </a:tc>
                <a:tc>
                  <a:txBody>
                    <a:bodyPr/>
                    <a:lstStyle/>
                    <a:p>
                      <a:r>
                        <a:rPr sz="1150" b="0">
                          <a:solidFill>
                            <a:srgbClr val="222222"/>
                          </a:solidFill>
                          <a:latin typeface="Arial"/>
                        </a:rPr>
                        <a:t>1</a:t>
                      </a:r>
                    </a:p>
                  </a:txBody>
                  <a:tcPr anchor="ctr">
                    <a:solidFill>
                      <a:srgbClr val="FFFFFF"/>
                    </a:solidFill>
                  </a:tcPr>
                </a:tc>
                <a:tc>
                  <a:txBody>
                    <a:bodyPr/>
                    <a:lstStyle/>
                    <a:p>
                      <a:r>
                        <a:rPr sz="1150" b="0">
                          <a:solidFill>
                            <a:srgbClr val="222222"/>
                          </a:solidFill>
                          <a:latin typeface="Arial"/>
                        </a:rPr>
                        <a:t>198</a:t>
                      </a:r>
                    </a:p>
                  </a:txBody>
                  <a:tcPr anchor="ctr">
                    <a:solidFill>
                      <a:srgbClr val="FFFFFF"/>
                    </a:solidFill>
                  </a:tcPr>
                </a:tc>
                <a:extLst>
                  <a:ext uri="{0D108BD9-81ED-4DB2-BD59-A6C34878D82A}">
                    <a16:rowId xmlns:a16="http://schemas.microsoft.com/office/drawing/2014/main" val="10001"/>
                  </a:ext>
                </a:extLst>
              </a:tr>
              <a:tr h="292608">
                <a:tc>
                  <a:txBody>
                    <a:bodyPr/>
                    <a:lstStyle/>
                    <a:p>
                      <a:r>
                        <a:rPr sz="1150" b="0">
                          <a:solidFill>
                            <a:srgbClr val="222222"/>
                          </a:solidFill>
                          <a:latin typeface="Arial"/>
                        </a:rPr>
                        <a:t>V01</a:t>
                      </a:r>
                    </a:p>
                  </a:txBody>
                  <a:tcPr anchor="ctr">
                    <a:solidFill>
                      <a:srgbClr val="F2F4F3"/>
                    </a:solidFill>
                  </a:tcPr>
                </a:tc>
                <a:tc>
                  <a:txBody>
                    <a:bodyPr/>
                    <a:lstStyle/>
                    <a:p>
                      <a:r>
                        <a:rPr sz="1150" b="0">
                          <a:solidFill>
                            <a:srgbClr val="222222"/>
                          </a:solidFill>
                          <a:latin typeface="Arial"/>
                        </a:rPr>
                        <a:t>PIPELINE on prod</a:t>
                      </a:r>
                    </a:p>
                  </a:txBody>
                  <a:tcPr anchor="ctr">
                    <a:solidFill>
                      <a:srgbClr val="F2F4F3"/>
                    </a:solidFill>
                  </a:tcPr>
                </a:tc>
                <a:tc>
                  <a:txBody>
                    <a:bodyPr/>
                    <a:lstStyle/>
                    <a:p>
                      <a:r>
                        <a:rPr sz="1150" b="0">
                          <a:solidFill>
                            <a:srgbClr val="222222"/>
                          </a:solidFill>
                          <a:latin typeface="Arial"/>
                        </a:rPr>
                        <a:t>6 401</a:t>
                      </a:r>
                    </a:p>
                  </a:txBody>
                  <a:tcPr anchor="ctr">
                    <a:solidFill>
                      <a:srgbClr val="F2F4F3"/>
                    </a:solidFill>
                  </a:tcPr>
                </a:tc>
                <a:tc>
                  <a:txBody>
                    <a:bodyPr/>
                    <a:lstStyle/>
                    <a:p>
                      <a:r>
                        <a:rPr sz="1150" b="0">
                          <a:solidFill>
                            <a:srgbClr val="222222"/>
                          </a:solidFill>
                          <a:latin typeface="Arial"/>
                        </a:rPr>
                        <a:t>3.3×</a:t>
                      </a:r>
                    </a:p>
                  </a:txBody>
                  <a:tcPr anchor="ctr">
                    <a:solidFill>
                      <a:srgbClr val="F2F4F3"/>
                    </a:solidFill>
                  </a:tcPr>
                </a:tc>
                <a:tc>
                  <a:txBody>
                    <a:bodyPr/>
                    <a:lstStyle/>
                    <a:p>
                      <a:r>
                        <a:rPr sz="1150" b="0">
                          <a:solidFill>
                            <a:srgbClr val="222222"/>
                          </a:solidFill>
                          <a:latin typeface="Arial"/>
                        </a:rPr>
                        <a:t>1</a:t>
                      </a:r>
                    </a:p>
                  </a:txBody>
                  <a:tcPr anchor="ctr">
                    <a:solidFill>
                      <a:srgbClr val="F2F4F3"/>
                    </a:solidFill>
                  </a:tcPr>
                </a:tc>
                <a:tc>
                  <a:txBody>
                    <a:bodyPr/>
                    <a:lstStyle/>
                    <a:p>
                      <a:r>
                        <a:rPr sz="1150" b="0">
                          <a:solidFill>
                            <a:srgbClr val="222222"/>
                          </a:solidFill>
                          <a:latin typeface="Arial"/>
                        </a:rPr>
                        <a:t>285</a:t>
                      </a:r>
                    </a:p>
                  </a:txBody>
                  <a:tcPr anchor="ctr">
                    <a:solidFill>
                      <a:srgbClr val="F2F4F3"/>
                    </a:solidFill>
                  </a:tcPr>
                </a:tc>
                <a:extLst>
                  <a:ext uri="{0D108BD9-81ED-4DB2-BD59-A6C34878D82A}">
                    <a16:rowId xmlns:a16="http://schemas.microsoft.com/office/drawing/2014/main" val="10002"/>
                  </a:ext>
                </a:extLst>
              </a:tr>
              <a:tr h="292608">
                <a:tc>
                  <a:txBody>
                    <a:bodyPr/>
                    <a:lstStyle/>
                    <a:p>
                      <a:r>
                        <a:rPr sz="1150" b="0">
                          <a:solidFill>
                            <a:srgbClr val="222222"/>
                          </a:solidFill>
                          <a:latin typeface="Arial"/>
                        </a:rPr>
                        <a:t>V02</a:t>
                      </a:r>
                    </a:p>
                  </a:txBody>
                  <a:tcPr anchor="ctr">
                    <a:solidFill>
                      <a:srgbClr val="FFFFFF"/>
                    </a:solidFill>
                  </a:tcPr>
                </a:tc>
                <a:tc>
                  <a:txBody>
                    <a:bodyPr/>
                    <a:lstStyle/>
                    <a:p>
                      <a:r>
                        <a:rPr sz="1150" b="0">
                          <a:solidFill>
                            <a:srgbClr val="222222"/>
                          </a:solidFill>
                          <a:latin typeface="Arial"/>
                        </a:rPr>
                        <a:t>PIPELINE on col</a:t>
                      </a:r>
                    </a:p>
                  </a:txBody>
                  <a:tcPr anchor="ctr">
                    <a:solidFill>
                      <a:srgbClr val="FFFFFF"/>
                    </a:solidFill>
                  </a:tcPr>
                </a:tc>
                <a:tc>
                  <a:txBody>
                    <a:bodyPr/>
                    <a:lstStyle/>
                    <a:p>
                      <a:r>
                        <a:rPr sz="1150" b="0">
                          <a:solidFill>
                            <a:srgbClr val="222222"/>
                          </a:solidFill>
                          <a:latin typeface="Arial"/>
                        </a:rPr>
                        <a:t>2 057</a:t>
                      </a:r>
                    </a:p>
                  </a:txBody>
                  <a:tcPr anchor="ctr">
                    <a:solidFill>
                      <a:srgbClr val="FFFFFF"/>
                    </a:solidFill>
                  </a:tcPr>
                </a:tc>
                <a:tc>
                  <a:txBody>
                    <a:bodyPr/>
                    <a:lstStyle/>
                    <a:p>
                      <a:r>
                        <a:rPr sz="1150" b="0">
                          <a:solidFill>
                            <a:srgbClr val="222222"/>
                          </a:solidFill>
                          <a:latin typeface="Arial"/>
                        </a:rPr>
                        <a:t>10.2×</a:t>
                      </a:r>
                    </a:p>
                  </a:txBody>
                  <a:tcPr anchor="ctr">
                    <a:solidFill>
                      <a:srgbClr val="FFFFFF"/>
                    </a:solidFill>
                  </a:tcPr>
                </a:tc>
                <a:tc>
                  <a:txBody>
                    <a:bodyPr/>
                    <a:lstStyle/>
                    <a:p>
                      <a:r>
                        <a:rPr sz="1150" b="0">
                          <a:solidFill>
                            <a:srgbClr val="222222"/>
                          </a:solidFill>
                          <a:latin typeface="Arial"/>
                        </a:rPr>
                        <a:t>8</a:t>
                      </a:r>
                    </a:p>
                  </a:txBody>
                  <a:tcPr anchor="ctr">
                    <a:solidFill>
                      <a:srgbClr val="FFFFFF"/>
                    </a:solidFill>
                  </a:tcPr>
                </a:tc>
                <a:tc>
                  <a:txBody>
                    <a:bodyPr/>
                    <a:lstStyle/>
                    <a:p>
                      <a:r>
                        <a:rPr sz="1150" b="0">
                          <a:solidFill>
                            <a:srgbClr val="222222"/>
                          </a:solidFill>
                          <a:latin typeface="Arial"/>
                        </a:rPr>
                        <a:t>1 260</a:t>
                      </a:r>
                    </a:p>
                  </a:txBody>
                  <a:tcPr anchor="ctr">
                    <a:solidFill>
                      <a:srgbClr val="FFFFFF"/>
                    </a:solidFill>
                  </a:tcPr>
                </a:tc>
                <a:extLst>
                  <a:ext uri="{0D108BD9-81ED-4DB2-BD59-A6C34878D82A}">
                    <a16:rowId xmlns:a16="http://schemas.microsoft.com/office/drawing/2014/main" val="10003"/>
                  </a:ext>
                </a:extLst>
              </a:tr>
              <a:tr h="292608">
                <a:tc>
                  <a:txBody>
                    <a:bodyPr/>
                    <a:lstStyle/>
                    <a:p>
                      <a:r>
                        <a:rPr sz="1150" b="0">
                          <a:solidFill>
                            <a:srgbClr val="222222"/>
                          </a:solidFill>
                          <a:latin typeface="Arial"/>
                        </a:rPr>
                        <a:t>V05</a:t>
                      </a:r>
                    </a:p>
                  </a:txBody>
                  <a:tcPr anchor="ctr">
                    <a:solidFill>
                      <a:srgbClr val="F2F4F3"/>
                    </a:solidFill>
                  </a:tcPr>
                </a:tc>
                <a:tc>
                  <a:txBody>
                    <a:bodyPr/>
                    <a:lstStyle/>
                    <a:p>
                      <a:r>
                        <a:rPr sz="1150" b="0">
                          <a:solidFill>
                            <a:srgbClr val="222222"/>
                          </a:solidFill>
                          <a:latin typeface="Arial"/>
                        </a:rPr>
                        <a:t>UNROLL 8, no partition</a:t>
                      </a:r>
                    </a:p>
                  </a:txBody>
                  <a:tcPr anchor="ctr">
                    <a:solidFill>
                      <a:srgbClr val="F2F4F3"/>
                    </a:solidFill>
                  </a:tcPr>
                </a:tc>
                <a:tc>
                  <a:txBody>
                    <a:bodyPr/>
                    <a:lstStyle/>
                    <a:p>
                      <a:r>
                        <a:rPr sz="1150" b="0">
                          <a:solidFill>
                            <a:srgbClr val="222222"/>
                          </a:solidFill>
                          <a:latin typeface="Arial"/>
                        </a:rPr>
                        <a:t>4 641</a:t>
                      </a:r>
                    </a:p>
                  </a:txBody>
                  <a:tcPr anchor="ctr">
                    <a:solidFill>
                      <a:srgbClr val="F2F4F3"/>
                    </a:solidFill>
                  </a:tcPr>
                </a:tc>
                <a:tc>
                  <a:txBody>
                    <a:bodyPr/>
                    <a:lstStyle/>
                    <a:p>
                      <a:r>
                        <a:rPr sz="1150" b="0">
                          <a:solidFill>
                            <a:srgbClr val="222222"/>
                          </a:solidFill>
                          <a:latin typeface="Arial"/>
                        </a:rPr>
                        <a:t>4.5×</a:t>
                      </a:r>
                    </a:p>
                  </a:txBody>
                  <a:tcPr anchor="ctr">
                    <a:solidFill>
                      <a:srgbClr val="F2F4F3"/>
                    </a:solidFill>
                  </a:tcPr>
                </a:tc>
                <a:tc>
                  <a:txBody>
                    <a:bodyPr/>
                    <a:lstStyle/>
                    <a:p>
                      <a:r>
                        <a:rPr sz="1150" b="0">
                          <a:solidFill>
                            <a:srgbClr val="222222"/>
                          </a:solidFill>
                          <a:latin typeface="Arial"/>
                        </a:rPr>
                        <a:t>4</a:t>
                      </a:r>
                    </a:p>
                  </a:txBody>
                  <a:tcPr anchor="ctr">
                    <a:solidFill>
                      <a:srgbClr val="F2F4F3"/>
                    </a:solidFill>
                  </a:tcPr>
                </a:tc>
                <a:tc>
                  <a:txBody>
                    <a:bodyPr/>
                    <a:lstStyle/>
                    <a:p>
                      <a:r>
                        <a:rPr sz="1150" b="0">
                          <a:solidFill>
                            <a:srgbClr val="222222"/>
                          </a:solidFill>
                          <a:latin typeface="Arial"/>
                        </a:rPr>
                        <a:t>645</a:t>
                      </a:r>
                    </a:p>
                  </a:txBody>
                  <a:tcPr anchor="ctr">
                    <a:solidFill>
                      <a:srgbClr val="F2F4F3"/>
                    </a:solidFill>
                  </a:tcPr>
                </a:tc>
                <a:extLst>
                  <a:ext uri="{0D108BD9-81ED-4DB2-BD59-A6C34878D82A}">
                    <a16:rowId xmlns:a16="http://schemas.microsoft.com/office/drawing/2014/main" val="10004"/>
                  </a:ext>
                </a:extLst>
              </a:tr>
              <a:tr h="292608">
                <a:tc>
                  <a:txBody>
                    <a:bodyPr/>
                    <a:lstStyle/>
                    <a:p>
                      <a:r>
                        <a:rPr sz="1150" b="0">
                          <a:solidFill>
                            <a:srgbClr val="222222"/>
                          </a:solidFill>
                          <a:latin typeface="Arial"/>
                        </a:rPr>
                        <a:t>V06</a:t>
                      </a:r>
                    </a:p>
                  </a:txBody>
                  <a:tcPr anchor="ctr">
                    <a:solidFill>
                      <a:srgbClr val="FFFFFF"/>
                    </a:solidFill>
                  </a:tcPr>
                </a:tc>
                <a:tc>
                  <a:txBody>
                    <a:bodyPr/>
                    <a:lstStyle/>
                    <a:p>
                      <a:r>
                        <a:rPr sz="1150" b="0">
                          <a:solidFill>
                            <a:srgbClr val="222222"/>
                          </a:solidFill>
                          <a:latin typeface="Arial"/>
                        </a:rPr>
                        <a:t>UNROLL 16, no partition</a:t>
                      </a:r>
                    </a:p>
                  </a:txBody>
                  <a:tcPr anchor="ctr">
                    <a:solidFill>
                      <a:srgbClr val="FFFFFF"/>
                    </a:solidFill>
                  </a:tcPr>
                </a:tc>
                <a:tc>
                  <a:txBody>
                    <a:bodyPr/>
                    <a:lstStyle/>
                    <a:p>
                      <a:r>
                        <a:rPr sz="1150" b="0">
                          <a:solidFill>
                            <a:srgbClr val="222222"/>
                          </a:solidFill>
                          <a:latin typeface="Arial"/>
                        </a:rPr>
                        <a:t>3 233</a:t>
                      </a:r>
                    </a:p>
                  </a:txBody>
                  <a:tcPr anchor="ctr">
                    <a:solidFill>
                      <a:srgbClr val="FFFFFF"/>
                    </a:solidFill>
                  </a:tcPr>
                </a:tc>
                <a:tc>
                  <a:txBody>
                    <a:bodyPr/>
                    <a:lstStyle/>
                    <a:p>
                      <a:r>
                        <a:rPr sz="1150" b="0">
                          <a:solidFill>
                            <a:srgbClr val="222222"/>
                          </a:solidFill>
                          <a:latin typeface="Arial"/>
                        </a:rPr>
                        <a:t>6.5×</a:t>
                      </a:r>
                    </a:p>
                  </a:txBody>
                  <a:tcPr anchor="ctr">
                    <a:solidFill>
                      <a:srgbClr val="FFFFFF"/>
                    </a:solidFill>
                  </a:tcPr>
                </a:tc>
                <a:tc>
                  <a:txBody>
                    <a:bodyPr/>
                    <a:lstStyle/>
                    <a:p>
                      <a:r>
                        <a:rPr sz="1150" b="0">
                          <a:solidFill>
                            <a:srgbClr val="222222"/>
                          </a:solidFill>
                          <a:latin typeface="Arial"/>
                        </a:rPr>
                        <a:t>8</a:t>
                      </a:r>
                    </a:p>
                  </a:txBody>
                  <a:tcPr anchor="ctr">
                    <a:solidFill>
                      <a:srgbClr val="FFFFFF"/>
                    </a:solidFill>
                  </a:tcPr>
                </a:tc>
                <a:tc>
                  <a:txBody>
                    <a:bodyPr/>
                    <a:lstStyle/>
                    <a:p>
                      <a:r>
                        <a:rPr sz="1150" b="0">
                          <a:solidFill>
                            <a:srgbClr val="222222"/>
                          </a:solidFill>
                          <a:latin typeface="Arial"/>
                        </a:rPr>
                        <a:t>1 104</a:t>
                      </a:r>
                    </a:p>
                  </a:txBody>
                  <a:tcPr anchor="ctr">
                    <a:solidFill>
                      <a:srgbClr val="FFFFFF"/>
                    </a:solidFill>
                  </a:tcPr>
                </a:tc>
                <a:extLst>
                  <a:ext uri="{0D108BD9-81ED-4DB2-BD59-A6C34878D82A}">
                    <a16:rowId xmlns:a16="http://schemas.microsoft.com/office/drawing/2014/main" val="10005"/>
                  </a:ext>
                </a:extLst>
              </a:tr>
              <a:tr h="292608">
                <a:tc>
                  <a:txBody>
                    <a:bodyPr/>
                    <a:lstStyle/>
                    <a:p>
                      <a:r>
                        <a:rPr sz="1150" b="0">
                          <a:solidFill>
                            <a:srgbClr val="222222"/>
                          </a:solidFill>
                          <a:latin typeface="Arial"/>
                        </a:rPr>
                        <a:t>V07</a:t>
                      </a:r>
                    </a:p>
                  </a:txBody>
                  <a:tcPr anchor="ctr">
                    <a:solidFill>
                      <a:srgbClr val="F2F4F3"/>
                    </a:solidFill>
                  </a:tcPr>
                </a:tc>
                <a:tc>
                  <a:txBody>
                    <a:bodyPr/>
                    <a:lstStyle/>
                    <a:p>
                      <a:r>
                        <a:rPr sz="1150" b="0">
                          <a:solidFill>
                            <a:srgbClr val="222222"/>
                          </a:solidFill>
                          <a:latin typeface="Arial"/>
                        </a:rPr>
                        <a:t>ARRAY_PARTITION only</a:t>
                      </a:r>
                    </a:p>
                  </a:txBody>
                  <a:tcPr anchor="ctr">
                    <a:solidFill>
                      <a:srgbClr val="F2F4F3"/>
                    </a:solidFill>
                  </a:tcPr>
                </a:tc>
                <a:tc>
                  <a:txBody>
                    <a:bodyPr/>
                    <a:lstStyle/>
                    <a:p>
                      <a:r>
                        <a:rPr sz="1150" b="0">
                          <a:solidFill>
                            <a:srgbClr val="222222"/>
                          </a:solidFill>
                          <a:latin typeface="Arial"/>
                        </a:rPr>
                        <a:t>21 025</a:t>
                      </a:r>
                    </a:p>
                  </a:txBody>
                  <a:tcPr anchor="ctr">
                    <a:solidFill>
                      <a:srgbClr val="F2F4F3"/>
                    </a:solidFill>
                  </a:tcPr>
                </a:tc>
                <a:tc>
                  <a:txBody>
                    <a:bodyPr/>
                    <a:lstStyle/>
                    <a:p>
                      <a:r>
                        <a:rPr sz="1150" b="0">
                          <a:solidFill>
                            <a:srgbClr val="222222"/>
                          </a:solidFill>
                          <a:latin typeface="Arial"/>
                        </a:rPr>
                        <a:t>1.0×</a:t>
                      </a:r>
                    </a:p>
                  </a:txBody>
                  <a:tcPr anchor="ctr">
                    <a:solidFill>
                      <a:srgbClr val="F2F4F3"/>
                    </a:solidFill>
                  </a:tcPr>
                </a:tc>
                <a:tc>
                  <a:txBody>
                    <a:bodyPr/>
                    <a:lstStyle/>
                    <a:p>
                      <a:r>
                        <a:rPr sz="1150" b="0">
                          <a:solidFill>
                            <a:srgbClr val="222222"/>
                          </a:solidFill>
                          <a:latin typeface="Arial"/>
                        </a:rPr>
                        <a:t>1</a:t>
                      </a:r>
                    </a:p>
                  </a:txBody>
                  <a:tcPr anchor="ctr">
                    <a:solidFill>
                      <a:srgbClr val="F2F4F3"/>
                    </a:solidFill>
                  </a:tcPr>
                </a:tc>
                <a:tc>
                  <a:txBody>
                    <a:bodyPr/>
                    <a:lstStyle/>
                    <a:p>
                      <a:r>
                        <a:rPr sz="1150" b="0">
                          <a:solidFill>
                            <a:srgbClr val="222222"/>
                          </a:solidFill>
                          <a:latin typeface="Arial"/>
                        </a:rPr>
                        <a:t>222</a:t>
                      </a:r>
                    </a:p>
                  </a:txBody>
                  <a:tcPr anchor="ctr">
                    <a:solidFill>
                      <a:srgbClr val="F2F4F3"/>
                    </a:solidFill>
                  </a:tcPr>
                </a:tc>
                <a:extLst>
                  <a:ext uri="{0D108BD9-81ED-4DB2-BD59-A6C34878D82A}">
                    <a16:rowId xmlns:a16="http://schemas.microsoft.com/office/drawing/2014/main" val="10006"/>
                  </a:ext>
                </a:extLst>
              </a:tr>
              <a:tr h="292608">
                <a:tc>
                  <a:txBody>
                    <a:bodyPr/>
                    <a:lstStyle/>
                    <a:p>
                      <a:r>
                        <a:rPr sz="1150" b="0">
                          <a:solidFill>
                            <a:srgbClr val="222222"/>
                          </a:solidFill>
                          <a:latin typeface="Arial"/>
                        </a:rPr>
                        <a:t>V11</a:t>
                      </a:r>
                    </a:p>
                  </a:txBody>
                  <a:tcPr anchor="ctr">
                    <a:solidFill>
                      <a:srgbClr val="FFFFFF"/>
                    </a:solidFill>
                  </a:tcPr>
                </a:tc>
                <a:tc>
                  <a:txBody>
                    <a:bodyPr/>
                    <a:lstStyle/>
                    <a:p>
                      <a:r>
                        <a:rPr sz="1150" b="0">
                          <a:solidFill>
                            <a:srgbClr val="222222"/>
                          </a:solidFill>
                          <a:latin typeface="Arial"/>
                        </a:rPr>
                        <a:t>UNROLL 16 + PARTITION complete</a:t>
                      </a:r>
                    </a:p>
                  </a:txBody>
                  <a:tcPr anchor="ctr">
                    <a:solidFill>
                      <a:srgbClr val="FFFFFF"/>
                    </a:solidFill>
                  </a:tcPr>
                </a:tc>
                <a:tc>
                  <a:txBody>
                    <a:bodyPr/>
                    <a:lstStyle/>
                    <a:p>
                      <a:r>
                        <a:rPr sz="1150" b="0">
                          <a:solidFill>
                            <a:srgbClr val="222222"/>
                          </a:solidFill>
                          <a:latin typeface="Arial"/>
                        </a:rPr>
                        <a:t>1 585</a:t>
                      </a:r>
                    </a:p>
                  </a:txBody>
                  <a:tcPr anchor="ctr">
                    <a:solidFill>
                      <a:srgbClr val="FFFFFF"/>
                    </a:solidFill>
                  </a:tcPr>
                </a:tc>
                <a:tc>
                  <a:txBody>
                    <a:bodyPr/>
                    <a:lstStyle/>
                    <a:p>
                      <a:r>
                        <a:rPr sz="1150" b="0">
                          <a:solidFill>
                            <a:srgbClr val="222222"/>
                          </a:solidFill>
                          <a:latin typeface="Arial"/>
                        </a:rPr>
                        <a:t>13.3×</a:t>
                      </a:r>
                    </a:p>
                  </a:txBody>
                  <a:tcPr anchor="ctr">
                    <a:solidFill>
                      <a:srgbClr val="FFFFFF"/>
                    </a:solidFill>
                  </a:tcPr>
                </a:tc>
                <a:tc>
                  <a:txBody>
                    <a:bodyPr/>
                    <a:lstStyle/>
                    <a:p>
                      <a:r>
                        <a:rPr sz="1150" b="0">
                          <a:solidFill>
                            <a:srgbClr val="222222"/>
                          </a:solidFill>
                          <a:latin typeface="Arial"/>
                        </a:rPr>
                        <a:t>8</a:t>
                      </a:r>
                    </a:p>
                  </a:txBody>
                  <a:tcPr anchor="ctr">
                    <a:solidFill>
                      <a:srgbClr val="FFFFFF"/>
                    </a:solidFill>
                  </a:tcPr>
                </a:tc>
                <a:tc>
                  <a:txBody>
                    <a:bodyPr/>
                    <a:lstStyle/>
                    <a:p>
                      <a:r>
                        <a:rPr sz="1150" b="0">
                          <a:solidFill>
                            <a:srgbClr val="222222"/>
                          </a:solidFill>
                          <a:latin typeface="Arial"/>
                        </a:rPr>
                        <a:t>639</a:t>
                      </a:r>
                    </a:p>
                  </a:txBody>
                  <a:tcPr anchor="ctr">
                    <a:solidFill>
                      <a:srgbClr val="FFFFFF"/>
                    </a:solidFill>
                  </a:tcPr>
                </a:tc>
                <a:extLst>
                  <a:ext uri="{0D108BD9-81ED-4DB2-BD59-A6C34878D82A}">
                    <a16:rowId xmlns:a16="http://schemas.microsoft.com/office/drawing/2014/main" val="10007"/>
                  </a:ext>
                </a:extLst>
              </a:tr>
              <a:tr h="292608">
                <a:tc>
                  <a:txBody>
                    <a:bodyPr/>
                    <a:lstStyle/>
                    <a:p>
                      <a:r>
                        <a:rPr sz="1150" b="0">
                          <a:solidFill>
                            <a:srgbClr val="222222"/>
                          </a:solidFill>
                          <a:latin typeface="Arial"/>
                        </a:rPr>
                        <a:t>V12</a:t>
                      </a:r>
                    </a:p>
                  </a:txBody>
                  <a:tcPr anchor="ctr">
                    <a:solidFill>
                      <a:srgbClr val="F2F4F3"/>
                    </a:solidFill>
                  </a:tcPr>
                </a:tc>
                <a:tc>
                  <a:txBody>
                    <a:bodyPr/>
                    <a:lstStyle/>
                    <a:p>
                      <a:r>
                        <a:rPr sz="1150" b="0">
                          <a:solidFill>
                            <a:srgbClr val="222222"/>
                          </a:solidFill>
                          <a:latin typeface="Arial"/>
                        </a:rPr>
                        <a:t>PIPELINE + UNROLL 4 + PARTITION 4</a:t>
                      </a:r>
                    </a:p>
                  </a:txBody>
                  <a:tcPr anchor="ctr">
                    <a:solidFill>
                      <a:srgbClr val="F2F4F3"/>
                    </a:solidFill>
                  </a:tcPr>
                </a:tc>
                <a:tc>
                  <a:txBody>
                    <a:bodyPr/>
                    <a:lstStyle/>
                    <a:p>
                      <a:r>
                        <a:rPr sz="1150" b="0">
                          <a:solidFill>
                            <a:srgbClr val="222222"/>
                          </a:solidFill>
                          <a:latin typeface="Arial"/>
                        </a:rPr>
                        <a:t>518</a:t>
                      </a:r>
                    </a:p>
                  </a:txBody>
                  <a:tcPr anchor="ctr">
                    <a:solidFill>
                      <a:srgbClr val="F2F4F3"/>
                    </a:solidFill>
                  </a:tcPr>
                </a:tc>
                <a:tc>
                  <a:txBody>
                    <a:bodyPr/>
                    <a:lstStyle/>
                    <a:p>
                      <a:r>
                        <a:rPr sz="1150" b="0">
                          <a:solidFill>
                            <a:srgbClr val="222222"/>
                          </a:solidFill>
                          <a:latin typeface="Arial"/>
                        </a:rPr>
                        <a:t>40.6×</a:t>
                      </a:r>
                    </a:p>
                  </a:txBody>
                  <a:tcPr anchor="ctr">
                    <a:solidFill>
                      <a:srgbClr val="F2F4F3"/>
                    </a:solidFill>
                  </a:tcPr>
                </a:tc>
                <a:tc>
                  <a:txBody>
                    <a:bodyPr/>
                    <a:lstStyle/>
                    <a:p>
                      <a:r>
                        <a:rPr sz="1150" b="0">
                          <a:solidFill>
                            <a:srgbClr val="222222"/>
                          </a:solidFill>
                          <a:latin typeface="Arial"/>
                        </a:rPr>
                        <a:t>8</a:t>
                      </a:r>
                    </a:p>
                  </a:txBody>
                  <a:tcPr anchor="ctr">
                    <a:solidFill>
                      <a:srgbClr val="F2F4F3"/>
                    </a:solidFill>
                  </a:tcPr>
                </a:tc>
                <a:tc>
                  <a:txBody>
                    <a:bodyPr/>
                    <a:lstStyle/>
                    <a:p>
                      <a:r>
                        <a:rPr sz="1150" b="0">
                          <a:solidFill>
                            <a:srgbClr val="222222"/>
                          </a:solidFill>
                          <a:latin typeface="Arial"/>
                        </a:rPr>
                        <a:t>1 037</a:t>
                      </a:r>
                    </a:p>
                  </a:txBody>
                  <a:tcPr anchor="ctr">
                    <a:solidFill>
                      <a:srgbClr val="F2F4F3"/>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ARRAY_PARTITION on its own does nothing</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1298448"/>
            <a:ext cx="11057839" cy="630936"/>
          </a:xfrm>
          <a:prstGeom prst="roundRect">
            <a:avLst>
              <a:gd name="adj" fmla="val 3000"/>
            </a:avLst>
          </a:prstGeom>
          <a:solidFill>
            <a:srgbClr val="F2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389888"/>
            <a:ext cx="10765231" cy="448056"/>
          </a:xfrm>
          <a:prstGeom prst="rect">
            <a:avLst/>
          </a:prstGeom>
          <a:noFill/>
        </p:spPr>
        <p:txBody>
          <a:bodyPr wrap="square">
            <a:spAutoFit/>
          </a:bodyPr>
          <a:lstStyle/>
          <a:p>
            <a:pPr>
              <a:spcAft>
                <a:spcPts val="100"/>
              </a:spcAft>
            </a:pPr>
            <a:r>
              <a:rPr sz="1050" b="0">
                <a:solidFill>
                  <a:srgbClr val="222222"/>
                </a:solidFill>
                <a:latin typeface="Consolas"/>
              </a:rPr>
              <a:t>baseline                 21 025 cycles</a:t>
            </a:r>
          </a:p>
          <a:p>
            <a:pPr>
              <a:spcAft>
                <a:spcPts val="100"/>
              </a:spcAft>
            </a:pPr>
            <a:r>
              <a:rPr sz="1050" b="0">
                <a:solidFill>
                  <a:srgbClr val="222222"/>
                </a:solidFill>
                <a:latin typeface="Consolas"/>
              </a:rPr>
              <a:t>ARRAY_PARTITION only     21 025 cycles</a:t>
            </a:r>
          </a:p>
        </p:txBody>
      </p:sp>
      <p:sp>
        <p:nvSpPr>
          <p:cNvPr id="6" name="TextBox 5"/>
          <p:cNvSpPr txBox="1"/>
          <p:nvPr/>
        </p:nvSpPr>
        <p:spPr>
          <a:xfrm>
            <a:off x="566928" y="2057400"/>
            <a:ext cx="11057839" cy="1042416"/>
          </a:xfrm>
          <a:prstGeom prst="rect">
            <a:avLst/>
          </a:prstGeom>
          <a:noFill/>
        </p:spPr>
        <p:txBody>
          <a:bodyPr wrap="square">
            <a:spAutoFit/>
          </a:bodyPr>
          <a:lstStyle/>
          <a:p>
            <a:pPr>
              <a:spcAft>
                <a:spcPts val="700"/>
              </a:spcAft>
            </a:pPr>
            <a:r>
              <a:rPr sz="1400">
                <a:solidFill>
                  <a:srgbClr val="222222"/>
                </a:solidFill>
                <a:latin typeface="Arial"/>
              </a:rPr>
              <a:t>▪  Identical to the cycle. The pragma was applied; it simply had no one to serve.</a:t>
            </a:r>
          </a:p>
          <a:p>
            <a:pPr>
              <a:spcAft>
                <a:spcPts val="700"/>
              </a:spcAft>
            </a:pPr>
            <a:r>
              <a:rPr sz="1400">
                <a:solidFill>
                  <a:srgbClr val="222222"/>
                </a:solidFill>
                <a:latin typeface="Arial"/>
              </a:rPr>
              <a:t>▪  Splitting a memory into several smaller ones only helps if something wants to read them at the same time.</a:t>
            </a:r>
          </a:p>
          <a:p>
            <a:pPr>
              <a:spcAft>
                <a:spcPts val="700"/>
              </a:spcAft>
            </a:pPr>
            <a:r>
              <a:rPr sz="1400">
                <a:solidFill>
                  <a:srgbClr val="222222"/>
                </a:solidFill>
                <a:latin typeface="Arial"/>
              </a:rPr>
              <a:t>▪  Nothing in the baseline does, so the extra ports sit unused.</a:t>
            </a:r>
          </a:p>
        </p:txBody>
      </p:sp>
      <p:sp>
        <p:nvSpPr>
          <p:cNvPr id="7" name="Rounded Rectangle 6"/>
          <p:cNvSpPr/>
          <p:nvPr/>
        </p:nvSpPr>
        <p:spPr>
          <a:xfrm>
            <a:off x="566928" y="3227832"/>
            <a:ext cx="11057839" cy="786384"/>
          </a:xfrm>
          <a:prstGeom prst="roundRect">
            <a:avLst>
              <a:gd name="adj" fmla="val 3000"/>
            </a:avLst>
          </a:prstGeom>
          <a:solidFill>
            <a:srgbClr val="E8F4F2"/>
          </a:solidFill>
          <a:ln w="15875">
            <a:solidFill>
              <a:srgbClr val="009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10128"/>
            <a:ext cx="10728655" cy="621792"/>
          </a:xfrm>
          <a:prstGeom prst="rect">
            <a:avLst/>
          </a:prstGeom>
          <a:noFill/>
        </p:spPr>
        <p:txBody>
          <a:bodyPr wrap="square">
            <a:spAutoFit/>
          </a:bodyPr>
          <a:lstStyle/>
          <a:p>
            <a:pPr>
              <a:spcAft>
                <a:spcPts val="200"/>
              </a:spcAft>
            </a:pPr>
            <a:r>
              <a:rPr sz="1200" b="0">
                <a:solidFill>
                  <a:srgbClr val="222222"/>
                </a:solidFill>
                <a:latin typeface="Arial"/>
              </a:rPr>
              <a:t>A pragma that changes the generated hardware and changes the performance not at all. Worth remembering before adding directives on faith.</a:t>
            </a:r>
          </a:p>
        </p:txBody>
      </p:sp>
      <p:sp>
        <p:nvSpPr>
          <p:cNvPr id="9" name="TextBox 8"/>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PIPELINE: where you put it matters more than whether you use it</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66928" y="1298448"/>
          <a:ext cx="11057839" cy="877824"/>
        </p:xfrm>
        <a:graphic>
          <a:graphicData uri="http://schemas.openxmlformats.org/drawingml/2006/table">
            <a:tbl>
              <a:tblPr>
                <a:tableStyleId>{5C22544A-7EE6-4342-B048-85BDC9FD1C3A}</a:tableStyleId>
              </a:tblPr>
              <a:tblGrid>
                <a:gridCol w="3685946">
                  <a:extLst>
                    <a:ext uri="{9D8B030D-6E8A-4147-A177-3AD203B41FA5}">
                      <a16:colId xmlns:a16="http://schemas.microsoft.com/office/drawing/2014/main" val="20000"/>
                    </a:ext>
                  </a:extLst>
                </a:gridCol>
                <a:gridCol w="3685946">
                  <a:extLst>
                    <a:ext uri="{9D8B030D-6E8A-4147-A177-3AD203B41FA5}">
                      <a16:colId xmlns:a16="http://schemas.microsoft.com/office/drawing/2014/main" val="20001"/>
                    </a:ext>
                  </a:extLst>
                </a:gridCol>
                <a:gridCol w="3685947">
                  <a:extLst>
                    <a:ext uri="{9D8B030D-6E8A-4147-A177-3AD203B41FA5}">
                      <a16:colId xmlns:a16="http://schemas.microsoft.com/office/drawing/2014/main" val="20002"/>
                    </a:ext>
                  </a:extLst>
                </a:gridCol>
              </a:tblGrid>
              <a:tr h="292608">
                <a:tc>
                  <a:txBody>
                    <a:bodyPr/>
                    <a:lstStyle/>
                    <a:p>
                      <a:r>
                        <a:rPr sz="1150" b="1">
                          <a:solidFill>
                            <a:srgbClr val="FFFFFF"/>
                          </a:solidFill>
                          <a:latin typeface="Arial"/>
                        </a:rPr>
                        <a:t>pragma placement</a:t>
                      </a:r>
                    </a:p>
                  </a:txBody>
                  <a:tcPr anchor="ctr">
                    <a:solidFill>
                      <a:srgbClr val="009682"/>
                    </a:solidFill>
                  </a:tcPr>
                </a:tc>
                <a:tc>
                  <a:txBody>
                    <a:bodyPr/>
                    <a:lstStyle/>
                    <a:p>
                      <a:r>
                        <a:rPr sz="1150" b="1">
                          <a:solidFill>
                            <a:srgbClr val="FFFFFF"/>
                          </a:solidFill>
                          <a:latin typeface="Arial"/>
                        </a:rPr>
                        <a:t>latency</a:t>
                      </a:r>
                    </a:p>
                  </a:txBody>
                  <a:tcPr anchor="ctr">
                    <a:solidFill>
                      <a:srgbClr val="009682"/>
                    </a:solidFill>
                  </a:tcPr>
                </a:tc>
                <a:tc>
                  <a:txBody>
                    <a:bodyPr/>
                    <a:lstStyle/>
                    <a:p>
                      <a:r>
                        <a:rPr sz="1150" b="1">
                          <a:solidFill>
                            <a:srgbClr val="FFFFFF"/>
                          </a:solidFill>
                          <a:latin typeface="Arial"/>
                        </a:rPr>
                        <a:t>speed-up</a:t>
                      </a:r>
                    </a:p>
                  </a:txBody>
                  <a:tcPr anchor="ctr">
                    <a:solidFill>
                      <a:srgbClr val="009682"/>
                    </a:solidFill>
                  </a:tcPr>
                </a:tc>
                <a:extLst>
                  <a:ext uri="{0D108BD9-81ED-4DB2-BD59-A6C34878D82A}">
                    <a16:rowId xmlns:a16="http://schemas.microsoft.com/office/drawing/2014/main" val="10000"/>
                  </a:ext>
                </a:extLst>
              </a:tr>
              <a:tr h="292608">
                <a:tc>
                  <a:txBody>
                    <a:bodyPr/>
                    <a:lstStyle/>
                    <a:p>
                      <a:r>
                        <a:rPr sz="1150" b="0">
                          <a:solidFill>
                            <a:srgbClr val="222222"/>
                          </a:solidFill>
                          <a:latin typeface="Arial"/>
                        </a:rPr>
                        <a:t>on prod, the innermost loop</a:t>
                      </a:r>
                    </a:p>
                  </a:txBody>
                  <a:tcPr anchor="ctr">
                    <a:solidFill>
                      <a:srgbClr val="FFFFFF"/>
                    </a:solidFill>
                  </a:tcPr>
                </a:tc>
                <a:tc>
                  <a:txBody>
                    <a:bodyPr/>
                    <a:lstStyle/>
                    <a:p>
                      <a:r>
                        <a:rPr sz="1150" b="0">
                          <a:solidFill>
                            <a:srgbClr val="222222"/>
                          </a:solidFill>
                          <a:latin typeface="Arial"/>
                        </a:rPr>
                        <a:t>6 401</a:t>
                      </a:r>
                    </a:p>
                  </a:txBody>
                  <a:tcPr anchor="ctr">
                    <a:solidFill>
                      <a:srgbClr val="FFFFFF"/>
                    </a:solidFill>
                  </a:tcPr>
                </a:tc>
                <a:tc>
                  <a:txBody>
                    <a:bodyPr/>
                    <a:lstStyle/>
                    <a:p>
                      <a:r>
                        <a:rPr sz="1150" b="0">
                          <a:solidFill>
                            <a:srgbClr val="222222"/>
                          </a:solidFill>
                          <a:latin typeface="Arial"/>
                        </a:rPr>
                        <a:t>3.3×</a:t>
                      </a:r>
                    </a:p>
                  </a:txBody>
                  <a:tcPr anchor="ctr">
                    <a:solidFill>
                      <a:srgbClr val="FFFFFF"/>
                    </a:solidFill>
                  </a:tcPr>
                </a:tc>
                <a:extLst>
                  <a:ext uri="{0D108BD9-81ED-4DB2-BD59-A6C34878D82A}">
                    <a16:rowId xmlns:a16="http://schemas.microsoft.com/office/drawing/2014/main" val="10001"/>
                  </a:ext>
                </a:extLst>
              </a:tr>
              <a:tr h="292608">
                <a:tc>
                  <a:txBody>
                    <a:bodyPr/>
                    <a:lstStyle/>
                    <a:p>
                      <a:r>
                        <a:rPr sz="1150" b="0">
                          <a:solidFill>
                            <a:srgbClr val="222222"/>
                          </a:solidFill>
                          <a:latin typeface="Arial"/>
                        </a:rPr>
                        <a:t>on col, one level up</a:t>
                      </a:r>
                    </a:p>
                  </a:txBody>
                  <a:tcPr anchor="ctr">
                    <a:solidFill>
                      <a:srgbClr val="F2F4F3"/>
                    </a:solidFill>
                  </a:tcPr>
                </a:tc>
                <a:tc>
                  <a:txBody>
                    <a:bodyPr/>
                    <a:lstStyle/>
                    <a:p>
                      <a:r>
                        <a:rPr sz="1150" b="0">
                          <a:solidFill>
                            <a:srgbClr val="222222"/>
                          </a:solidFill>
                          <a:latin typeface="Arial"/>
                        </a:rPr>
                        <a:t>2 057</a:t>
                      </a:r>
                    </a:p>
                  </a:txBody>
                  <a:tcPr anchor="ctr">
                    <a:solidFill>
                      <a:srgbClr val="F2F4F3"/>
                    </a:solidFill>
                  </a:tcPr>
                </a:tc>
                <a:tc>
                  <a:txBody>
                    <a:bodyPr/>
                    <a:lstStyle/>
                    <a:p>
                      <a:r>
                        <a:rPr sz="1150" b="0">
                          <a:solidFill>
                            <a:srgbClr val="222222"/>
                          </a:solidFill>
                          <a:latin typeface="Arial"/>
                        </a:rPr>
                        <a:t>10.2×</a:t>
                      </a:r>
                    </a:p>
                  </a:txBody>
                  <a:tcPr anchor="ctr">
                    <a:solidFill>
                      <a:srgbClr val="F2F4F3"/>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566928" y="2304288"/>
            <a:ext cx="11057839" cy="1042416"/>
          </a:xfrm>
          <a:prstGeom prst="rect">
            <a:avLst/>
          </a:prstGeom>
          <a:noFill/>
        </p:spPr>
        <p:txBody>
          <a:bodyPr wrap="square">
            <a:spAutoFit/>
          </a:bodyPr>
          <a:lstStyle/>
          <a:p>
            <a:pPr>
              <a:spcAft>
                <a:spcPts val="700"/>
              </a:spcAft>
            </a:pPr>
            <a:r>
              <a:rPr sz="1400">
                <a:solidFill>
                  <a:srgbClr val="222222"/>
                </a:solidFill>
                <a:latin typeface="Arial"/>
              </a:rPr>
              <a:t>▪  Pipelining a loop forces everything inside it to unroll.</a:t>
            </a:r>
          </a:p>
          <a:p>
            <a:pPr>
              <a:spcAft>
                <a:spcPts val="700"/>
              </a:spcAft>
            </a:pPr>
            <a:r>
              <a:rPr sz="1400">
                <a:solidFill>
                  <a:srgbClr val="222222"/>
                </a:solidFill>
                <a:latin typeface="Arial"/>
              </a:rPr>
              <a:t>▪  On col, that means the entire 16-step inner product becomes parallel hardware.</a:t>
            </a:r>
          </a:p>
          <a:p>
            <a:pPr>
              <a:spcAft>
                <a:spcPts val="700"/>
              </a:spcAft>
            </a:pPr>
            <a:r>
              <a:rPr sz="1400">
                <a:solidFill>
                  <a:srgbClr val="222222"/>
                </a:solidFill>
                <a:latin typeface="Arial"/>
              </a:rPr>
              <a:t>▪  Same pragma, one line higher in the file, three times the effect.</a:t>
            </a:r>
          </a:p>
        </p:txBody>
      </p:sp>
      <p:sp>
        <p:nvSpPr>
          <p:cNvPr id="6" name="TextBox 5"/>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UNROLL scales, but sub-linearly</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66928" y="1298448"/>
          <a:ext cx="11057839" cy="1755648"/>
        </p:xfrm>
        <a:graphic>
          <a:graphicData uri="http://schemas.openxmlformats.org/drawingml/2006/table">
            <a:tbl>
              <a:tblPr>
                <a:tableStyleId>{5C22544A-7EE6-4342-B048-85BDC9FD1C3A}</a:tableStyleId>
              </a:tblPr>
              <a:tblGrid>
                <a:gridCol w="2764459">
                  <a:extLst>
                    <a:ext uri="{9D8B030D-6E8A-4147-A177-3AD203B41FA5}">
                      <a16:colId xmlns:a16="http://schemas.microsoft.com/office/drawing/2014/main" val="20000"/>
                    </a:ext>
                  </a:extLst>
                </a:gridCol>
                <a:gridCol w="2764459">
                  <a:extLst>
                    <a:ext uri="{9D8B030D-6E8A-4147-A177-3AD203B41FA5}">
                      <a16:colId xmlns:a16="http://schemas.microsoft.com/office/drawing/2014/main" val="20001"/>
                    </a:ext>
                  </a:extLst>
                </a:gridCol>
                <a:gridCol w="2764459">
                  <a:extLst>
                    <a:ext uri="{9D8B030D-6E8A-4147-A177-3AD203B41FA5}">
                      <a16:colId xmlns:a16="http://schemas.microsoft.com/office/drawing/2014/main" val="20002"/>
                    </a:ext>
                  </a:extLst>
                </a:gridCol>
                <a:gridCol w="2764462">
                  <a:extLst>
                    <a:ext uri="{9D8B030D-6E8A-4147-A177-3AD203B41FA5}">
                      <a16:colId xmlns:a16="http://schemas.microsoft.com/office/drawing/2014/main" val="20003"/>
                    </a:ext>
                  </a:extLst>
                </a:gridCol>
              </a:tblGrid>
              <a:tr h="292608">
                <a:tc>
                  <a:txBody>
                    <a:bodyPr/>
                    <a:lstStyle/>
                    <a:p>
                      <a:r>
                        <a:rPr sz="1150" b="1">
                          <a:solidFill>
                            <a:srgbClr val="FFFFFF"/>
                          </a:solidFill>
                          <a:latin typeface="Arial"/>
                        </a:rPr>
                        <a:t>factor</a:t>
                      </a:r>
                    </a:p>
                  </a:txBody>
                  <a:tcPr anchor="ctr">
                    <a:solidFill>
                      <a:srgbClr val="009682"/>
                    </a:solidFill>
                  </a:tcPr>
                </a:tc>
                <a:tc>
                  <a:txBody>
                    <a:bodyPr/>
                    <a:lstStyle/>
                    <a:p>
                      <a:r>
                        <a:rPr sz="1150" b="1">
                          <a:solidFill>
                            <a:srgbClr val="FFFFFF"/>
                          </a:solidFill>
                          <a:latin typeface="Arial"/>
                        </a:rPr>
                        <a:t>latency</a:t>
                      </a:r>
                    </a:p>
                  </a:txBody>
                  <a:tcPr anchor="ctr">
                    <a:solidFill>
                      <a:srgbClr val="009682"/>
                    </a:solidFill>
                  </a:tcPr>
                </a:tc>
                <a:tc>
                  <a:txBody>
                    <a:bodyPr/>
                    <a:lstStyle/>
                    <a:p>
                      <a:r>
                        <a:rPr sz="1150" b="1">
                          <a:solidFill>
                            <a:srgbClr val="FFFFFF"/>
                          </a:solidFill>
                          <a:latin typeface="Arial"/>
                        </a:rPr>
                        <a:t>speed-up</a:t>
                      </a:r>
                    </a:p>
                  </a:txBody>
                  <a:tcPr anchor="ctr">
                    <a:solidFill>
                      <a:srgbClr val="009682"/>
                    </a:solidFill>
                  </a:tcPr>
                </a:tc>
                <a:tc>
                  <a:txBody>
                    <a:bodyPr/>
                    <a:lstStyle/>
                    <a:p>
                      <a:r>
                        <a:rPr sz="1150" b="1">
                          <a:solidFill>
                            <a:srgbClr val="FFFFFF"/>
                          </a:solidFill>
                          <a:latin typeface="Arial"/>
                        </a:rPr>
                        <a:t>DSP</a:t>
                      </a:r>
                    </a:p>
                  </a:txBody>
                  <a:tcPr anchor="ctr">
                    <a:solidFill>
                      <a:srgbClr val="009682"/>
                    </a:solidFill>
                  </a:tcPr>
                </a:tc>
                <a:extLst>
                  <a:ext uri="{0D108BD9-81ED-4DB2-BD59-A6C34878D82A}">
                    <a16:rowId xmlns:a16="http://schemas.microsoft.com/office/drawing/2014/main" val="10000"/>
                  </a:ext>
                </a:extLst>
              </a:tr>
              <a:tr h="292608">
                <a:tc>
                  <a:txBody>
                    <a:bodyPr/>
                    <a:lstStyle/>
                    <a:p>
                      <a:r>
                        <a:rPr sz="1150" b="0">
                          <a:solidFill>
                            <a:srgbClr val="222222"/>
                          </a:solidFill>
                          <a:latin typeface="Arial"/>
                        </a:rPr>
                        <a:t>1 (baseline)</a:t>
                      </a:r>
                    </a:p>
                  </a:txBody>
                  <a:tcPr anchor="ctr">
                    <a:solidFill>
                      <a:srgbClr val="FFFFFF"/>
                    </a:solidFill>
                  </a:tcPr>
                </a:tc>
                <a:tc>
                  <a:txBody>
                    <a:bodyPr/>
                    <a:lstStyle/>
                    <a:p>
                      <a:r>
                        <a:rPr sz="1150" b="0">
                          <a:solidFill>
                            <a:srgbClr val="222222"/>
                          </a:solidFill>
                          <a:latin typeface="Arial"/>
                        </a:rPr>
                        <a:t>21 025</a:t>
                      </a:r>
                    </a:p>
                  </a:txBody>
                  <a:tcPr anchor="ctr">
                    <a:solidFill>
                      <a:srgbClr val="FFFFFF"/>
                    </a:solidFill>
                  </a:tcPr>
                </a:tc>
                <a:tc>
                  <a:txBody>
                    <a:bodyPr/>
                    <a:lstStyle/>
                    <a:p>
                      <a:r>
                        <a:rPr sz="1150" b="0">
                          <a:solidFill>
                            <a:srgbClr val="222222"/>
                          </a:solidFill>
                          <a:latin typeface="Arial"/>
                        </a:rPr>
                        <a:t>1.0×</a:t>
                      </a:r>
                    </a:p>
                  </a:txBody>
                  <a:tcPr anchor="ctr">
                    <a:solidFill>
                      <a:srgbClr val="FFFFFF"/>
                    </a:solidFill>
                  </a:tcPr>
                </a:tc>
                <a:tc>
                  <a:txBody>
                    <a:bodyPr/>
                    <a:lstStyle/>
                    <a:p>
                      <a:r>
                        <a:rPr sz="1150" b="0">
                          <a:solidFill>
                            <a:srgbClr val="222222"/>
                          </a:solidFill>
                          <a:latin typeface="Arial"/>
                        </a:rPr>
                        <a:t>1</a:t>
                      </a:r>
                    </a:p>
                  </a:txBody>
                  <a:tcPr anchor="ctr">
                    <a:solidFill>
                      <a:srgbClr val="FFFFFF"/>
                    </a:solidFill>
                  </a:tcPr>
                </a:tc>
                <a:extLst>
                  <a:ext uri="{0D108BD9-81ED-4DB2-BD59-A6C34878D82A}">
                    <a16:rowId xmlns:a16="http://schemas.microsoft.com/office/drawing/2014/main" val="10001"/>
                  </a:ext>
                </a:extLst>
              </a:tr>
              <a:tr h="292608">
                <a:tc>
                  <a:txBody>
                    <a:bodyPr/>
                    <a:lstStyle/>
                    <a:p>
                      <a:r>
                        <a:rPr sz="1150" b="0">
                          <a:solidFill>
                            <a:srgbClr val="222222"/>
                          </a:solidFill>
                          <a:latin typeface="Arial"/>
                        </a:rPr>
                        <a:t>2</a:t>
                      </a:r>
                    </a:p>
                  </a:txBody>
                  <a:tcPr anchor="ctr">
                    <a:solidFill>
                      <a:srgbClr val="F2F4F3"/>
                    </a:solidFill>
                  </a:tcPr>
                </a:tc>
                <a:tc>
                  <a:txBody>
                    <a:bodyPr/>
                    <a:lstStyle/>
                    <a:p>
                      <a:r>
                        <a:rPr sz="1150" b="0">
                          <a:solidFill>
                            <a:srgbClr val="222222"/>
                          </a:solidFill>
                          <a:latin typeface="Arial"/>
                        </a:rPr>
                        <a:t>10 785</a:t>
                      </a:r>
                    </a:p>
                  </a:txBody>
                  <a:tcPr anchor="ctr">
                    <a:solidFill>
                      <a:srgbClr val="F2F4F3"/>
                    </a:solidFill>
                  </a:tcPr>
                </a:tc>
                <a:tc>
                  <a:txBody>
                    <a:bodyPr/>
                    <a:lstStyle/>
                    <a:p>
                      <a:r>
                        <a:rPr sz="1150" b="0">
                          <a:solidFill>
                            <a:srgbClr val="222222"/>
                          </a:solidFill>
                          <a:latin typeface="Arial"/>
                        </a:rPr>
                        <a:t>1.9×</a:t>
                      </a:r>
                    </a:p>
                  </a:txBody>
                  <a:tcPr anchor="ctr">
                    <a:solidFill>
                      <a:srgbClr val="F2F4F3"/>
                    </a:solidFill>
                  </a:tcPr>
                </a:tc>
                <a:tc>
                  <a:txBody>
                    <a:bodyPr/>
                    <a:lstStyle/>
                    <a:p>
                      <a:r>
                        <a:rPr sz="1150" b="0">
                          <a:solidFill>
                            <a:srgbClr val="222222"/>
                          </a:solidFill>
                          <a:latin typeface="Arial"/>
                        </a:rPr>
                        <a:t>1</a:t>
                      </a:r>
                    </a:p>
                  </a:txBody>
                  <a:tcPr anchor="ctr">
                    <a:solidFill>
                      <a:srgbClr val="F2F4F3"/>
                    </a:solidFill>
                  </a:tcPr>
                </a:tc>
                <a:extLst>
                  <a:ext uri="{0D108BD9-81ED-4DB2-BD59-A6C34878D82A}">
                    <a16:rowId xmlns:a16="http://schemas.microsoft.com/office/drawing/2014/main" val="10002"/>
                  </a:ext>
                </a:extLst>
              </a:tr>
              <a:tr h="292608">
                <a:tc>
                  <a:txBody>
                    <a:bodyPr/>
                    <a:lstStyle/>
                    <a:p>
                      <a:r>
                        <a:rPr sz="1150" b="0">
                          <a:solidFill>
                            <a:srgbClr val="222222"/>
                          </a:solidFill>
                          <a:latin typeface="Arial"/>
                        </a:rPr>
                        <a:t>4</a:t>
                      </a:r>
                    </a:p>
                  </a:txBody>
                  <a:tcPr anchor="ctr">
                    <a:solidFill>
                      <a:srgbClr val="FFFFFF"/>
                    </a:solidFill>
                  </a:tcPr>
                </a:tc>
                <a:tc>
                  <a:txBody>
                    <a:bodyPr/>
                    <a:lstStyle/>
                    <a:p>
                      <a:r>
                        <a:rPr sz="1150" b="0">
                          <a:solidFill>
                            <a:srgbClr val="222222"/>
                          </a:solidFill>
                          <a:latin typeface="Arial"/>
                        </a:rPr>
                        <a:t>5 665</a:t>
                      </a:r>
                    </a:p>
                  </a:txBody>
                  <a:tcPr anchor="ctr">
                    <a:solidFill>
                      <a:srgbClr val="FFFFFF"/>
                    </a:solidFill>
                  </a:tcPr>
                </a:tc>
                <a:tc>
                  <a:txBody>
                    <a:bodyPr/>
                    <a:lstStyle/>
                    <a:p>
                      <a:r>
                        <a:rPr sz="1150" b="0">
                          <a:solidFill>
                            <a:srgbClr val="222222"/>
                          </a:solidFill>
                          <a:latin typeface="Arial"/>
                        </a:rPr>
                        <a:t>3.7×</a:t>
                      </a:r>
                    </a:p>
                  </a:txBody>
                  <a:tcPr anchor="ctr">
                    <a:solidFill>
                      <a:srgbClr val="FFFFFF"/>
                    </a:solidFill>
                  </a:tcPr>
                </a:tc>
                <a:tc>
                  <a:txBody>
                    <a:bodyPr/>
                    <a:lstStyle/>
                    <a:p>
                      <a:r>
                        <a:rPr sz="1150" b="0">
                          <a:solidFill>
                            <a:srgbClr val="222222"/>
                          </a:solidFill>
                          <a:latin typeface="Arial"/>
                        </a:rPr>
                        <a:t>2</a:t>
                      </a:r>
                    </a:p>
                  </a:txBody>
                  <a:tcPr anchor="ctr">
                    <a:solidFill>
                      <a:srgbClr val="FFFFFF"/>
                    </a:solidFill>
                  </a:tcPr>
                </a:tc>
                <a:extLst>
                  <a:ext uri="{0D108BD9-81ED-4DB2-BD59-A6C34878D82A}">
                    <a16:rowId xmlns:a16="http://schemas.microsoft.com/office/drawing/2014/main" val="10003"/>
                  </a:ext>
                </a:extLst>
              </a:tr>
              <a:tr h="292608">
                <a:tc>
                  <a:txBody>
                    <a:bodyPr/>
                    <a:lstStyle/>
                    <a:p>
                      <a:r>
                        <a:rPr sz="1150" b="0">
                          <a:solidFill>
                            <a:srgbClr val="222222"/>
                          </a:solidFill>
                          <a:latin typeface="Arial"/>
                        </a:rPr>
                        <a:t>8</a:t>
                      </a:r>
                    </a:p>
                  </a:txBody>
                  <a:tcPr anchor="ctr">
                    <a:solidFill>
                      <a:srgbClr val="F2F4F3"/>
                    </a:solidFill>
                  </a:tcPr>
                </a:tc>
                <a:tc>
                  <a:txBody>
                    <a:bodyPr/>
                    <a:lstStyle/>
                    <a:p>
                      <a:r>
                        <a:rPr sz="1150" b="0">
                          <a:solidFill>
                            <a:srgbClr val="222222"/>
                          </a:solidFill>
                          <a:latin typeface="Arial"/>
                        </a:rPr>
                        <a:t>4 641</a:t>
                      </a:r>
                    </a:p>
                  </a:txBody>
                  <a:tcPr anchor="ctr">
                    <a:solidFill>
                      <a:srgbClr val="F2F4F3"/>
                    </a:solidFill>
                  </a:tcPr>
                </a:tc>
                <a:tc>
                  <a:txBody>
                    <a:bodyPr/>
                    <a:lstStyle/>
                    <a:p>
                      <a:r>
                        <a:rPr sz="1150" b="0">
                          <a:solidFill>
                            <a:srgbClr val="222222"/>
                          </a:solidFill>
                          <a:latin typeface="Arial"/>
                        </a:rPr>
                        <a:t>4.5×</a:t>
                      </a:r>
                    </a:p>
                  </a:txBody>
                  <a:tcPr anchor="ctr">
                    <a:solidFill>
                      <a:srgbClr val="F2F4F3"/>
                    </a:solidFill>
                  </a:tcPr>
                </a:tc>
                <a:tc>
                  <a:txBody>
                    <a:bodyPr/>
                    <a:lstStyle/>
                    <a:p>
                      <a:r>
                        <a:rPr sz="1150" b="0">
                          <a:solidFill>
                            <a:srgbClr val="222222"/>
                          </a:solidFill>
                          <a:latin typeface="Arial"/>
                        </a:rPr>
                        <a:t>4</a:t>
                      </a:r>
                    </a:p>
                  </a:txBody>
                  <a:tcPr anchor="ctr">
                    <a:solidFill>
                      <a:srgbClr val="F2F4F3"/>
                    </a:solidFill>
                  </a:tcPr>
                </a:tc>
                <a:extLst>
                  <a:ext uri="{0D108BD9-81ED-4DB2-BD59-A6C34878D82A}">
                    <a16:rowId xmlns:a16="http://schemas.microsoft.com/office/drawing/2014/main" val="10004"/>
                  </a:ext>
                </a:extLst>
              </a:tr>
              <a:tr h="292608">
                <a:tc>
                  <a:txBody>
                    <a:bodyPr/>
                    <a:lstStyle/>
                    <a:p>
                      <a:r>
                        <a:rPr sz="1150" b="0">
                          <a:solidFill>
                            <a:srgbClr val="222222"/>
                          </a:solidFill>
                          <a:latin typeface="Arial"/>
                        </a:rPr>
                        <a:t>16</a:t>
                      </a:r>
                    </a:p>
                  </a:txBody>
                  <a:tcPr anchor="ctr">
                    <a:solidFill>
                      <a:srgbClr val="FFFFFF"/>
                    </a:solidFill>
                  </a:tcPr>
                </a:tc>
                <a:tc>
                  <a:txBody>
                    <a:bodyPr/>
                    <a:lstStyle/>
                    <a:p>
                      <a:r>
                        <a:rPr sz="1150" b="0">
                          <a:solidFill>
                            <a:srgbClr val="222222"/>
                          </a:solidFill>
                          <a:latin typeface="Arial"/>
                        </a:rPr>
                        <a:t>3 233</a:t>
                      </a:r>
                    </a:p>
                  </a:txBody>
                  <a:tcPr anchor="ctr">
                    <a:solidFill>
                      <a:srgbClr val="FFFFFF"/>
                    </a:solidFill>
                  </a:tcPr>
                </a:tc>
                <a:tc>
                  <a:txBody>
                    <a:bodyPr/>
                    <a:lstStyle/>
                    <a:p>
                      <a:r>
                        <a:rPr sz="1150" b="0">
                          <a:solidFill>
                            <a:srgbClr val="222222"/>
                          </a:solidFill>
                          <a:latin typeface="Arial"/>
                        </a:rPr>
                        <a:t>6.5×</a:t>
                      </a:r>
                    </a:p>
                  </a:txBody>
                  <a:tcPr anchor="ctr">
                    <a:solidFill>
                      <a:srgbClr val="FFFFFF"/>
                    </a:solidFill>
                  </a:tcPr>
                </a:tc>
                <a:tc>
                  <a:txBody>
                    <a:bodyPr/>
                    <a:lstStyle/>
                    <a:p>
                      <a:r>
                        <a:rPr sz="1150" b="0">
                          <a:solidFill>
                            <a:srgbClr val="222222"/>
                          </a:solidFill>
                          <a:latin typeface="Arial"/>
                        </a:rPr>
                        <a:t>8</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66928" y="3182112"/>
            <a:ext cx="11057839" cy="731520"/>
          </a:xfrm>
          <a:prstGeom prst="rect">
            <a:avLst/>
          </a:prstGeom>
          <a:noFill/>
        </p:spPr>
        <p:txBody>
          <a:bodyPr wrap="square">
            <a:spAutoFit/>
          </a:bodyPr>
          <a:lstStyle/>
          <a:p>
            <a:pPr>
              <a:spcAft>
                <a:spcPts val="700"/>
              </a:spcAft>
            </a:pPr>
            <a:r>
              <a:rPr sz="1400">
                <a:solidFill>
                  <a:srgbClr val="222222"/>
                </a:solidFill>
                <a:latin typeface="Arial"/>
              </a:rPr>
              <a:t>▪  16× the arithmetic buys 6.5× the speed.</a:t>
            </a:r>
          </a:p>
          <a:p>
            <a:pPr>
              <a:spcAft>
                <a:spcPts val="700"/>
              </a:spcAft>
            </a:pPr>
            <a:r>
              <a:rPr sz="1400">
                <a:solidFill>
                  <a:srgbClr val="222222"/>
                </a:solidFill>
                <a:latin typeface="Arial"/>
              </a:rPr>
              <a:t>▪  The missing factor is the cost of getting operands in and out of memory.</a:t>
            </a:r>
          </a:p>
        </p:txBody>
      </p:sp>
      <p:sp>
        <p:nvSpPr>
          <p:cNvPr id="6" name="TextBox 5"/>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When partitioning actually starts to pay</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66928" y="1298448"/>
          <a:ext cx="11057839" cy="1463040"/>
        </p:xfrm>
        <a:graphic>
          <a:graphicData uri="http://schemas.openxmlformats.org/drawingml/2006/table">
            <a:tbl>
              <a:tblPr>
                <a:tableStyleId>{5C22544A-7EE6-4342-B048-85BDC9FD1C3A}</a:tableStyleId>
              </a:tblPr>
              <a:tblGrid>
                <a:gridCol w="2764459">
                  <a:extLst>
                    <a:ext uri="{9D8B030D-6E8A-4147-A177-3AD203B41FA5}">
                      <a16:colId xmlns:a16="http://schemas.microsoft.com/office/drawing/2014/main" val="20000"/>
                    </a:ext>
                  </a:extLst>
                </a:gridCol>
                <a:gridCol w="2764459">
                  <a:extLst>
                    <a:ext uri="{9D8B030D-6E8A-4147-A177-3AD203B41FA5}">
                      <a16:colId xmlns:a16="http://schemas.microsoft.com/office/drawing/2014/main" val="20001"/>
                    </a:ext>
                  </a:extLst>
                </a:gridCol>
                <a:gridCol w="2764459">
                  <a:extLst>
                    <a:ext uri="{9D8B030D-6E8A-4147-A177-3AD203B41FA5}">
                      <a16:colId xmlns:a16="http://schemas.microsoft.com/office/drawing/2014/main" val="20002"/>
                    </a:ext>
                  </a:extLst>
                </a:gridCol>
                <a:gridCol w="2764462">
                  <a:extLst>
                    <a:ext uri="{9D8B030D-6E8A-4147-A177-3AD203B41FA5}">
                      <a16:colId xmlns:a16="http://schemas.microsoft.com/office/drawing/2014/main" val="20003"/>
                    </a:ext>
                  </a:extLst>
                </a:gridCol>
              </a:tblGrid>
              <a:tr h="292608">
                <a:tc>
                  <a:txBody>
                    <a:bodyPr/>
                    <a:lstStyle/>
                    <a:p>
                      <a:r>
                        <a:rPr sz="1150" b="1">
                          <a:solidFill>
                            <a:srgbClr val="FFFFFF"/>
                          </a:solidFill>
                          <a:latin typeface="Arial"/>
                        </a:rPr>
                        <a:t>unroll factor</a:t>
                      </a:r>
                    </a:p>
                  </a:txBody>
                  <a:tcPr anchor="ctr">
                    <a:solidFill>
                      <a:srgbClr val="009682"/>
                    </a:solidFill>
                  </a:tcPr>
                </a:tc>
                <a:tc>
                  <a:txBody>
                    <a:bodyPr/>
                    <a:lstStyle/>
                    <a:p>
                      <a:r>
                        <a:rPr sz="1150" b="1">
                          <a:solidFill>
                            <a:srgbClr val="FFFFFF"/>
                          </a:solidFill>
                          <a:latin typeface="Arial"/>
                        </a:rPr>
                        <a:t>unroll alone</a:t>
                      </a:r>
                    </a:p>
                  </a:txBody>
                  <a:tcPr anchor="ctr">
                    <a:solidFill>
                      <a:srgbClr val="009682"/>
                    </a:solidFill>
                  </a:tcPr>
                </a:tc>
                <a:tc>
                  <a:txBody>
                    <a:bodyPr/>
                    <a:lstStyle/>
                    <a:p>
                      <a:r>
                        <a:rPr sz="1150" b="1">
                          <a:solidFill>
                            <a:srgbClr val="FFFFFF"/>
                          </a:solidFill>
                          <a:latin typeface="Arial"/>
                        </a:rPr>
                        <a:t>+ matching partition</a:t>
                      </a:r>
                    </a:p>
                  </a:txBody>
                  <a:tcPr anchor="ctr">
                    <a:solidFill>
                      <a:srgbClr val="009682"/>
                    </a:solidFill>
                  </a:tcPr>
                </a:tc>
                <a:tc>
                  <a:txBody>
                    <a:bodyPr/>
                    <a:lstStyle/>
                    <a:p>
                      <a:r>
                        <a:rPr sz="1150" b="1">
                          <a:solidFill>
                            <a:srgbClr val="FFFFFF"/>
                          </a:solidFill>
                          <a:latin typeface="Arial"/>
                        </a:rPr>
                        <a:t>gain</a:t>
                      </a:r>
                    </a:p>
                  </a:txBody>
                  <a:tcPr anchor="ctr">
                    <a:solidFill>
                      <a:srgbClr val="009682"/>
                    </a:solidFill>
                  </a:tcPr>
                </a:tc>
                <a:extLst>
                  <a:ext uri="{0D108BD9-81ED-4DB2-BD59-A6C34878D82A}">
                    <a16:rowId xmlns:a16="http://schemas.microsoft.com/office/drawing/2014/main" val="10000"/>
                  </a:ext>
                </a:extLst>
              </a:tr>
              <a:tr h="292608">
                <a:tc>
                  <a:txBody>
                    <a:bodyPr/>
                    <a:lstStyle/>
                    <a:p>
                      <a:r>
                        <a:rPr sz="1150" b="0">
                          <a:solidFill>
                            <a:srgbClr val="222222"/>
                          </a:solidFill>
                          <a:latin typeface="Arial"/>
                        </a:rPr>
                        <a:t>2</a:t>
                      </a:r>
                    </a:p>
                  </a:txBody>
                  <a:tcPr anchor="ctr">
                    <a:solidFill>
                      <a:srgbClr val="FFFFFF"/>
                    </a:solidFill>
                  </a:tcPr>
                </a:tc>
                <a:tc>
                  <a:txBody>
                    <a:bodyPr/>
                    <a:lstStyle/>
                    <a:p>
                      <a:r>
                        <a:rPr sz="1150" b="0">
                          <a:solidFill>
                            <a:srgbClr val="222222"/>
                          </a:solidFill>
                          <a:latin typeface="Arial"/>
                        </a:rPr>
                        <a:t>10 785</a:t>
                      </a:r>
                    </a:p>
                  </a:txBody>
                  <a:tcPr anchor="ctr">
                    <a:solidFill>
                      <a:srgbClr val="FFFFFF"/>
                    </a:solidFill>
                  </a:tcPr>
                </a:tc>
                <a:tc>
                  <a:txBody>
                    <a:bodyPr/>
                    <a:lstStyle/>
                    <a:p>
                      <a:r>
                        <a:rPr sz="1150" b="0">
                          <a:solidFill>
                            <a:srgbClr val="222222"/>
                          </a:solidFill>
                          <a:latin typeface="Arial"/>
                        </a:rPr>
                        <a:t>10 785</a:t>
                      </a:r>
                    </a:p>
                  </a:txBody>
                  <a:tcPr anchor="ctr">
                    <a:solidFill>
                      <a:srgbClr val="FFFFFF"/>
                    </a:solidFill>
                  </a:tcPr>
                </a:tc>
                <a:tc>
                  <a:txBody>
                    <a:bodyPr/>
                    <a:lstStyle/>
                    <a:p>
                      <a:r>
                        <a:rPr sz="1150" b="0">
                          <a:solidFill>
                            <a:srgbClr val="222222"/>
                          </a:solidFill>
                          <a:latin typeface="Arial"/>
                        </a:rPr>
                        <a:t>none</a:t>
                      </a:r>
                    </a:p>
                  </a:txBody>
                  <a:tcPr anchor="ctr">
                    <a:solidFill>
                      <a:srgbClr val="FFFFFF"/>
                    </a:solidFill>
                  </a:tcPr>
                </a:tc>
                <a:extLst>
                  <a:ext uri="{0D108BD9-81ED-4DB2-BD59-A6C34878D82A}">
                    <a16:rowId xmlns:a16="http://schemas.microsoft.com/office/drawing/2014/main" val="10001"/>
                  </a:ext>
                </a:extLst>
              </a:tr>
              <a:tr h="292608">
                <a:tc>
                  <a:txBody>
                    <a:bodyPr/>
                    <a:lstStyle/>
                    <a:p>
                      <a:r>
                        <a:rPr sz="1150" b="0">
                          <a:solidFill>
                            <a:srgbClr val="222222"/>
                          </a:solidFill>
                          <a:latin typeface="Arial"/>
                        </a:rPr>
                        <a:t>4</a:t>
                      </a:r>
                    </a:p>
                  </a:txBody>
                  <a:tcPr anchor="ctr">
                    <a:solidFill>
                      <a:srgbClr val="F2F4F3"/>
                    </a:solidFill>
                  </a:tcPr>
                </a:tc>
                <a:tc>
                  <a:txBody>
                    <a:bodyPr/>
                    <a:lstStyle/>
                    <a:p>
                      <a:r>
                        <a:rPr sz="1150" b="0">
                          <a:solidFill>
                            <a:srgbClr val="222222"/>
                          </a:solidFill>
                          <a:latin typeface="Arial"/>
                        </a:rPr>
                        <a:t>5 665</a:t>
                      </a:r>
                    </a:p>
                  </a:txBody>
                  <a:tcPr anchor="ctr">
                    <a:solidFill>
                      <a:srgbClr val="F2F4F3"/>
                    </a:solidFill>
                  </a:tcPr>
                </a:tc>
                <a:tc>
                  <a:txBody>
                    <a:bodyPr/>
                    <a:lstStyle/>
                    <a:p>
                      <a:r>
                        <a:rPr sz="1150" b="0">
                          <a:solidFill>
                            <a:srgbClr val="222222"/>
                          </a:solidFill>
                          <a:latin typeface="Arial"/>
                        </a:rPr>
                        <a:t>5 665</a:t>
                      </a:r>
                    </a:p>
                  </a:txBody>
                  <a:tcPr anchor="ctr">
                    <a:solidFill>
                      <a:srgbClr val="F2F4F3"/>
                    </a:solidFill>
                  </a:tcPr>
                </a:tc>
                <a:tc>
                  <a:txBody>
                    <a:bodyPr/>
                    <a:lstStyle/>
                    <a:p>
                      <a:r>
                        <a:rPr sz="1150" b="0">
                          <a:solidFill>
                            <a:srgbClr val="222222"/>
                          </a:solidFill>
                          <a:latin typeface="Arial"/>
                        </a:rPr>
                        <a:t>none</a:t>
                      </a:r>
                    </a:p>
                  </a:txBody>
                  <a:tcPr anchor="ctr">
                    <a:solidFill>
                      <a:srgbClr val="F2F4F3"/>
                    </a:solidFill>
                  </a:tcPr>
                </a:tc>
                <a:extLst>
                  <a:ext uri="{0D108BD9-81ED-4DB2-BD59-A6C34878D82A}">
                    <a16:rowId xmlns:a16="http://schemas.microsoft.com/office/drawing/2014/main" val="10002"/>
                  </a:ext>
                </a:extLst>
              </a:tr>
              <a:tr h="292608">
                <a:tc>
                  <a:txBody>
                    <a:bodyPr/>
                    <a:lstStyle/>
                    <a:p>
                      <a:r>
                        <a:rPr sz="1150" b="0">
                          <a:solidFill>
                            <a:srgbClr val="222222"/>
                          </a:solidFill>
                          <a:latin typeface="Arial"/>
                        </a:rPr>
                        <a:t>8</a:t>
                      </a:r>
                    </a:p>
                  </a:txBody>
                  <a:tcPr anchor="ctr">
                    <a:solidFill>
                      <a:srgbClr val="FFFFFF"/>
                    </a:solidFill>
                  </a:tcPr>
                </a:tc>
                <a:tc>
                  <a:txBody>
                    <a:bodyPr/>
                    <a:lstStyle/>
                    <a:p>
                      <a:r>
                        <a:rPr sz="1150" b="0">
                          <a:solidFill>
                            <a:srgbClr val="222222"/>
                          </a:solidFill>
                          <a:latin typeface="Arial"/>
                        </a:rPr>
                        <a:t>4 641</a:t>
                      </a:r>
                    </a:p>
                  </a:txBody>
                  <a:tcPr anchor="ctr">
                    <a:solidFill>
                      <a:srgbClr val="FFFFFF"/>
                    </a:solidFill>
                  </a:tcPr>
                </a:tc>
                <a:tc>
                  <a:txBody>
                    <a:bodyPr/>
                    <a:lstStyle/>
                    <a:p>
                      <a:r>
                        <a:rPr sz="1150" b="0">
                          <a:solidFill>
                            <a:srgbClr val="222222"/>
                          </a:solidFill>
                          <a:latin typeface="Arial"/>
                        </a:rPr>
                        <a:t>3 617</a:t>
                      </a:r>
                    </a:p>
                  </a:txBody>
                  <a:tcPr anchor="ctr">
                    <a:solidFill>
                      <a:srgbClr val="FFFFFF"/>
                    </a:solidFill>
                  </a:tcPr>
                </a:tc>
                <a:tc>
                  <a:txBody>
                    <a:bodyPr/>
                    <a:lstStyle/>
                    <a:p>
                      <a:r>
                        <a:rPr sz="1150" b="0">
                          <a:solidFill>
                            <a:srgbClr val="222222"/>
                          </a:solidFill>
                          <a:latin typeface="Arial"/>
                        </a:rPr>
                        <a:t>1.28×</a:t>
                      </a:r>
                    </a:p>
                  </a:txBody>
                  <a:tcPr anchor="ctr">
                    <a:solidFill>
                      <a:srgbClr val="FFFFFF"/>
                    </a:solidFill>
                  </a:tcPr>
                </a:tc>
                <a:extLst>
                  <a:ext uri="{0D108BD9-81ED-4DB2-BD59-A6C34878D82A}">
                    <a16:rowId xmlns:a16="http://schemas.microsoft.com/office/drawing/2014/main" val="10003"/>
                  </a:ext>
                </a:extLst>
              </a:tr>
              <a:tr h="292608">
                <a:tc>
                  <a:txBody>
                    <a:bodyPr/>
                    <a:lstStyle/>
                    <a:p>
                      <a:r>
                        <a:rPr sz="1150" b="0">
                          <a:solidFill>
                            <a:srgbClr val="222222"/>
                          </a:solidFill>
                          <a:latin typeface="Arial"/>
                        </a:rPr>
                        <a:t>16</a:t>
                      </a:r>
                    </a:p>
                  </a:txBody>
                  <a:tcPr anchor="ctr">
                    <a:solidFill>
                      <a:srgbClr val="F2F4F3"/>
                    </a:solidFill>
                  </a:tcPr>
                </a:tc>
                <a:tc>
                  <a:txBody>
                    <a:bodyPr/>
                    <a:lstStyle/>
                    <a:p>
                      <a:r>
                        <a:rPr sz="1150" b="0">
                          <a:solidFill>
                            <a:srgbClr val="222222"/>
                          </a:solidFill>
                          <a:latin typeface="Arial"/>
                        </a:rPr>
                        <a:t>3 233</a:t>
                      </a:r>
                    </a:p>
                  </a:txBody>
                  <a:tcPr anchor="ctr">
                    <a:solidFill>
                      <a:srgbClr val="F2F4F3"/>
                    </a:solidFill>
                  </a:tcPr>
                </a:tc>
                <a:tc>
                  <a:txBody>
                    <a:bodyPr/>
                    <a:lstStyle/>
                    <a:p>
                      <a:r>
                        <a:rPr sz="1150" b="0">
                          <a:solidFill>
                            <a:srgbClr val="222222"/>
                          </a:solidFill>
                          <a:latin typeface="Arial"/>
                        </a:rPr>
                        <a:t>1 585</a:t>
                      </a:r>
                    </a:p>
                  </a:txBody>
                  <a:tcPr anchor="ctr">
                    <a:solidFill>
                      <a:srgbClr val="F2F4F3"/>
                    </a:solidFill>
                  </a:tcPr>
                </a:tc>
                <a:tc>
                  <a:txBody>
                    <a:bodyPr/>
                    <a:lstStyle/>
                    <a:p>
                      <a:r>
                        <a:rPr sz="1150" b="0">
                          <a:solidFill>
                            <a:srgbClr val="222222"/>
                          </a:solidFill>
                          <a:latin typeface="Arial"/>
                        </a:rPr>
                        <a:t>2.04×</a:t>
                      </a:r>
                    </a:p>
                  </a:txBody>
                  <a:tcPr anchor="ctr">
                    <a:solidFill>
                      <a:srgbClr val="F2F4F3"/>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66928" y="2889504"/>
            <a:ext cx="11057839" cy="731520"/>
          </a:xfrm>
          <a:prstGeom prst="rect">
            <a:avLst/>
          </a:prstGeom>
          <a:noFill/>
        </p:spPr>
        <p:txBody>
          <a:bodyPr wrap="square">
            <a:spAutoFit/>
          </a:bodyPr>
          <a:lstStyle/>
          <a:p>
            <a:pPr>
              <a:spcAft>
                <a:spcPts val="700"/>
              </a:spcAft>
            </a:pPr>
            <a:r>
              <a:rPr sz="1400">
                <a:solidFill>
                  <a:srgbClr val="222222"/>
                </a:solidFill>
                <a:latin typeface="Arial"/>
              </a:rPr>
              <a:t>▪  At low factors the partition changes nothing — a block RAM already has two ports.</a:t>
            </a:r>
          </a:p>
          <a:p>
            <a:pPr>
              <a:spcAft>
                <a:spcPts val="700"/>
              </a:spcAft>
            </a:pPr>
            <a:r>
              <a:rPr sz="1400">
                <a:solidFill>
                  <a:srgbClr val="222222"/>
                </a:solidFill>
                <a:latin typeface="Arial"/>
              </a:rPr>
              <a:t>▪  It only pays once the unrolled loop asks for more concurrent reads than the memory can deliver.</a:t>
            </a:r>
          </a:p>
        </p:txBody>
      </p:sp>
      <p:sp>
        <p:nvSpPr>
          <p:cNvPr id="6" name="Rounded Rectangle 5"/>
          <p:cNvSpPr/>
          <p:nvPr/>
        </p:nvSpPr>
        <p:spPr>
          <a:xfrm>
            <a:off x="566928" y="3749040"/>
            <a:ext cx="11057839" cy="786384"/>
          </a:xfrm>
          <a:prstGeom prst="roundRect">
            <a:avLst>
              <a:gd name="adj" fmla="val 3000"/>
            </a:avLst>
          </a:prstGeom>
          <a:solidFill>
            <a:srgbClr val="E8F4F2"/>
          </a:solidFill>
          <a:ln w="15875">
            <a:solidFill>
              <a:srgbClr val="009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831336"/>
            <a:ext cx="10728655" cy="621792"/>
          </a:xfrm>
          <a:prstGeom prst="rect">
            <a:avLst/>
          </a:prstGeom>
          <a:noFill/>
        </p:spPr>
        <p:txBody>
          <a:bodyPr wrap="square">
            <a:spAutoFit/>
          </a:bodyPr>
          <a:lstStyle/>
          <a:p>
            <a:pPr>
              <a:spcAft>
                <a:spcPts val="200"/>
              </a:spcAft>
            </a:pPr>
            <a:r>
              <a:rPr sz="1200" b="0">
                <a:solidFill>
                  <a:srgbClr val="222222"/>
                </a:solidFill>
                <a:latin typeface="Arial"/>
              </a:rPr>
              <a:t>More nuanced than "always partition what you unroll". Below the port limit, the pragma is free of benefit as well as nearly free of cost.</a:t>
            </a:r>
          </a:p>
        </p:txBody>
      </p:sp>
      <p:sp>
        <p:nvSpPr>
          <p:cNvPr id="8" name="TextBox 7"/>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Which dimension to partition</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1298448"/>
            <a:ext cx="11057839" cy="630936"/>
          </a:xfrm>
          <a:prstGeom prst="roundRect">
            <a:avLst>
              <a:gd name="adj" fmla="val 3000"/>
            </a:avLst>
          </a:prstGeom>
          <a:solidFill>
            <a:srgbClr val="F2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389888"/>
            <a:ext cx="10765231" cy="448056"/>
          </a:xfrm>
          <a:prstGeom prst="rect">
            <a:avLst/>
          </a:prstGeom>
          <a:noFill/>
        </p:spPr>
        <p:txBody>
          <a:bodyPr wrap="square">
            <a:spAutoFit/>
          </a:bodyPr>
          <a:lstStyle/>
          <a:p>
            <a:pPr>
              <a:spcAft>
                <a:spcPts val="100"/>
              </a:spcAft>
            </a:pPr>
            <a:r>
              <a:rPr sz="1050" b="0">
                <a:solidFill>
                  <a:srgbClr val="222222"/>
                </a:solidFill>
                <a:latin typeface="Consolas"/>
              </a:rPr>
              <a:t>#pragma HLS ARRAY_PARTITION variable=A dim=2 cyclic factor=4</a:t>
            </a:r>
          </a:p>
          <a:p>
            <a:pPr>
              <a:spcAft>
                <a:spcPts val="100"/>
              </a:spcAft>
            </a:pPr>
            <a:r>
              <a:rPr sz="1050" b="0">
                <a:solidFill>
                  <a:srgbClr val="222222"/>
                </a:solidFill>
                <a:latin typeface="Consolas"/>
              </a:rPr>
              <a:t>#pragma HLS ARRAY_PARTITION variable=B dim=1 cyclic factor=4</a:t>
            </a:r>
          </a:p>
        </p:txBody>
      </p:sp>
      <p:sp>
        <p:nvSpPr>
          <p:cNvPr id="6" name="TextBox 5"/>
          <p:cNvSpPr txBox="1"/>
          <p:nvPr/>
        </p:nvSpPr>
        <p:spPr>
          <a:xfrm>
            <a:off x="566928" y="2057400"/>
            <a:ext cx="11057839" cy="1353312"/>
          </a:xfrm>
          <a:prstGeom prst="rect">
            <a:avLst/>
          </a:prstGeom>
          <a:noFill/>
        </p:spPr>
        <p:txBody>
          <a:bodyPr wrap="square">
            <a:spAutoFit/>
          </a:bodyPr>
          <a:lstStyle/>
          <a:p>
            <a:pPr>
              <a:spcAft>
                <a:spcPts val="700"/>
              </a:spcAft>
            </a:pPr>
            <a:r>
              <a:rPr sz="1400">
                <a:solidFill>
                  <a:srgbClr val="222222"/>
                </a:solidFill>
                <a:latin typeface="Arial"/>
              </a:rPr>
              <a:t>▪  The unrolled loop variable is k.</a:t>
            </a:r>
          </a:p>
          <a:p>
            <a:pPr>
              <a:spcAft>
                <a:spcPts val="700"/>
              </a:spcAft>
            </a:pPr>
            <a:r>
              <a:rPr sz="1400">
                <a:solidFill>
                  <a:srgbClr val="222222"/>
                </a:solidFill>
                <a:latin typeface="Arial"/>
              </a:rPr>
              <a:t>▪  k indexes A[i][k] — the second dimension — and B[k][j] — the first.</a:t>
            </a:r>
          </a:p>
          <a:p>
            <a:pPr>
              <a:spcAft>
                <a:spcPts val="700"/>
              </a:spcAft>
            </a:pPr>
            <a:r>
              <a:rPr sz="1400">
                <a:solidFill>
                  <a:srgbClr val="222222"/>
                </a:solidFill>
                <a:latin typeface="Arial"/>
              </a:rPr>
              <a:t>▪  Those are the dimensions that must be split so several k values can be read at once.</a:t>
            </a:r>
          </a:p>
          <a:p>
            <a:pPr>
              <a:spcAft>
                <a:spcPts val="700"/>
              </a:spcAft>
            </a:pPr>
            <a:r>
              <a:rPr sz="1400">
                <a:solidFill>
                  <a:srgbClr val="222222"/>
                </a:solidFill>
                <a:latin typeface="Arial"/>
              </a:rPr>
              <a:t>▪  C is not indexed by k. Partitioning it achieves nothing.</a:t>
            </a:r>
          </a:p>
        </p:txBody>
      </p:sp>
      <p:sp>
        <p:nvSpPr>
          <p:cNvPr id="7" name="Rounded Rectangle 6"/>
          <p:cNvSpPr/>
          <p:nvPr/>
        </p:nvSpPr>
        <p:spPr>
          <a:xfrm>
            <a:off x="566928" y="3538728"/>
            <a:ext cx="11057839" cy="786384"/>
          </a:xfrm>
          <a:prstGeom prst="roundRect">
            <a:avLst>
              <a:gd name="adj" fmla="val 3000"/>
            </a:avLst>
          </a:prstGeom>
          <a:solidFill>
            <a:srgbClr val="E8F4F2"/>
          </a:solidFill>
          <a:ln w="15875">
            <a:solidFill>
              <a:srgbClr val="009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621024"/>
            <a:ext cx="10728655" cy="621792"/>
          </a:xfrm>
          <a:prstGeom prst="rect">
            <a:avLst/>
          </a:prstGeom>
          <a:noFill/>
        </p:spPr>
        <p:txBody>
          <a:bodyPr wrap="square">
            <a:spAutoFit/>
          </a:bodyPr>
          <a:lstStyle/>
          <a:p>
            <a:pPr>
              <a:spcAft>
                <a:spcPts val="200"/>
              </a:spcAft>
            </a:pPr>
            <a:r>
              <a:rPr sz="1200" b="0">
                <a:solidFill>
                  <a:srgbClr val="222222"/>
                </a:solidFill>
                <a:latin typeface="Arial"/>
              </a:rPr>
              <a:t>Rule of thumb. Partition the dimension the unrolled index walks along, and match the factor to the unroll factor.</a:t>
            </a:r>
          </a:p>
        </p:txBody>
      </p:sp>
      <p:sp>
        <p:nvSpPr>
          <p:cNvPr id="9" name="TextBox 8"/>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The resource cliff</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66928" y="1298448"/>
          <a:ext cx="11057839" cy="1170432"/>
        </p:xfrm>
        <a:graphic>
          <a:graphicData uri="http://schemas.openxmlformats.org/drawingml/2006/table">
            <a:tbl>
              <a:tblPr>
                <a:tableStyleId>{5C22544A-7EE6-4342-B048-85BDC9FD1C3A}</a:tableStyleId>
              </a:tblPr>
              <a:tblGrid>
                <a:gridCol w="2764459">
                  <a:extLst>
                    <a:ext uri="{9D8B030D-6E8A-4147-A177-3AD203B41FA5}">
                      <a16:colId xmlns:a16="http://schemas.microsoft.com/office/drawing/2014/main" val="20000"/>
                    </a:ext>
                  </a:extLst>
                </a:gridCol>
                <a:gridCol w="2764459">
                  <a:extLst>
                    <a:ext uri="{9D8B030D-6E8A-4147-A177-3AD203B41FA5}">
                      <a16:colId xmlns:a16="http://schemas.microsoft.com/office/drawing/2014/main" val="20001"/>
                    </a:ext>
                  </a:extLst>
                </a:gridCol>
                <a:gridCol w="2764459">
                  <a:extLst>
                    <a:ext uri="{9D8B030D-6E8A-4147-A177-3AD203B41FA5}">
                      <a16:colId xmlns:a16="http://schemas.microsoft.com/office/drawing/2014/main" val="20002"/>
                    </a:ext>
                  </a:extLst>
                </a:gridCol>
                <a:gridCol w="2764462">
                  <a:extLst>
                    <a:ext uri="{9D8B030D-6E8A-4147-A177-3AD203B41FA5}">
                      <a16:colId xmlns:a16="http://schemas.microsoft.com/office/drawing/2014/main" val="20003"/>
                    </a:ext>
                  </a:extLst>
                </a:gridCol>
              </a:tblGrid>
              <a:tr h="292608">
                <a:tc>
                  <a:txBody>
                    <a:bodyPr/>
                    <a:lstStyle/>
                    <a:p>
                      <a:r>
                        <a:rPr sz="1150" b="1">
                          <a:solidFill>
                            <a:srgbClr val="FFFFFF"/>
                          </a:solidFill>
                          <a:latin typeface="Arial"/>
                        </a:rPr>
                        <a:t>configuration</a:t>
                      </a:r>
                    </a:p>
                  </a:txBody>
                  <a:tcPr anchor="ctr">
                    <a:solidFill>
                      <a:srgbClr val="009682"/>
                    </a:solidFill>
                  </a:tcPr>
                </a:tc>
                <a:tc>
                  <a:txBody>
                    <a:bodyPr/>
                    <a:lstStyle/>
                    <a:p>
                      <a:r>
                        <a:rPr sz="1150" b="1">
                          <a:solidFill>
                            <a:srgbClr val="FFFFFF"/>
                          </a:solidFill>
                          <a:latin typeface="Arial"/>
                        </a:rPr>
                        <a:t>latency</a:t>
                      </a:r>
                    </a:p>
                  </a:txBody>
                  <a:tcPr anchor="ctr">
                    <a:solidFill>
                      <a:srgbClr val="009682"/>
                    </a:solidFill>
                  </a:tcPr>
                </a:tc>
                <a:tc>
                  <a:txBody>
                    <a:bodyPr/>
                    <a:lstStyle/>
                    <a:p>
                      <a:r>
                        <a:rPr sz="1150" b="1">
                          <a:solidFill>
                            <a:srgbClr val="FFFFFF"/>
                          </a:solidFill>
                          <a:latin typeface="Arial"/>
                        </a:rPr>
                        <a:t>DSP</a:t>
                      </a:r>
                    </a:p>
                  </a:txBody>
                  <a:tcPr anchor="ctr">
                    <a:solidFill>
                      <a:srgbClr val="009682"/>
                    </a:solidFill>
                  </a:tcPr>
                </a:tc>
                <a:tc>
                  <a:txBody>
                    <a:bodyPr/>
                    <a:lstStyle/>
                    <a:p>
                      <a:r>
                        <a:rPr sz="1150" b="1">
                          <a:solidFill>
                            <a:srgbClr val="FFFFFF"/>
                          </a:solidFill>
                          <a:latin typeface="Arial"/>
                        </a:rPr>
                        <a:t>fits on the board?</a:t>
                      </a:r>
                    </a:p>
                  </a:txBody>
                  <a:tcPr anchor="ctr">
                    <a:solidFill>
                      <a:srgbClr val="009682"/>
                    </a:solidFill>
                  </a:tcPr>
                </a:tc>
                <a:extLst>
                  <a:ext uri="{0D108BD9-81ED-4DB2-BD59-A6C34878D82A}">
                    <a16:rowId xmlns:a16="http://schemas.microsoft.com/office/drawing/2014/main" val="10000"/>
                  </a:ext>
                </a:extLst>
              </a:tr>
              <a:tr h="292608">
                <a:tc>
                  <a:txBody>
                    <a:bodyPr/>
                    <a:lstStyle/>
                    <a:p>
                      <a:r>
                        <a:rPr sz="1150" b="0">
                          <a:solidFill>
                            <a:srgbClr val="222222"/>
                          </a:solidFill>
                          <a:latin typeface="Arial"/>
                        </a:rPr>
                        <a:t>full unroll, auto-pipelining left on</a:t>
                      </a:r>
                    </a:p>
                  </a:txBody>
                  <a:tcPr anchor="ctr">
                    <a:solidFill>
                      <a:srgbClr val="FFFFFF"/>
                    </a:solidFill>
                  </a:tcPr>
                </a:tc>
                <a:tc>
                  <a:txBody>
                    <a:bodyPr/>
                    <a:lstStyle/>
                    <a:p>
                      <a:r>
                        <a:rPr sz="1150" b="0">
                          <a:solidFill>
                            <a:srgbClr val="222222"/>
                          </a:solidFill>
                          <a:latin typeface="Arial"/>
                        </a:rPr>
                        <a:t>143</a:t>
                      </a:r>
                    </a:p>
                  </a:txBody>
                  <a:tcPr anchor="ctr">
                    <a:solidFill>
                      <a:srgbClr val="FFFFFF"/>
                    </a:solidFill>
                  </a:tcPr>
                </a:tc>
                <a:tc>
                  <a:txBody>
                    <a:bodyPr/>
                    <a:lstStyle/>
                    <a:p>
                      <a:r>
                        <a:rPr sz="1150" b="0">
                          <a:solidFill>
                            <a:srgbClr val="222222"/>
                          </a:solidFill>
                          <a:latin typeface="Arial"/>
                        </a:rPr>
                        <a:t>128</a:t>
                      </a:r>
                    </a:p>
                  </a:txBody>
                  <a:tcPr anchor="ctr">
                    <a:solidFill>
                      <a:srgbClr val="FFFFFF"/>
                    </a:solidFill>
                  </a:tcPr>
                </a:tc>
                <a:tc>
                  <a:txBody>
                    <a:bodyPr/>
                    <a:lstStyle/>
                    <a:p>
                      <a:r>
                        <a:rPr sz="1150" b="0">
                          <a:solidFill>
                            <a:srgbClr val="222222"/>
                          </a:solidFill>
                          <a:latin typeface="Arial"/>
                        </a:rPr>
                        <a:t>no — 194 % of 66</a:t>
                      </a:r>
                    </a:p>
                  </a:txBody>
                  <a:tcPr anchor="ctr">
                    <a:solidFill>
                      <a:srgbClr val="FFFFFF"/>
                    </a:solidFill>
                  </a:tcPr>
                </a:tc>
                <a:extLst>
                  <a:ext uri="{0D108BD9-81ED-4DB2-BD59-A6C34878D82A}">
                    <a16:rowId xmlns:a16="http://schemas.microsoft.com/office/drawing/2014/main" val="10001"/>
                  </a:ext>
                </a:extLst>
              </a:tr>
              <a:tr h="292608">
                <a:tc>
                  <a:txBody>
                    <a:bodyPr/>
                    <a:lstStyle/>
                    <a:p>
                      <a:r>
                        <a:rPr sz="1150" b="0">
                          <a:solidFill>
                            <a:srgbClr val="222222"/>
                          </a:solidFill>
                          <a:latin typeface="Arial"/>
                        </a:rPr>
                        <a:t>UNROLL 16 + PARTITION complete</a:t>
                      </a:r>
                    </a:p>
                  </a:txBody>
                  <a:tcPr anchor="ctr">
                    <a:solidFill>
                      <a:srgbClr val="F2F4F3"/>
                    </a:solidFill>
                  </a:tcPr>
                </a:tc>
                <a:tc>
                  <a:txBody>
                    <a:bodyPr/>
                    <a:lstStyle/>
                    <a:p>
                      <a:r>
                        <a:rPr sz="1150" b="0">
                          <a:solidFill>
                            <a:srgbClr val="222222"/>
                          </a:solidFill>
                          <a:latin typeface="Arial"/>
                        </a:rPr>
                        <a:t>1 585</a:t>
                      </a:r>
                    </a:p>
                  </a:txBody>
                  <a:tcPr anchor="ctr">
                    <a:solidFill>
                      <a:srgbClr val="F2F4F3"/>
                    </a:solidFill>
                  </a:tcPr>
                </a:tc>
                <a:tc>
                  <a:txBody>
                    <a:bodyPr/>
                    <a:lstStyle/>
                    <a:p>
                      <a:r>
                        <a:rPr sz="1150" b="0">
                          <a:solidFill>
                            <a:srgbClr val="222222"/>
                          </a:solidFill>
                          <a:latin typeface="Arial"/>
                        </a:rPr>
                        <a:t>8</a:t>
                      </a:r>
                    </a:p>
                  </a:txBody>
                  <a:tcPr anchor="ctr">
                    <a:solidFill>
                      <a:srgbClr val="F2F4F3"/>
                    </a:solidFill>
                  </a:tcPr>
                </a:tc>
                <a:tc>
                  <a:txBody>
                    <a:bodyPr/>
                    <a:lstStyle/>
                    <a:p>
                      <a:r>
                        <a:rPr sz="1150" b="0">
                          <a:solidFill>
                            <a:srgbClr val="222222"/>
                          </a:solidFill>
                          <a:latin typeface="Arial"/>
                        </a:rPr>
                        <a:t>yes</a:t>
                      </a:r>
                    </a:p>
                  </a:txBody>
                  <a:tcPr anchor="ctr">
                    <a:solidFill>
                      <a:srgbClr val="F2F4F3"/>
                    </a:solidFill>
                  </a:tcPr>
                </a:tc>
                <a:extLst>
                  <a:ext uri="{0D108BD9-81ED-4DB2-BD59-A6C34878D82A}">
                    <a16:rowId xmlns:a16="http://schemas.microsoft.com/office/drawing/2014/main" val="10002"/>
                  </a:ext>
                </a:extLst>
              </a:tr>
              <a:tr h="292608">
                <a:tc>
                  <a:txBody>
                    <a:bodyPr/>
                    <a:lstStyle/>
                    <a:p>
                      <a:r>
                        <a:rPr sz="1150" b="0">
                          <a:solidFill>
                            <a:srgbClr val="222222"/>
                          </a:solidFill>
                          <a:latin typeface="Arial"/>
                        </a:rPr>
                        <a:t>V12, recommended</a:t>
                      </a:r>
                    </a:p>
                  </a:txBody>
                  <a:tcPr anchor="ctr">
                    <a:solidFill>
                      <a:srgbClr val="FFFFFF"/>
                    </a:solidFill>
                  </a:tcPr>
                </a:tc>
                <a:tc>
                  <a:txBody>
                    <a:bodyPr/>
                    <a:lstStyle/>
                    <a:p>
                      <a:r>
                        <a:rPr sz="1150" b="0">
                          <a:solidFill>
                            <a:srgbClr val="222222"/>
                          </a:solidFill>
                          <a:latin typeface="Arial"/>
                        </a:rPr>
                        <a:t>518</a:t>
                      </a:r>
                    </a:p>
                  </a:txBody>
                  <a:tcPr anchor="ctr">
                    <a:solidFill>
                      <a:srgbClr val="FFFFFF"/>
                    </a:solidFill>
                  </a:tcPr>
                </a:tc>
                <a:tc>
                  <a:txBody>
                    <a:bodyPr/>
                    <a:lstStyle/>
                    <a:p>
                      <a:r>
                        <a:rPr sz="1150" b="0">
                          <a:solidFill>
                            <a:srgbClr val="222222"/>
                          </a:solidFill>
                          <a:latin typeface="Arial"/>
                        </a:rPr>
                        <a:t>8</a:t>
                      </a:r>
                    </a:p>
                  </a:txBody>
                  <a:tcPr anchor="ctr">
                    <a:solidFill>
                      <a:srgbClr val="FFFFFF"/>
                    </a:solidFill>
                  </a:tcPr>
                </a:tc>
                <a:tc>
                  <a:txBody>
                    <a:bodyPr/>
                    <a:lstStyle/>
                    <a:p>
                      <a:r>
                        <a:rPr sz="1150" b="0">
                          <a:solidFill>
                            <a:srgbClr val="222222"/>
                          </a:solidFill>
                          <a:latin typeface="Arial"/>
                        </a:rPr>
                        <a:t>yes, 12 %</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566928" y="2596896"/>
            <a:ext cx="11057839" cy="1042416"/>
          </a:xfrm>
          <a:prstGeom prst="rect">
            <a:avLst/>
          </a:prstGeom>
          <a:noFill/>
        </p:spPr>
        <p:txBody>
          <a:bodyPr wrap="square">
            <a:spAutoFit/>
          </a:bodyPr>
          <a:lstStyle/>
          <a:p>
            <a:pPr>
              <a:spcAft>
                <a:spcPts val="700"/>
              </a:spcAft>
            </a:pPr>
            <a:r>
              <a:rPr sz="1400">
                <a:solidFill>
                  <a:srgbClr val="222222"/>
                </a:solidFill>
                <a:latin typeface="Arial"/>
              </a:rPr>
              <a:t>▪  The fastest figure Vitis HLS will report is not implementable on this device.</a:t>
            </a:r>
          </a:p>
          <a:p>
            <a:pPr>
              <a:spcAft>
                <a:spcPts val="700"/>
              </a:spcAft>
            </a:pPr>
            <a:r>
              <a:rPr sz="1400">
                <a:solidFill>
                  <a:srgbClr val="222222"/>
                </a:solidFill>
                <a:latin typeface="Arial"/>
              </a:rPr>
              <a:t>▪  C synthesis does not stop you — the design fails much later, in Vivado.</a:t>
            </a:r>
          </a:p>
          <a:p>
            <a:pPr>
              <a:spcAft>
                <a:spcPts val="700"/>
              </a:spcAft>
            </a:pPr>
            <a:r>
              <a:rPr sz="1400">
                <a:solidFill>
                  <a:srgbClr val="222222"/>
                </a:solidFill>
                <a:latin typeface="Arial"/>
              </a:rPr>
              <a:t>▪  143 versus 518 cycles is 3.6× bought with 16× the DSPs, on a board that has not got them.</a:t>
            </a:r>
          </a:p>
        </p:txBody>
      </p:sp>
      <p:sp>
        <p:nvSpPr>
          <p:cNvPr id="6" name="Rounded Rectangle 5"/>
          <p:cNvSpPr/>
          <p:nvPr/>
        </p:nvSpPr>
        <p:spPr>
          <a:xfrm>
            <a:off x="566928" y="3767328"/>
            <a:ext cx="11057839" cy="512064"/>
          </a:xfrm>
          <a:prstGeom prst="roundRect">
            <a:avLst>
              <a:gd name="adj" fmla="val 3000"/>
            </a:avLst>
          </a:prstGeom>
          <a:solidFill>
            <a:srgbClr val="FDF0E8"/>
          </a:solidFill>
          <a:ln w="15875">
            <a:solidFill>
              <a:srgbClr val="D05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849624"/>
            <a:ext cx="10728655" cy="347472"/>
          </a:xfrm>
          <a:prstGeom prst="rect">
            <a:avLst/>
          </a:prstGeom>
          <a:noFill/>
        </p:spPr>
        <p:txBody>
          <a:bodyPr wrap="square">
            <a:spAutoFit/>
          </a:bodyPr>
          <a:lstStyle/>
          <a:p>
            <a:pPr>
              <a:spcAft>
                <a:spcPts val="200"/>
              </a:spcAft>
            </a:pPr>
            <a:r>
              <a:rPr sz="1200" b="0">
                <a:solidFill>
                  <a:srgbClr val="222222"/>
                </a:solidFill>
                <a:latin typeface="Arial"/>
              </a:rPr>
              <a:t>Always check the estimate against the device budget. The report gives you a number, not a verdict.</a:t>
            </a:r>
          </a:p>
        </p:txBody>
      </p:sp>
      <p:sp>
        <p:nvSpPr>
          <p:cNvPr id="8" name="TextBox 7"/>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457200"/>
            <a:ext cx="11057839" cy="658368"/>
          </a:xfrm>
          <a:prstGeom prst="rect">
            <a:avLst/>
          </a:prstGeom>
          <a:noFill/>
        </p:spPr>
        <p:txBody>
          <a:bodyPr wrap="square">
            <a:spAutoFit/>
          </a:bodyPr>
          <a:lstStyle/>
          <a:p>
            <a:pPr>
              <a:spcAft>
                <a:spcPts val="600"/>
              </a:spcAft>
            </a:pPr>
            <a:r>
              <a:rPr sz="2700" b="1">
                <a:solidFill>
                  <a:srgbClr val="222222"/>
                </a:solidFill>
                <a:latin typeface="Arial"/>
              </a:rPr>
              <a:t>Summary</a:t>
            </a:r>
          </a:p>
        </p:txBody>
      </p:sp>
      <p:sp>
        <p:nvSpPr>
          <p:cNvPr id="3" name="Rectangle 2"/>
          <p:cNvSpPr/>
          <p:nvPr/>
        </p:nvSpPr>
        <p:spPr>
          <a:xfrm>
            <a:off x="566928" y="1115568"/>
            <a:ext cx="1554480" cy="41148"/>
          </a:xfrm>
          <a:prstGeom prst="rect">
            <a:avLst/>
          </a:prstGeom>
          <a:solidFill>
            <a:srgbClr val="00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66928" y="1298448"/>
            <a:ext cx="11057839" cy="2007108"/>
          </a:xfrm>
          <a:prstGeom prst="roundRect">
            <a:avLst>
              <a:gd name="adj" fmla="val 3000"/>
            </a:avLst>
          </a:prstGeom>
          <a:solidFill>
            <a:srgbClr val="F2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389888"/>
            <a:ext cx="10765231" cy="1824228"/>
          </a:xfrm>
          <a:prstGeom prst="rect">
            <a:avLst/>
          </a:prstGeom>
          <a:noFill/>
        </p:spPr>
        <p:txBody>
          <a:bodyPr wrap="square">
            <a:spAutoFit/>
          </a:bodyPr>
          <a:lstStyle/>
          <a:p>
            <a:pPr>
              <a:spcAft>
                <a:spcPts val="100"/>
              </a:spcAft>
            </a:pPr>
            <a:r>
              <a:rPr sz="1050" b="0">
                <a:solidFill>
                  <a:srgbClr val="222222"/>
                </a:solidFill>
                <a:latin typeface="Consolas"/>
              </a:rPr>
              <a:t>[ok] baseline established with the tool's automatic optimisations disabled</a:t>
            </a:r>
          </a:p>
          <a:p>
            <a:pPr>
              <a:spcAft>
                <a:spcPts val="100"/>
              </a:spcAft>
            </a:pPr>
            <a:r>
              <a:rPr sz="1050" b="0">
                <a:solidFill>
                  <a:srgbClr val="222222"/>
                </a:solidFill>
                <a:latin typeface="Consolas"/>
              </a:rPr>
              <a:t>[ok] each pragma measured in isolation, then in combination</a:t>
            </a:r>
          </a:p>
          <a:p>
            <a:pPr>
              <a:spcAft>
                <a:spcPts val="100"/>
              </a:spcAft>
            </a:pPr>
            <a:r>
              <a:rPr sz="1050" b="0">
                <a:solidFill>
                  <a:srgbClr val="222222"/>
                </a:solidFill>
                <a:latin typeface="Consolas"/>
              </a:rPr>
              <a:t>[ok] ARRAY_PARTITION alone      -&gt; no effect whatsoever</a:t>
            </a:r>
          </a:p>
          <a:p>
            <a:pPr>
              <a:spcAft>
                <a:spcPts val="100"/>
              </a:spcAft>
            </a:pPr>
            <a:r>
              <a:rPr sz="1050" b="0">
                <a:solidFill>
                  <a:srgbClr val="222222"/>
                </a:solidFill>
                <a:latin typeface="Consolas"/>
              </a:rPr>
              <a:t>[ok] PIPELINE placement         -&gt; 3.3x on the inner loop, 10.2x one level up</a:t>
            </a:r>
          </a:p>
          <a:p>
            <a:pPr>
              <a:spcAft>
                <a:spcPts val="100"/>
              </a:spcAft>
            </a:pPr>
            <a:r>
              <a:rPr sz="1050" b="0">
                <a:solidFill>
                  <a:srgbClr val="222222"/>
                </a:solidFill>
                <a:latin typeface="Consolas"/>
              </a:rPr>
              <a:t>[ok] UNROLL                     -&gt; sub-linear, 16x hardware for 6.5x speed</a:t>
            </a:r>
          </a:p>
          <a:p>
            <a:pPr>
              <a:spcAft>
                <a:spcPts val="100"/>
              </a:spcAft>
            </a:pPr>
            <a:r>
              <a:rPr sz="1050" b="0">
                <a:solidFill>
                  <a:srgbClr val="222222"/>
                </a:solidFill>
                <a:latin typeface="Consolas"/>
              </a:rPr>
              <a:t>[ok] UNROLL + PARTITION         -&gt; pays only above the memory port limit</a:t>
            </a:r>
          </a:p>
          <a:p>
            <a:pPr>
              <a:spcAft>
                <a:spcPts val="100"/>
              </a:spcAft>
            </a:pPr>
            <a:r>
              <a:rPr sz="1050" b="0">
                <a:solidFill>
                  <a:srgbClr val="222222"/>
                </a:solidFill>
                <a:latin typeface="Consolas"/>
              </a:rPr>
              <a:t>[ok] best implementable result  -&gt; 518 cycles, 40.6x, 12% DSP, 7% LUT</a:t>
            </a:r>
          </a:p>
          <a:p>
            <a:pPr>
              <a:spcAft>
                <a:spcPts val="100"/>
              </a:spcAft>
            </a:pPr>
            <a:endParaRPr sz="1050" b="0">
              <a:solidFill>
                <a:srgbClr val="222222"/>
              </a:solidFill>
              <a:latin typeface="Consolas"/>
            </a:endParaRPr>
          </a:p>
          <a:p>
            <a:pPr>
              <a:spcAft>
                <a:spcPts val="100"/>
              </a:spcAft>
            </a:pPr>
            <a:r>
              <a:rPr sz="1050" b="0">
                <a:solidFill>
                  <a:srgbClr val="222222"/>
                </a:solidFill>
                <a:latin typeface="Consolas"/>
              </a:rPr>
              <a:t>[next] optional: DATAFLOW, ap_fixed types, larger N</a:t>
            </a:r>
          </a:p>
        </p:txBody>
      </p:sp>
      <p:sp>
        <p:nvSpPr>
          <p:cNvPr id="6" name="Rounded Rectangle 5"/>
          <p:cNvSpPr/>
          <p:nvPr/>
        </p:nvSpPr>
        <p:spPr>
          <a:xfrm>
            <a:off x="566928" y="3433572"/>
            <a:ext cx="11057839" cy="786384"/>
          </a:xfrm>
          <a:prstGeom prst="roundRect">
            <a:avLst>
              <a:gd name="adj" fmla="val 3000"/>
            </a:avLst>
          </a:prstGeom>
          <a:solidFill>
            <a:srgbClr val="E8F4F2"/>
          </a:solidFill>
          <a:ln w="15875">
            <a:solidFill>
              <a:srgbClr val="009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515868"/>
            <a:ext cx="10728655" cy="621792"/>
          </a:xfrm>
          <a:prstGeom prst="rect">
            <a:avLst/>
          </a:prstGeom>
          <a:noFill/>
        </p:spPr>
        <p:txBody>
          <a:bodyPr wrap="square">
            <a:spAutoFit/>
          </a:bodyPr>
          <a:lstStyle/>
          <a:p>
            <a:pPr>
              <a:spcAft>
                <a:spcPts val="200"/>
              </a:spcAft>
            </a:pPr>
            <a:r>
              <a:rPr sz="1200" b="0">
                <a:solidFill>
                  <a:srgbClr val="222222"/>
                </a:solidFill>
                <a:latin typeface="Arial"/>
              </a:rPr>
              <a:t>Hand in the table with your own numbers, one or two sentences per pragma on what changed in the hardware, and an argument for which configuration you would actually put on the board.</a:t>
            </a:r>
          </a:p>
        </p:txBody>
      </p:sp>
      <p:sp>
        <p:nvSpPr>
          <p:cNvPr id="8" name="TextBox 7"/>
          <p:cNvSpPr txBox="1"/>
          <p:nvPr/>
        </p:nvSpPr>
        <p:spPr>
          <a:xfrm>
            <a:off x="11277295" y="6437376"/>
            <a:ext cx="457200" cy="274320"/>
          </a:xfrm>
          <a:prstGeom prst="rect">
            <a:avLst/>
          </a:prstGeom>
          <a:noFill/>
        </p:spPr>
        <p:txBody>
          <a:bodyPr wrap="square">
            <a:spAutoFit/>
          </a:bodyPr>
          <a:lstStyle/>
          <a:p>
            <a:pPr>
              <a:spcAft>
                <a:spcPts val="600"/>
              </a:spcAft>
            </a:pPr>
            <a:r>
              <a:rPr sz="1000" b="0">
                <a:solidFill>
                  <a:srgbClr val="666666"/>
                </a:solidFill>
                <a:latin typeface="Arial"/>
              </a:rPr>
              <a:t>13</a:t>
            </a:r>
          </a:p>
        </p:txBody>
      </p:sp>
    </p:spTree>
  </p:cSld>
  <p:clrMapOvr>
    <a:masterClrMapping/>
  </p:clrMapOvr>
</p:sld>
</file>

<file path=ppt/theme/theme1.xml><?xml version="1.0" encoding="utf-8"?>
<a:theme xmlns:a="http://schemas.openxmlformats.org/drawingml/2006/main" name="Design1">
  <a:themeElements>
    <a:clrScheme name="KIT">
      <a:dk1>
        <a:sysClr val="windowText" lastClr="000000"/>
      </a:dk1>
      <a:lt1>
        <a:sysClr val="window" lastClr="FFFFFF"/>
      </a:lt1>
      <a:dk2>
        <a:srgbClr val="009682"/>
      </a:dk2>
      <a:lt2>
        <a:srgbClr val="D9D9D9"/>
      </a:lt2>
      <a:accent1>
        <a:srgbClr val="009682"/>
      </a:accent1>
      <a:accent2>
        <a:srgbClr val="4664AA"/>
      </a:accent2>
      <a:accent3>
        <a:srgbClr val="D9D9D9"/>
      </a:accent3>
      <a:accent4>
        <a:srgbClr val="4CB5A7"/>
      </a:accent4>
      <a:accent5>
        <a:srgbClr val="7D92C3"/>
      </a:accent5>
      <a:accent6>
        <a:srgbClr val="7FCAC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sign1" id="{D385F135-4BB1-4144-883F-BD663B3FA4BF}" vid="{9BD07EEE-6672-4655-8F7E-3FE0E154673F}"/>
    </a:ext>
  </a:extLst>
</a:theme>
</file>

<file path=docProps/app.xml><?xml version="1.0" encoding="utf-8"?>
<Properties xmlns="http://schemas.openxmlformats.org/officeDocument/2006/extended-properties" xmlns:vt="http://schemas.openxmlformats.org/officeDocument/2006/docPropsVTypes">
  <Template>CES_ppt_template-1</Template>
  <TotalTime>14</TotalTime>
  <Words>1485</Words>
  <Application>Microsoft Macintosh PowerPoint</Application>
  <PresentationFormat>Widescreen</PresentationFormat>
  <Paragraphs>246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Consolas</vt:lpstr>
      <vt:lpstr>Design1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urelg</cp:lastModifiedBy>
  <cp:revision>2</cp:revision>
  <dcterms:created xsi:type="dcterms:W3CDTF">2013-01-27T09:14:16Z</dcterms:created>
  <dcterms:modified xsi:type="dcterms:W3CDTF">2026-08-03T02:15:14Z</dcterms:modified>
  <cp:category/>
</cp:coreProperties>
</file>