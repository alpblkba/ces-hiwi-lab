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0"/>
  </p:notesMasterIdLst>
  <p:sldIdLst>
    <p:sldId id="264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25" r:id="rId13"/>
    <p:sldId id="337" r:id="rId14"/>
    <p:sldId id="338" r:id="rId15"/>
    <p:sldId id="326" r:id="rId16"/>
    <p:sldId id="339" r:id="rId17"/>
    <p:sldId id="340" r:id="rId18"/>
    <p:sldId id="341" r:id="rId19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4" autoAdjust="0"/>
    <p:restoredTop sz="96301" autoAdjust="0"/>
  </p:normalViewPr>
  <p:slideViewPr>
    <p:cSldViewPr snapToGrid="0">
      <p:cViewPr varScale="1">
        <p:scale>
          <a:sx n="163" d="100"/>
          <a:sy n="163" d="100"/>
        </p:scale>
        <p:origin x="656" y="176"/>
      </p:cViewPr>
      <p:guideLst>
        <p:guide orient="horz" pos="1620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F02CA-77CB-4E54-B712-21E588799EE8}" type="datetimeFigureOut">
              <a:rPr lang="de-DE" smtClean="0"/>
              <a:t>03.08.26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F729A-0AF0-4995-B32B-9504BC68960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79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4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68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2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36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0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04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8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72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DE3DA4-1A9A-4B49-B924-215979D2E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0" y="2727552"/>
            <a:ext cx="8935697" cy="2029108"/>
          </a:xfrm>
          <a:prstGeom prst="rect">
            <a:avLst/>
          </a:prstGeom>
        </p:spPr>
      </p:pic>
      <p:sp>
        <p:nvSpPr>
          <p:cNvPr id="8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254000" y="1465788"/>
            <a:ext cx="8524557" cy="75128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600" b="1"/>
            </a:lvl1pPr>
            <a:lvl2pPr marL="355600" indent="0">
              <a:buFont typeface="Arial" panose="020B0604020202020204" pitchFamily="34" charset="0"/>
              <a:buNone/>
              <a:defRPr sz="2600" b="1"/>
            </a:lvl2pPr>
            <a:lvl3pPr marL="717550" indent="0">
              <a:buFont typeface="Arial" panose="020B0604020202020204" pitchFamily="34" charset="0"/>
              <a:buNone/>
              <a:defRPr sz="2600" b="1"/>
            </a:lvl3pPr>
            <a:lvl4pPr marL="1073150" indent="0">
              <a:buFont typeface="Arial" panose="020B0604020202020204" pitchFamily="34" charset="0"/>
              <a:buNone/>
              <a:defRPr sz="2600" b="1"/>
            </a:lvl4pPr>
            <a:lvl5pPr marL="1435100" indent="0">
              <a:buFont typeface="Arial" panose="020B0604020202020204" pitchFamily="34" charset="0"/>
              <a:buNone/>
              <a:defRPr sz="2600" b="1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title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00" y="4895776"/>
            <a:ext cx="3606670" cy="126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825" noProof="0" dirty="0"/>
              <a:t>KIT – The Research University in the Helmholtz Association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18375" y="4826105"/>
            <a:ext cx="17272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1600" b="1" dirty="0">
                <a:solidFill>
                  <a:schemeClr val="tx1"/>
                </a:solidFill>
              </a:rPr>
              <a:t>ces.itec.kit.edu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70E65B-29E8-4B34-8C2D-4A01E1FD96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360000"/>
            <a:ext cx="1621550" cy="7512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30C395-2F6A-4527-8B16-1851C169BF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024" y="360000"/>
            <a:ext cx="1874976" cy="595304"/>
          </a:xfrm>
          <a:prstGeom prst="rect">
            <a:avLst/>
          </a:prstGeom>
        </p:spPr>
      </p:pic>
      <p:sp>
        <p:nvSpPr>
          <p:cNvPr id="2" name="Textplatzhalter 18">
            <a:extLst>
              <a:ext uri="{FF2B5EF4-FFF2-40B4-BE49-F238E27FC236}">
                <a16:creationId xmlns:a16="http://schemas.microsoft.com/office/drawing/2014/main" id="{6A260E99-0BCE-C497-80F5-5071FAA536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4000" y="2883528"/>
            <a:ext cx="8636000" cy="10377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55600" indent="0">
              <a:buFont typeface="Arial" panose="020B0604020202020204" pitchFamily="34" charset="0"/>
              <a:buNone/>
              <a:defRPr sz="2600" b="1"/>
            </a:lvl2pPr>
            <a:lvl3pPr marL="717550" indent="0">
              <a:buFont typeface="Arial" panose="020B0604020202020204" pitchFamily="34" charset="0"/>
              <a:buNone/>
              <a:defRPr sz="2600" b="1"/>
            </a:lvl3pPr>
            <a:lvl4pPr marL="1073150" indent="0">
              <a:buFont typeface="Arial" panose="020B0604020202020204" pitchFamily="34" charset="0"/>
              <a:buNone/>
              <a:defRPr sz="2600" b="1"/>
            </a:lvl4pPr>
            <a:lvl5pPr marL="1435100" indent="0">
              <a:buFont typeface="Arial" panose="020B0604020202020204" pitchFamily="34" charset="0"/>
              <a:buNone/>
              <a:defRPr sz="2600" b="1"/>
            </a:lvl5pPr>
          </a:lstStyle>
          <a:p>
            <a:pPr lvl="0"/>
            <a:r>
              <a:rPr lang="en-US" noProof="0" dirty="0"/>
              <a:t>Click to add Authors, Subtitle, Description, Comments, etc.</a:t>
            </a:r>
          </a:p>
        </p:txBody>
      </p:sp>
      <p:sp>
        <p:nvSpPr>
          <p:cNvPr id="3" name="Textplatzhalter 18">
            <a:extLst>
              <a:ext uri="{FF2B5EF4-FFF2-40B4-BE49-F238E27FC236}">
                <a16:creationId xmlns:a16="http://schemas.microsoft.com/office/drawing/2014/main" id="{D7360E02-3185-A131-CEFC-E55C6464B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4049484"/>
            <a:ext cx="8636000" cy="5506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55600" indent="0">
              <a:buFont typeface="Arial" panose="020B0604020202020204" pitchFamily="34" charset="0"/>
              <a:buNone/>
              <a:defRPr sz="2600" b="1"/>
            </a:lvl2pPr>
            <a:lvl3pPr marL="717550" indent="0">
              <a:buFont typeface="Arial" panose="020B0604020202020204" pitchFamily="34" charset="0"/>
              <a:buNone/>
              <a:defRPr sz="2600" b="1"/>
            </a:lvl3pPr>
            <a:lvl4pPr marL="1073150" indent="0">
              <a:buFont typeface="Arial" panose="020B0604020202020204" pitchFamily="34" charset="0"/>
              <a:buNone/>
              <a:defRPr sz="2600" b="1"/>
            </a:lvl4pPr>
            <a:lvl5pPr marL="1435100" indent="0">
              <a:buFont typeface="Arial" panose="020B0604020202020204" pitchFamily="34" charset="0"/>
              <a:buNone/>
              <a:defRPr sz="2600" b="1"/>
            </a:lvl5pPr>
          </a:lstStyle>
          <a:p>
            <a:pPr lvl="0"/>
            <a:r>
              <a:rPr lang="en-US" noProof="0" dirty="0"/>
              <a:t>Click to add Acknowledgement, Project name, etc.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190524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1188000"/>
            <a:ext cx="8343900" cy="336589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696EC4-B4CF-4701-AD06-A8439D6D8E12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40BE303-A4F2-4BCB-AF82-DC9DDFB7C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0050" y="1188000"/>
            <a:ext cx="4114800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188000"/>
            <a:ext cx="4114799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43A9179C-E631-47AA-B9CB-ABFD8F596650}" type="datetime1">
              <a:rPr lang="de-DE" smtClean="0"/>
              <a:t>03.08.26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8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0050" y="1188000"/>
            <a:ext cx="2706624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17545" y="1188000"/>
            <a:ext cx="2706624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43A9179C-E631-47AA-B9CB-ABFD8F596650}" type="datetime1">
              <a:rPr lang="de-DE" smtClean="0"/>
              <a:t>03.08.26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6035040" y="1188000"/>
            <a:ext cx="2706624" cy="344615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063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4655819" y="1188720"/>
            <a:ext cx="4100831" cy="3459481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 dirty="0"/>
              <a:t>Please insert a picture in the master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0050" y="1188000"/>
            <a:ext cx="4114800" cy="34461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43A9179C-E631-47AA-B9CB-ABFD8F596650}" type="datetime1">
              <a:rPr lang="de-DE" smtClean="0"/>
              <a:t>03.08.26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11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0050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0050" y="1937441"/>
            <a:ext cx="4098132" cy="270623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818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818" y="1937441"/>
            <a:ext cx="4098132" cy="27062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88C61DB6-D53F-456D-8864-56CE29C6E6BA}" type="datetime1">
              <a:rPr lang="de-DE" smtClean="0"/>
              <a:t>03.08.26</a:t>
            </a:fld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E438375-C357-462F-AB62-257249F8E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4655819" y="1943101"/>
            <a:ext cx="4100831" cy="2705099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 dirty="0"/>
              <a:t>Please insert a picture in the master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0050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0050" y="1937441"/>
            <a:ext cx="4098132" cy="270623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818" y="1188000"/>
            <a:ext cx="4098132" cy="61812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 altLang="de-DE" dirty="0"/>
              <a:t>Click to add subline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88C61DB6-D53F-456D-8864-56CE29C6E6BA}" type="datetime1">
              <a:rPr lang="de-DE" smtClean="0"/>
              <a:t>03.08.26</a:t>
            </a:fld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E438375-C357-462F-AB62-257249F8E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4747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0A1BF2A7-198D-4BCD-8375-CAC66677F609}" type="datetime1">
              <a:rPr lang="de-DE" smtClean="0"/>
              <a:t>03.08.26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328420"/>
            <a:ext cx="9144000" cy="3304540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en-US" dirty="0"/>
              <a:t>Please insert a picture in the master slide</a:t>
            </a:r>
          </a:p>
        </p:txBody>
      </p:sp>
    </p:spTree>
    <p:extLst>
      <p:ext uri="{BB962C8B-B14F-4D97-AF65-F5344CB8AC3E}">
        <p14:creationId xmlns:p14="http://schemas.microsoft.com/office/powerpoint/2010/main" val="96995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0A1BF2A7-198D-4BCD-8375-CAC66677F609}" type="datetime1">
              <a:rPr lang="de-DE" smtClean="0"/>
              <a:t>03.08.26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2" name="Rechteck 1"/>
          <p:cNvSpPr/>
          <p:nvPr userDrawn="1"/>
        </p:nvSpPr>
        <p:spPr>
          <a:xfrm>
            <a:off x="0" y="4652492"/>
            <a:ext cx="9144000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328419"/>
            <a:ext cx="9144000" cy="3419793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en-US" dirty="0"/>
              <a:t>Please insert a picture in the master slide</a:t>
            </a:r>
          </a:p>
        </p:txBody>
      </p:sp>
    </p:spTree>
    <p:extLst>
      <p:ext uri="{BB962C8B-B14F-4D97-AF65-F5344CB8AC3E}">
        <p14:creationId xmlns:p14="http://schemas.microsoft.com/office/powerpoint/2010/main" val="367106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0A1BF2A7-198D-4BCD-8375-CAC66677F609}" type="datetime1">
              <a:rPr lang="de-DE" smtClean="0"/>
              <a:t>03.08.26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6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EF9F2463-8150-4DAA-877D-A146C8C8C60A}" type="datetime1">
              <a:rPr lang="de-DE" smtClean="0"/>
              <a:t>03.08.26</a:t>
            </a:fld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272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61640" y="1188000"/>
            <a:ext cx="4882310" cy="320914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 marL="1076612" indent="0">
              <a:buNone/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0051" y="1188001"/>
            <a:ext cx="3178969" cy="3209146"/>
          </a:xfrm>
        </p:spPr>
        <p:txBody>
          <a:bodyPr/>
          <a:lstStyle>
            <a:lvl1pPr marL="0" indent="0">
              <a:buNone/>
              <a:defRPr sz="1200"/>
            </a:lvl1pPr>
            <a:lvl2pPr marL="342991" indent="0">
              <a:buNone/>
              <a:defRPr sz="1050"/>
            </a:lvl2pPr>
            <a:lvl3pPr marL="685983" indent="0">
              <a:buNone/>
              <a:defRPr sz="900"/>
            </a:lvl3pPr>
            <a:lvl4pPr marL="1028974" indent="0">
              <a:buNone/>
              <a:defRPr sz="750"/>
            </a:lvl4pPr>
            <a:lvl5pPr marL="1371966" indent="0">
              <a:buNone/>
              <a:defRPr sz="750"/>
            </a:lvl5pPr>
            <a:lvl6pPr marL="1714957" indent="0">
              <a:buNone/>
              <a:defRPr sz="750"/>
            </a:lvl6pPr>
            <a:lvl7pPr marL="2057949" indent="0">
              <a:buNone/>
              <a:defRPr sz="750"/>
            </a:lvl7pPr>
            <a:lvl8pPr marL="2400940" indent="0">
              <a:buNone/>
              <a:defRPr sz="750"/>
            </a:lvl8pPr>
            <a:lvl9pPr marL="2743932" indent="0">
              <a:buNone/>
              <a:defRPr sz="750"/>
            </a:lvl9pPr>
          </a:lstStyle>
          <a:p>
            <a:pPr lvl="0"/>
            <a:r>
              <a:rPr lang="en-US" altLang="de-DE" dirty="0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224C4683-D191-47F3-8302-BB2B36B1C86A}" type="datetime1">
              <a:rPr lang="de-DE" smtClean="0"/>
              <a:t>03.08.26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F47D9EC-E3C8-4173-84B3-DB5A91069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20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43915" y="468662"/>
            <a:ext cx="5471285" cy="3112861"/>
          </a:xfrm>
        </p:spPr>
        <p:txBody>
          <a:bodyPr anchor="t"/>
          <a:lstStyle>
            <a:lvl1pPr marL="0" indent="0">
              <a:buNone/>
              <a:defRPr sz="2401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r>
              <a:rPr lang="de-DE" dirty="0"/>
              <a:t>Bild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5E89BE91-4B1C-4025-AE57-60317864A3F3}" type="datetime1">
              <a:rPr lang="de-DE" smtClean="0"/>
              <a:t>03.08.26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4D6481-F98B-45EE-B6D0-BF8C42A11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3914" y="3628492"/>
            <a:ext cx="5468677" cy="4252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119134-5DDA-43C1-B0D4-2BD9056B0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46522" y="4099062"/>
            <a:ext cx="5468677" cy="57736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91" indent="0">
              <a:buNone/>
              <a:defRPr sz="1050"/>
            </a:lvl2pPr>
            <a:lvl3pPr marL="685983" indent="0">
              <a:buNone/>
              <a:defRPr sz="900"/>
            </a:lvl3pPr>
            <a:lvl4pPr marL="1028974" indent="0">
              <a:buNone/>
              <a:defRPr sz="750"/>
            </a:lvl4pPr>
            <a:lvl5pPr marL="1371966" indent="0">
              <a:buNone/>
              <a:defRPr sz="750"/>
            </a:lvl5pPr>
            <a:lvl6pPr marL="1714957" indent="0">
              <a:buNone/>
              <a:defRPr sz="750"/>
            </a:lvl6pPr>
            <a:lvl7pPr marL="2057949" indent="0">
              <a:buNone/>
              <a:defRPr sz="750"/>
            </a:lvl7pPr>
            <a:lvl8pPr marL="2400940" indent="0">
              <a:buNone/>
              <a:defRPr sz="750"/>
            </a:lvl8pPr>
            <a:lvl9pPr marL="2743932" indent="0">
              <a:buNone/>
              <a:defRPr sz="750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</p:spTree>
    <p:extLst>
      <p:ext uri="{BB962C8B-B14F-4D97-AF65-F5344CB8AC3E}">
        <p14:creationId xmlns:p14="http://schemas.microsoft.com/office/powerpoint/2010/main" val="143674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00050" y="1068308"/>
            <a:ext cx="8343900" cy="351266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3AD15D93-083F-4B89-951E-D5F35A1BBEC8}" type="datetime1">
              <a:rPr lang="de-DE" smtClean="0"/>
              <a:t>03.08.26</a:t>
            </a:fld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AF9471-6F4B-417A-9B82-1D3AC42AE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6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770387" y="273928"/>
            <a:ext cx="1971675" cy="4360224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01940" y="273928"/>
            <a:ext cx="6225572" cy="436022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/>
          <a:lstStyle/>
          <a:p>
            <a:fld id="{90C3E158-F33A-4782-AFB5-03A3FD6F0AB2}" type="datetime1">
              <a:rPr lang="de-DE" smtClean="0"/>
              <a:t>03.08.26</a:t>
            </a:fld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36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000" y="1187341"/>
            <a:ext cx="8351999" cy="33936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altLang="de-DE" dirty="0"/>
              <a:t>Karlsruher Institute </a:t>
            </a:r>
            <a:r>
              <a:rPr lang="de-DE" altLang="de-DE" dirty="0" err="1"/>
              <a:t>for</a:t>
            </a:r>
            <a:r>
              <a:rPr lang="de-DE" altLang="de-DE" dirty="0"/>
              <a:t> Technology (KIT).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           </a:t>
            </a:r>
          </a:p>
        </p:txBody>
      </p:sp>
      <p:cxnSp>
        <p:nvCxnSpPr>
          <p:cNvPr id="12" name="Gerade Verbindung 11"/>
          <p:cNvCxnSpPr/>
          <p:nvPr userDrawn="1"/>
        </p:nvCxnSpPr>
        <p:spPr>
          <a:xfrm>
            <a:off x="107947" y="4741374"/>
            <a:ext cx="864005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49C6492B-9F9B-4588-8AB6-62DBF42A6EA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00" y="331200"/>
            <a:ext cx="1079999" cy="500374"/>
          </a:xfrm>
          <a:prstGeom prst="rect">
            <a:avLst/>
          </a:prstGeom>
        </p:spPr>
      </p:pic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627234" y="4748824"/>
            <a:ext cx="1027755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440409C-9897-4940-8DB3-931E759C1E19}" type="datetime3">
              <a:rPr lang="en-US" smtClean="0"/>
              <a:pPr/>
              <a:t>3 August 2026</a:t>
            </a:fld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000" y="4748824"/>
            <a:ext cx="326368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chemeClr val="tx1"/>
                </a:solidFill>
              </a:defRPr>
            </a:lvl1pPr>
          </a:lstStyle>
          <a:p>
            <a:fld id="{61696EC4-B4CF-4701-AD06-A8439D6D8E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4D87B36-D57F-487F-9086-156B2F77E750}"/>
              </a:ext>
            </a:extLst>
          </p:cNvPr>
          <p:cNvSpPr txBox="1">
            <a:spLocks/>
          </p:cNvSpPr>
          <p:nvPr userDrawn="1"/>
        </p:nvSpPr>
        <p:spPr>
          <a:xfrm>
            <a:off x="1700330" y="4748824"/>
            <a:ext cx="3681295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900" dirty="0"/>
              <a:t>Customized Embedded Processors Lab</a:t>
            </a:r>
            <a:endParaRPr lang="de-DE" sz="900" b="1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AE6A56DB-B5EE-4225-952A-4A1FEE4F4716}"/>
              </a:ext>
            </a:extLst>
          </p:cNvPr>
          <p:cNvSpPr txBox="1">
            <a:spLocks/>
          </p:cNvSpPr>
          <p:nvPr userDrawn="1"/>
        </p:nvSpPr>
        <p:spPr>
          <a:xfrm>
            <a:off x="4427973" y="4741374"/>
            <a:ext cx="3464002" cy="39626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noProof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ces.itec.kit.edu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E066C-2E1A-4557-8C6F-F307995973B5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144" y="4813887"/>
            <a:ext cx="771855" cy="24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4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90" r:id="rId4"/>
    <p:sldLayoutId id="2147483687" r:id="rId5"/>
    <p:sldLayoutId id="2147483678" r:id="rId6"/>
    <p:sldLayoutId id="2147483686" r:id="rId7"/>
    <p:sldLayoutId id="2147483688" r:id="rId8"/>
    <p:sldLayoutId id="2147483689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</p:sldLayoutIdLst>
  <p:hf hdr="0" ftr="0"/>
  <p:txStyles>
    <p:titleStyle>
      <a:lvl1pPr algn="l" defTabSz="685983" rtl="0" eaLnBrk="1" latinLnBrk="0" hangingPunct="1">
        <a:lnSpc>
          <a:spcPct val="90000"/>
        </a:lnSpc>
        <a:spcBef>
          <a:spcPct val="0"/>
        </a:spcBef>
        <a:buNone/>
        <a:defRPr lang="en-US" sz="2400" b="1" kern="120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03652" indent="-203652" algn="l" defTabSz="685983" rtl="0" eaLnBrk="1" latinLnBrk="0" hangingPunct="1">
        <a:lnSpc>
          <a:spcPct val="100000"/>
        </a:lnSpc>
        <a:spcBef>
          <a:spcPts val="360"/>
        </a:spcBef>
        <a:buSzPct val="88000"/>
        <a:buFontTx/>
        <a:buBlip>
          <a:blip r:embed="rId19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70423" indent="-203652" algn="l" defTabSz="68598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19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7194" indent="-198888" algn="l" defTabSz="67407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19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729" indent="-203652" algn="l" defTabSz="68598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19"/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5500" indent="-198888" algn="l" defTabSz="685983" rtl="0" eaLnBrk="1" latinLnBrk="0" hangingPunct="1">
        <a:lnSpc>
          <a:spcPct val="90000"/>
        </a:lnSpc>
        <a:spcBef>
          <a:spcPts val="360"/>
        </a:spcBef>
        <a:buSzPct val="88000"/>
        <a:buFontTx/>
        <a:buBlip>
          <a:blip r:embed="rId19"/>
        </a:buBlip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6859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3" orient="horz" pos="464" userDrawn="1">
          <p15:clr>
            <a:srgbClr val="F26B43"/>
          </p15:clr>
        </p15:guide>
        <p15:guide id="4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ilinx/Vitis-HLS-Introductory-Exampl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ilinx/Vitis-HLS-Introductory-Exampl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25A6D-97B9-05F8-95C8-04ED06F2A0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Lab 3 — Pragma-Based Design-Space Exploration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CE84E4-3539-32D9-669C-E8C7EAC864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How to take a DNN kernel from plain C to a working accelerator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2624CA-8EEA-30D2-7165-8416435F25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Customized Embedded Processors Lab  ·  Vitis HLS 2022.2  ·  Blackboard (xc7z007s)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79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2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What this lab is about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3431228"/>
          </a:xfrm>
        </p:spPr>
        <p:txBody>
          <a:bodyPr wrap="square"/>
          <a:lstStyle/>
          <a:p>
            <a:r>
              <a:rPr sz="1500">
                <a:latin typeface="Arial"/>
              </a:rPr>
              <a:t>Labs 1 and 2 had you write RTL directly — the VHDL was, more or less, the circuit you got.</a:t>
            </a:r>
          </a:p>
          <a:p>
            <a:r>
              <a:rPr sz="1500">
                <a:latin typeface="Arial"/>
              </a:rPr>
              <a:t>This lab works one level up: you write C/C++, and Vitis HLS turns it into RTL for you.</a:t>
            </a:r>
          </a:p>
          <a:p>
            <a:r>
              <a:rPr sz="1500">
                <a:latin typeface="Arial"/>
              </a:rPr>
              <a:t>The target is a DNN building block — the multiply-accumulate loops at the core of every neural-network layer, and the kind of workload this lab's accelerator work will build on.</a:t>
            </a:r>
          </a:p>
          <a:p>
            <a:r>
              <a:rPr sz="1500">
                <a:latin typeface="Arial"/>
              </a:rPr>
              <a:t>Task 3.1: get a small DNN kernel synthesizing, no optimisation. Task 3.2: apply three specific pragmas and see exactly what each one buys you.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3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Pragmas are not just better C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3431228"/>
          </a:xfrm>
        </p:spPr>
        <p:txBody>
          <a:bodyPr wrap="square"/>
          <a:lstStyle/>
          <a:p>
            <a:r>
              <a:rPr sz="1500" dirty="0">
                <a:latin typeface="Arial"/>
              </a:rPr>
              <a:t>C is sequential </a:t>
            </a:r>
            <a:r>
              <a:rPr lang="en-US" sz="1500" dirty="0">
                <a:latin typeface="Arial"/>
              </a:rPr>
              <a:t>which means that</a:t>
            </a:r>
            <a:r>
              <a:rPr sz="1500" dirty="0">
                <a:latin typeface="Arial"/>
              </a:rPr>
              <a:t> one statement finishes before the next starts. Hardware doesn't have to be</a:t>
            </a:r>
            <a:r>
              <a:rPr lang="en-US" sz="1500" dirty="0">
                <a:latin typeface="Arial"/>
              </a:rPr>
              <a:t>, since</a:t>
            </a:r>
            <a:r>
              <a:rPr sz="1500" dirty="0">
                <a:latin typeface="Arial"/>
              </a:rPr>
              <a:t> several things can happen on the same clock edge.</a:t>
            </a:r>
          </a:p>
          <a:p>
            <a:r>
              <a:rPr sz="1500" dirty="0">
                <a:latin typeface="Arial"/>
              </a:rPr>
              <a:t>Turning your C into RTL means inventing an architecture</a:t>
            </a:r>
            <a:r>
              <a:rPr lang="en-US" sz="1500" dirty="0">
                <a:latin typeface="Arial"/>
              </a:rPr>
              <a:t> with</a:t>
            </a:r>
            <a:r>
              <a:rPr sz="1500" dirty="0">
                <a:latin typeface="Arial"/>
              </a:rPr>
              <a:t> how many adders, how many memory ports, what runs in parallel</a:t>
            </a:r>
            <a:r>
              <a:rPr lang="en-US" sz="1500" dirty="0">
                <a:latin typeface="Arial"/>
              </a:rPr>
              <a:t> or in which schedule</a:t>
            </a:r>
            <a:r>
              <a:rPr sz="1500" dirty="0">
                <a:latin typeface="Arial"/>
              </a:rPr>
              <a:t>. Plain C gives the tool no basis to be ambitious.</a:t>
            </a:r>
          </a:p>
          <a:p>
            <a:r>
              <a:rPr sz="1500" b="1" dirty="0">
                <a:latin typeface="Arial"/>
              </a:rPr>
              <a:t>A pragma </a:t>
            </a:r>
            <a:r>
              <a:rPr sz="1500" dirty="0">
                <a:latin typeface="Arial"/>
              </a:rPr>
              <a:t>is a directive that tells the compiler how to build it</a:t>
            </a:r>
            <a:r>
              <a:rPr lang="en-US" sz="1500" dirty="0">
                <a:latin typeface="Arial"/>
              </a:rPr>
              <a:t>,</a:t>
            </a:r>
            <a:r>
              <a:rPr sz="1500" dirty="0">
                <a:latin typeface="Arial"/>
              </a:rPr>
              <a:t> parallelize this loop, duplicate this hardware, split this memory</a:t>
            </a:r>
            <a:r>
              <a:rPr lang="en-US" sz="1500" dirty="0">
                <a:latin typeface="Arial"/>
              </a:rPr>
              <a:t> </a:t>
            </a:r>
            <a:r>
              <a:rPr sz="1500" dirty="0">
                <a:latin typeface="Arial"/>
              </a:rPr>
              <a:t>without changing what the code computes.</a:t>
            </a:r>
          </a:p>
          <a:p>
            <a:r>
              <a:rPr sz="1500" dirty="0">
                <a:latin typeface="Arial"/>
              </a:rPr>
              <a:t>Today</a:t>
            </a:r>
            <a:r>
              <a:rPr lang="en-US" sz="1500" dirty="0">
                <a:latin typeface="Arial"/>
              </a:rPr>
              <a:t> we will learn </a:t>
            </a:r>
            <a:r>
              <a:rPr sz="1500" dirty="0">
                <a:latin typeface="Arial"/>
              </a:rPr>
              <a:t>three pragmas, each aimed at a different part of that architecture decision.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4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The pragma toolbox is more than three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2950000"/>
          </a:xfrm>
        </p:spPr>
        <p:txBody>
          <a:bodyPr wrap="square"/>
          <a:lstStyle/>
          <a:p>
            <a:r>
              <a:rPr sz="1400" b="1" dirty="0">
                <a:latin typeface="Arial"/>
              </a:rPr>
              <a:t>Loop transformation — </a:t>
            </a:r>
            <a:r>
              <a:rPr sz="1400" dirty="0">
                <a:latin typeface="Arial"/>
              </a:rPr>
              <a:t>PIPELINE (overlap iterations), UNROLL (duplicate the loop body). Today's focus.</a:t>
            </a:r>
          </a:p>
          <a:p>
            <a:r>
              <a:rPr sz="1400" b="1" dirty="0">
                <a:latin typeface="Arial"/>
              </a:rPr>
              <a:t>Memory — </a:t>
            </a:r>
            <a:r>
              <a:rPr sz="1400" dirty="0">
                <a:latin typeface="Arial"/>
              </a:rPr>
              <a:t>ARRAY_PARTITION (split a memory for parallel access), ARRAY_RESHAPE (repacks into wider words). Partitioning is also today's focus.</a:t>
            </a:r>
          </a:p>
          <a:p>
            <a:r>
              <a:rPr sz="1400" b="1" dirty="0">
                <a:latin typeface="Arial"/>
              </a:rPr>
              <a:t>Interface — </a:t>
            </a:r>
            <a:r>
              <a:rPr sz="1400" dirty="0">
                <a:latin typeface="Arial"/>
              </a:rPr>
              <a:t>INTERFACE: how the function talks to the outside world (AXI, simple ports, …).</a:t>
            </a:r>
          </a:p>
          <a:p>
            <a:r>
              <a:rPr sz="1400" b="1" dirty="0">
                <a:latin typeface="Arial"/>
              </a:rPr>
              <a:t>Task level — </a:t>
            </a:r>
            <a:r>
              <a:rPr sz="1400" dirty="0">
                <a:latin typeface="Arial"/>
              </a:rPr>
              <a:t>DATAFLOW: lets whole functions or loops overlap, not just iterations within one loop.</a:t>
            </a:r>
          </a:p>
          <a:p>
            <a:r>
              <a:rPr sz="1400" b="1" dirty="0">
                <a:latin typeface="Arial"/>
              </a:rPr>
              <a:t>Also worth knowing — </a:t>
            </a:r>
            <a:r>
              <a:rPr sz="1400" dirty="0">
                <a:latin typeface="Arial"/>
              </a:rPr>
              <a:t>INLINE, LATENCY, ALLOCATION, LOOP_TRIPCOUNT.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3900000"/>
            <a:ext cx="801490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595959"/>
                </a:solidFill>
                <a:latin typeface="Arial"/>
              </a:rPr>
              <a:t>Full reference: Vitis HLS User Guide (UG1399), chapter “HLS Pragmas.” Or just type #pragma HLS in the editor — autocomplete lists the rest.</a:t>
            </a:r>
            <a:br>
              <a:rPr lang="en-US" sz="1300" i="1" dirty="0">
                <a:solidFill>
                  <a:srgbClr val="595959"/>
                </a:solidFill>
                <a:latin typeface="Arial"/>
              </a:rPr>
            </a:br>
            <a:r>
              <a:rPr lang="en-US" sz="1300" i="1" dirty="0">
                <a:solidFill>
                  <a:srgbClr val="595959"/>
                </a:solidFill>
                <a:latin typeface="Arial"/>
                <a:hlinkClick r:id="rId2"/>
              </a:rPr>
              <a:t>Vitis HLS Introductory Examples </a:t>
            </a:r>
            <a:r>
              <a:rPr lang="en-US" sz="1300" i="1" dirty="0" err="1">
                <a:solidFill>
                  <a:srgbClr val="595959"/>
                </a:solidFill>
                <a:latin typeface="Arial"/>
                <a:hlinkClick r:id="rId2"/>
              </a:rPr>
              <a:t>Github</a:t>
            </a:r>
            <a:r>
              <a:rPr lang="en-US" sz="1300" i="1" dirty="0">
                <a:solidFill>
                  <a:srgbClr val="595959"/>
                </a:solidFill>
                <a:latin typeface="Arial"/>
                <a:hlinkClick r:id="rId2"/>
              </a:rPr>
              <a:t> repository</a:t>
            </a:r>
            <a:endParaRPr sz="1300" i="1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950000"/>
          </a:xfrm>
        </p:spPr>
        <p:txBody>
          <a:bodyPr wrap="square"/>
          <a:lstStyle/>
          <a:p>
            <a:r>
              <a:rPr lang="en-US" sz="1400" dirty="0">
                <a:latin typeface="Arial"/>
              </a:rPr>
              <a:t>A pipeline </a:t>
            </a:r>
            <a:r>
              <a:rPr sz="1400" dirty="0">
                <a:latin typeface="Arial"/>
              </a:rPr>
              <a:t>lets iteration N+1 of a loop start before iteration N finishes</a:t>
            </a:r>
            <a:r>
              <a:rPr lang="en-US" sz="1400" dirty="0">
                <a:latin typeface="Arial"/>
              </a:rPr>
              <a:t>, i</a:t>
            </a:r>
            <a:r>
              <a:rPr sz="1400" dirty="0">
                <a:latin typeface="Arial"/>
              </a:rPr>
              <a:t>n assembly line, not one part at a time.</a:t>
            </a:r>
          </a:p>
          <a:p>
            <a:r>
              <a:rPr lang="en-US" sz="1400" dirty="0">
                <a:latin typeface="Arial"/>
              </a:rPr>
              <a:t>It goes </a:t>
            </a:r>
            <a:r>
              <a:rPr sz="1400" dirty="0">
                <a:latin typeface="Arial"/>
              </a:rPr>
              <a:t>inside the loop body, right after the for 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1900000"/>
            <a:ext cx="8014908" cy="10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400" dirty="0">
                <a:solidFill>
                  <a:srgbClr val="1A1A1A"/>
                </a:solidFill>
                <a:latin typeface="Courier New"/>
              </a:rPr>
              <a:t>prod: for (int k = 0; k &lt; N; k++) {</a:t>
            </a:r>
          </a:p>
          <a:p>
            <a:r>
              <a:rPr sz="1400" dirty="0">
                <a:solidFill>
                  <a:srgbClr val="1A1A1A"/>
                </a:solidFill>
                <a:latin typeface="Courier New"/>
              </a:rPr>
              <a:t>  #pragma HLS PIPELINE II=1</a:t>
            </a:r>
          </a:p>
          <a:p>
            <a:r>
              <a:rPr sz="1400" dirty="0">
                <a:solidFill>
                  <a:srgbClr val="1A1A1A"/>
                </a:solidFill>
                <a:latin typeface="Courier New"/>
              </a:rPr>
              <a:t>  acc += A[</a:t>
            </a:r>
            <a:r>
              <a:rPr sz="1400" dirty="0" err="1">
                <a:solidFill>
                  <a:srgbClr val="1A1A1A"/>
                </a:solidFill>
                <a:latin typeface="Courier New"/>
              </a:rPr>
              <a:t>i</a:t>
            </a:r>
            <a:r>
              <a:rPr sz="1400" dirty="0">
                <a:solidFill>
                  <a:srgbClr val="1A1A1A"/>
                </a:solidFill>
                <a:latin typeface="Courier New"/>
              </a:rPr>
              <a:t>][k] * B[k][j];</a:t>
            </a:r>
          </a:p>
          <a:p>
            <a:r>
              <a:rPr sz="1400" dirty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113" y="3050000"/>
            <a:ext cx="8014908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400" dirty="0">
                <a:latin typeface="Arial"/>
              </a:rPr>
              <a:t>II (initiation interval) is the main knob</a:t>
            </a:r>
            <a:r>
              <a:rPr lang="en-US" sz="1400" dirty="0">
                <a:latin typeface="Arial"/>
              </a:rPr>
              <a:t>.</a:t>
            </a:r>
            <a:r>
              <a:rPr sz="1400" dirty="0">
                <a:latin typeface="Arial"/>
              </a:rPr>
              <a:t> II=1 means a new iteration starts every clock cycle, the usual goal.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400" dirty="0">
                <a:latin typeface="Arial"/>
              </a:rPr>
              <a:t>You can pipeline a whole function too</a:t>
            </a:r>
            <a:r>
              <a:rPr lang="en-US" sz="1400" dirty="0">
                <a:latin typeface="Arial"/>
              </a:rPr>
              <a:t> by</a:t>
            </a:r>
            <a:r>
              <a:rPr sz="1400" dirty="0">
                <a:latin typeface="Arial"/>
              </a:rPr>
              <a:t> put</a:t>
            </a:r>
            <a:r>
              <a:rPr lang="en-US" sz="1400" dirty="0">
                <a:latin typeface="Arial"/>
              </a:rPr>
              <a:t>ting</a:t>
            </a:r>
            <a:r>
              <a:rPr sz="1400" dirty="0">
                <a:latin typeface="Arial"/>
              </a:rPr>
              <a:t> the pragma right after its opening brace instead of inside a loop.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6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UNROLL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1050000"/>
          </a:xfrm>
        </p:spPr>
        <p:txBody>
          <a:bodyPr wrap="square"/>
          <a:lstStyle/>
          <a:p>
            <a:r>
              <a:rPr lang="en-US" sz="1400" dirty="0">
                <a:latin typeface="Arial"/>
              </a:rPr>
              <a:t>Unroll </a:t>
            </a:r>
            <a:r>
              <a:rPr sz="1400" dirty="0">
                <a:latin typeface="Arial"/>
              </a:rPr>
              <a:t>makes N physical copies of the loop body, so N iterations really happen at once on N separate pieces of hardware instead of one piece reused N times.</a:t>
            </a:r>
          </a:p>
          <a:p>
            <a:r>
              <a:rPr lang="en-US" sz="1400" dirty="0">
                <a:latin typeface="Arial"/>
              </a:rPr>
              <a:t>It goes </a:t>
            </a:r>
            <a:r>
              <a:rPr sz="1400" dirty="0">
                <a:latin typeface="Arial"/>
              </a:rPr>
              <a:t>same place as PIPELINE</a:t>
            </a:r>
            <a:r>
              <a:rPr lang="en-US" sz="1400" dirty="0">
                <a:latin typeface="Arial"/>
              </a:rPr>
              <a:t>, </a:t>
            </a:r>
            <a:r>
              <a:rPr sz="1400" dirty="0">
                <a:latin typeface="Arial"/>
              </a:rPr>
              <a:t>inside the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2000000"/>
            <a:ext cx="8014908" cy="10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Courier New"/>
              </a:rPr>
              <a:t>prod: for (int k = 0; k &lt; N; k++) {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  #pragma HLS UNROLL factor=4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  acc += A[i][k] * B[k][j];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113" y="3150000"/>
            <a:ext cx="8014908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400" dirty="0">
                <a:latin typeface="Arial"/>
              </a:rPr>
              <a:t>Leave out factor</a:t>
            </a:r>
            <a:r>
              <a:rPr lang="en-US" sz="1400" dirty="0">
                <a:latin typeface="Arial"/>
              </a:rPr>
              <a:t> </a:t>
            </a:r>
            <a:r>
              <a:rPr sz="1400" dirty="0">
                <a:latin typeface="Arial"/>
              </a:rPr>
              <a:t>and the loop unrolls completely</a:t>
            </a:r>
            <a:r>
              <a:rPr lang="en-US" sz="1400" dirty="0">
                <a:latin typeface="Arial"/>
              </a:rPr>
              <a:t> so that </a:t>
            </a:r>
            <a:r>
              <a:rPr sz="1400" dirty="0">
                <a:latin typeface="Arial"/>
              </a:rPr>
              <a:t>every iteration gets its own hardware. Fine for a loop of 4; reckless for a loop of 4000.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400" dirty="0">
                <a:latin typeface="Arial"/>
              </a:rPr>
              <a:t>More hardware only helps if it can all be fed at once which is exactly what the next pragma is for.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7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ARRAY_PARTITION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1250000"/>
          </a:xfrm>
        </p:spPr>
        <p:txBody>
          <a:bodyPr wrap="square"/>
          <a:lstStyle/>
          <a:p>
            <a:r>
              <a:rPr sz="1400" dirty="0">
                <a:latin typeface="Arial"/>
              </a:rPr>
              <a:t>Th</a:t>
            </a:r>
            <a:r>
              <a:rPr lang="en-US" sz="1400" dirty="0">
                <a:latin typeface="Arial"/>
              </a:rPr>
              <a:t>e problem is that a</a:t>
            </a:r>
            <a:r>
              <a:rPr sz="1400" dirty="0">
                <a:latin typeface="Arial"/>
              </a:rPr>
              <a:t>n on-chip memory (BRAM) usually has one or two ports. Unroll a loop that reads an array four times per iteration, and three of your four new multipliers sit idle waiting for memory.</a:t>
            </a:r>
          </a:p>
          <a:p>
            <a:r>
              <a:rPr lang="en-US" sz="1400" dirty="0">
                <a:latin typeface="Arial"/>
              </a:rPr>
              <a:t>It </a:t>
            </a:r>
            <a:r>
              <a:rPr sz="1400" dirty="0">
                <a:latin typeface="Arial"/>
              </a:rPr>
              <a:t>splits one array into several smaller memories (or plain registers), so several elements can be read in the same 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2200000"/>
            <a:ext cx="8014908" cy="6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Courier New"/>
              </a:rPr>
              <a:t>data_t B[N][N];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#pragma HLS ARRAY_PARTITION variable=B type=cyclic factor=4 dim=2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113" y="3000000"/>
            <a:ext cx="8014908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400" dirty="0">
                <a:latin typeface="Arial"/>
              </a:rPr>
              <a:t>type=cyclic interleaves elements across partitions; type=block splits into contiguous chunks; type=complete gives every element its own register.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400" dirty="0">
                <a:latin typeface="Arial"/>
              </a:rPr>
              <a:t>Rule of thumb: partition the dimension your unrolled loop indexes, matching the factor to the unroll factor.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8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Finding your way around Vitis HLS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3431228"/>
          </a:xfrm>
        </p:spPr>
        <p:txBody>
          <a:bodyPr wrap="square"/>
          <a:lstStyle/>
          <a:p>
            <a:r>
              <a:rPr sz="1500" dirty="0">
                <a:latin typeface="Arial"/>
              </a:rPr>
              <a:t>You don't have to </a:t>
            </a:r>
            <a:r>
              <a:rPr sz="1500" dirty="0" err="1">
                <a:latin typeface="Arial"/>
              </a:rPr>
              <a:t>memorise</a:t>
            </a:r>
            <a:r>
              <a:rPr sz="1500" dirty="0">
                <a:latin typeface="Arial"/>
              </a:rPr>
              <a:t> pragma syntax: right-click a loop in the source view → Insert Directive lets you add PIPELINE / UNROLL / ARRAY_PARTITION from a menu, and it writes the pragma into your source for you.</a:t>
            </a:r>
          </a:p>
          <a:p>
            <a:r>
              <a:rPr sz="1500" dirty="0">
                <a:latin typeface="Arial"/>
              </a:rPr>
              <a:t>Run C Simulation first, it </a:t>
            </a:r>
            <a:r>
              <a:rPr lang="en-US" sz="1500" dirty="0">
                <a:latin typeface="Arial"/>
              </a:rPr>
              <a:t>always </a:t>
            </a:r>
            <a:r>
              <a:rPr sz="1500" dirty="0">
                <a:latin typeface="Arial"/>
              </a:rPr>
              <a:t>checks your C++ is correct, on your machine's own CPU, before you spend minutes synthesizing it.</a:t>
            </a:r>
          </a:p>
          <a:p>
            <a:r>
              <a:rPr sz="1500" dirty="0">
                <a:latin typeface="Arial"/>
              </a:rPr>
              <a:t>Run C Synthesis to produce the report. It lands under [solution]/syn/report/ and also opens automatically in the GUI.</a:t>
            </a:r>
          </a:p>
          <a:p>
            <a:pPr marL="0" indent="0">
              <a:buNone/>
            </a:pPr>
            <a:endParaRPr lang="en-US" sz="1500" b="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  <a:p>
            <a:pPr marL="0" indent="0">
              <a:buNone/>
            </a:pPr>
            <a:r>
              <a:rPr sz="15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Two sections matter here: “Performance Estimates” (latency, II) and “Utilization Estimates” (BRAM/DSP/FF/LUT, and % of the device). Everything else you can ignore for now.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9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Where to find a starting kernel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2950000"/>
          </a:xfrm>
        </p:spPr>
        <p:txBody>
          <a:bodyPr wrap="square"/>
          <a:lstStyle/>
          <a:p>
            <a:r>
              <a:rPr sz="1400" dirty="0">
                <a:latin typeface="Arial"/>
              </a:rPr>
              <a:t>You are not expected to write a DNN layer in C from</a:t>
            </a:r>
            <a:r>
              <a:rPr lang="en-US" sz="1400" dirty="0">
                <a:latin typeface="Arial"/>
              </a:rPr>
              <a:t> the</a:t>
            </a:r>
            <a:r>
              <a:rPr sz="1400" dirty="0">
                <a:latin typeface="Arial"/>
              </a:rPr>
              <a:t> </a:t>
            </a:r>
            <a:r>
              <a:rPr lang="en-US" sz="1400" dirty="0">
                <a:latin typeface="Arial"/>
              </a:rPr>
              <a:t>scratch; you can</a:t>
            </a:r>
            <a:r>
              <a:rPr sz="1400" dirty="0">
                <a:latin typeface="Arial"/>
              </a:rPr>
              <a:t> start from something that already exists.</a:t>
            </a:r>
          </a:p>
          <a:p>
            <a:r>
              <a:rPr sz="1400" b="1" dirty="0">
                <a:latin typeface="Arial"/>
              </a:rPr>
              <a:t>AMD/Xilinx's own example repository </a:t>
            </a:r>
            <a:r>
              <a:rPr sz="1400" dirty="0">
                <a:latin typeface="Arial"/>
              </a:rPr>
              <a:t>ships small, synthesizable Vitis HLS kernels, including matrix-multiply variants with pragmas already applied: </a:t>
            </a:r>
            <a:r>
              <a:rPr lang="en-US" sz="1400" dirty="0">
                <a:latin typeface="Arial"/>
                <a:hlinkClick r:id="rId2"/>
              </a:rPr>
              <a:t>Vitis HLS Introductory Examples</a:t>
            </a:r>
            <a:r>
              <a:rPr lang="en-US" sz="1400" dirty="0">
                <a:latin typeface="Arial"/>
              </a:rPr>
              <a:t> </a:t>
            </a:r>
            <a:r>
              <a:rPr sz="1400" dirty="0">
                <a:latin typeface="Arial"/>
              </a:rPr>
              <a:t>(layout on the next slide).</a:t>
            </a:r>
          </a:p>
          <a:p>
            <a:r>
              <a:rPr lang="en-US" sz="1400" b="1" dirty="0">
                <a:latin typeface="Arial"/>
              </a:rPr>
              <a:t>If you are starting from an actual trained network, </a:t>
            </a:r>
            <a:r>
              <a:rPr sz="1400" dirty="0">
                <a:latin typeface="Arial"/>
              </a:rPr>
              <a:t>hls4ml and Xilinx's FINN both convert a trained </a:t>
            </a:r>
            <a:r>
              <a:rPr sz="1400" dirty="0" err="1">
                <a:latin typeface="Arial"/>
              </a:rPr>
              <a:t>Keras</a:t>
            </a:r>
            <a:r>
              <a:rPr sz="1400" dirty="0">
                <a:latin typeface="Arial"/>
              </a:rPr>
              <a:t>/</a:t>
            </a:r>
            <a:r>
              <a:rPr sz="1400" dirty="0" err="1">
                <a:latin typeface="Arial"/>
              </a:rPr>
              <a:t>PyTorch</a:t>
            </a:r>
            <a:r>
              <a:rPr sz="1400" dirty="0">
                <a:latin typeface="Arial"/>
              </a:rPr>
              <a:t> model into synthesizable HLS C++.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3900000"/>
            <a:ext cx="80149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595959"/>
                </a:solidFill>
                <a:latin typeface="Arial"/>
              </a:rPr>
              <a:t>Pick something whose innermost loop runs more than ~8 times and reads an array more than once per iteration</a:t>
            </a:r>
            <a:r>
              <a:rPr lang="en-US" sz="1300" i="1" dirty="0">
                <a:solidFill>
                  <a:srgbClr val="595959"/>
                </a:solidFill>
                <a:latin typeface="Arial"/>
              </a:rPr>
              <a:t>, </a:t>
            </a:r>
            <a:r>
              <a:rPr sz="1300" i="1" dirty="0">
                <a:solidFill>
                  <a:srgbClr val="595959"/>
                </a:solidFill>
                <a:latin typeface="Arial"/>
              </a:rPr>
              <a:t>otherwise there's nothing for UNROLL/PARTITION to show.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10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Reading the repository layout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650000"/>
          </a:xfrm>
        </p:spPr>
        <p:txBody>
          <a:bodyPr wrap="square"/>
          <a:lstStyle/>
          <a:p>
            <a:r>
              <a:rPr sz="1400" dirty="0">
                <a:latin typeface="Arial"/>
              </a:rPr>
              <a:t>Every category below is a folder; every example folder has its own README, source, testbench, and a </a:t>
            </a:r>
            <a:r>
              <a:rPr sz="1400" dirty="0" err="1">
                <a:latin typeface="Arial"/>
              </a:rPr>
              <a:t>Tcl</a:t>
            </a:r>
            <a:r>
              <a:rPr sz="1400" dirty="0">
                <a:latin typeface="Arial"/>
              </a:rPr>
              <a:t>/Python run script</a:t>
            </a:r>
            <a:r>
              <a:rPr lang="en-US" sz="1400" dirty="0">
                <a:latin typeface="Arial"/>
              </a:rPr>
              <a:t>, </a:t>
            </a:r>
            <a:r>
              <a:rPr sz="1400" dirty="0">
                <a:latin typeface="Arial"/>
              </a:rPr>
              <a:t>you can study the whole approach, not just borrow a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1650000"/>
            <a:ext cx="8014908" cy="23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dirty="0">
                <a:solidFill>
                  <a:srgbClr val="1A1A1A"/>
                </a:solidFill>
                <a:latin typeface="Courier New"/>
              </a:rPr>
              <a:t>Vitis-HLS-Introductory-Examples/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Array/                       ARRAY_PARTITION examples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1A1A1A"/>
                </a:solidFill>
                <a:latin typeface="Courier New"/>
              </a:rPr>
              <a:t>array_partition_complete</a:t>
            </a:r>
            <a:r>
              <a:rPr sz="1300" dirty="0">
                <a:solidFill>
                  <a:srgbClr val="1A1A1A"/>
                </a:solidFill>
                <a:latin typeface="Courier New"/>
              </a:rPr>
              <a:t>/     &lt;- </a:t>
            </a:r>
            <a:r>
              <a:rPr sz="1300" dirty="0" err="1">
                <a:solidFill>
                  <a:srgbClr val="1A1A1A"/>
                </a:solidFill>
                <a:latin typeface="Courier New"/>
              </a:rPr>
              <a:t>matmul</a:t>
            </a:r>
            <a:r>
              <a:rPr sz="1300" dirty="0">
                <a:solidFill>
                  <a:srgbClr val="1A1A1A"/>
                </a:solidFill>
                <a:latin typeface="Courier New"/>
              </a:rPr>
              <a:t> kernel, today's reference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1A1A1A"/>
                </a:solidFill>
                <a:latin typeface="Courier New"/>
              </a:rPr>
              <a:t>array_partition_block_cyclic</a:t>
            </a:r>
            <a:r>
              <a:rPr sz="1300" dirty="0">
                <a:solidFill>
                  <a:srgbClr val="1A1A1A"/>
                </a:solidFill>
                <a:latin typeface="Courier New"/>
              </a:rPr>
              <a:t>/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Pipelining/                  PIPELINE examples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  Functions/</a:t>
            </a:r>
            <a:r>
              <a:rPr sz="1300" dirty="0" err="1">
                <a:solidFill>
                  <a:srgbClr val="1A1A1A"/>
                </a:solidFill>
                <a:latin typeface="Courier New"/>
              </a:rPr>
              <a:t>hier_func</a:t>
            </a:r>
            <a:r>
              <a:rPr sz="1300" dirty="0">
                <a:solidFill>
                  <a:srgbClr val="1A1A1A"/>
                </a:solidFill>
                <a:latin typeface="Courier New"/>
              </a:rPr>
              <a:t>/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  Loops/</a:t>
            </a:r>
            <a:r>
              <a:rPr sz="1300" dirty="0" err="1">
                <a:solidFill>
                  <a:srgbClr val="1A1A1A"/>
                </a:solidFill>
                <a:latin typeface="Courier New"/>
              </a:rPr>
              <a:t>pipelined_loop</a:t>
            </a:r>
            <a:r>
              <a:rPr sz="1300" dirty="0">
                <a:solidFill>
                  <a:srgbClr val="1A1A1A"/>
                </a:solidFill>
                <a:latin typeface="Courier New"/>
              </a:rPr>
              <a:t>/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DSP/                         FFT, FIR filters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Interface/                   AXI / port examples</a:t>
            </a:r>
          </a:p>
          <a:p>
            <a:r>
              <a:rPr sz="1300" dirty="0">
                <a:solidFill>
                  <a:srgbClr val="1A1A1A"/>
                </a:solidFill>
                <a:latin typeface="Courier New"/>
              </a:rPr>
              <a:t>  </a:t>
            </a:r>
            <a:r>
              <a:rPr sz="1300" dirty="0" err="1">
                <a:solidFill>
                  <a:srgbClr val="1A1A1A"/>
                </a:solidFill>
                <a:latin typeface="Courier New"/>
              </a:rPr>
              <a:t>Task_level_Parallelism</a:t>
            </a:r>
            <a:r>
              <a:rPr sz="1300" dirty="0">
                <a:solidFill>
                  <a:srgbClr val="1A1A1A"/>
                </a:solidFill>
                <a:latin typeface="Courier New"/>
              </a:rPr>
              <a:t>/      DATAFLOW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113" y="4050000"/>
            <a:ext cx="80149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595959"/>
                </a:solidFill>
                <a:latin typeface="Arial"/>
              </a:rPr>
              <a:t>Today's default starting point: Array/</a:t>
            </a:r>
            <a:r>
              <a:rPr sz="1300" i="1" dirty="0" err="1">
                <a:solidFill>
                  <a:srgbClr val="595959"/>
                </a:solidFill>
                <a:latin typeface="Arial"/>
              </a:rPr>
              <a:t>array_partition_complete</a:t>
            </a:r>
            <a:r>
              <a:rPr lang="en-US" sz="1300" i="1" dirty="0">
                <a:solidFill>
                  <a:srgbClr val="595959"/>
                </a:solidFill>
                <a:latin typeface="Arial"/>
              </a:rPr>
              <a:t>. </a:t>
            </a:r>
            <a:r>
              <a:rPr sz="1300" i="1" dirty="0">
                <a:solidFill>
                  <a:srgbClr val="595959"/>
                </a:solidFill>
                <a:latin typeface="Arial"/>
              </a:rPr>
              <a:t>ARRAY_PARTITION is already applied there; you add PIPELINE and UNROLL yourself.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11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Getting the code onto the lab machine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1150000"/>
          </a:xfrm>
        </p:spPr>
        <p:txBody>
          <a:bodyPr wrap="square"/>
          <a:lstStyle/>
          <a:p>
            <a:r>
              <a:rPr sz="1400" dirty="0">
                <a:latin typeface="Arial"/>
              </a:rPr>
              <a:t>The lab machines most likely don't have git</a:t>
            </a:r>
            <a:r>
              <a:rPr lang="en-US" sz="1400" dirty="0">
                <a:latin typeface="Arial"/>
              </a:rPr>
              <a:t>, therefore </a:t>
            </a:r>
            <a:r>
              <a:rPr sz="1400" dirty="0">
                <a:latin typeface="Arial"/>
              </a:rPr>
              <a:t>you don't need a whole repository, just one file.</a:t>
            </a:r>
          </a:p>
          <a:p>
            <a:r>
              <a:rPr sz="1400" dirty="0">
                <a:latin typeface="Arial"/>
              </a:rPr>
              <a:t>On GitHub, open the file and click “Raw”: that URL is the file's plain-text contents, nothing else. curl or </a:t>
            </a:r>
            <a:r>
              <a:rPr sz="1400" dirty="0" err="1">
                <a:latin typeface="Arial"/>
              </a:rPr>
              <a:t>wget</a:t>
            </a:r>
            <a:r>
              <a:rPr sz="1400" dirty="0">
                <a:latin typeface="Arial"/>
              </a:rPr>
              <a:t> will fetch it directly: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2050000"/>
            <a:ext cx="8014908" cy="5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Courier New"/>
              </a:rPr>
              <a:t>curl -O https://raw.githubusercontent.com/Xilinx/Vitis-HLS-Introductory-Examples/master/Array/array_partition_complete/matmul_partition.cpp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113" y="2700000"/>
            <a:ext cx="801490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9682"/>
                </a:solidFill>
                <a:latin typeface="Arial"/>
              </a:rPr>
              <a:t>▪  </a:t>
            </a:r>
            <a:r>
              <a:rPr sz="1400">
                <a:latin typeface="Arial"/>
              </a:rPr>
              <a:t>If git is available, a shallow sparse checkout gets you one folder without the repository's full history: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113" y="3150000"/>
            <a:ext cx="8014908" cy="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200" dirty="0">
                <a:solidFill>
                  <a:srgbClr val="1A1A1A"/>
                </a:solidFill>
                <a:latin typeface="Courier New"/>
              </a:rPr>
              <a:t>git clone --depth 1 --filter=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blob:none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 --sparse &lt;repo-</a:t>
            </a:r>
            <a:r>
              <a:rPr sz="1200" dirty="0" err="1">
                <a:solidFill>
                  <a:srgbClr val="1A1A1A"/>
                </a:solidFill>
                <a:latin typeface="Courier New"/>
              </a:rPr>
              <a:t>url</a:t>
            </a:r>
            <a:r>
              <a:rPr sz="1200" dirty="0">
                <a:solidFill>
                  <a:srgbClr val="1A1A1A"/>
                </a:solidFill>
                <a:latin typeface="Courier New"/>
              </a:rPr>
              <a:t>&gt;</a:t>
            </a:r>
          </a:p>
          <a:p>
            <a:r>
              <a:rPr sz="1200" dirty="0">
                <a:solidFill>
                  <a:srgbClr val="1A1A1A"/>
                </a:solidFill>
                <a:latin typeface="Courier New"/>
              </a:rPr>
              <a:t>git sparse-checkout set path/to/folder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29B28-033C-D269-3844-81AABC8086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Getting a baseline on the board</a:t>
            </a:r>
            <a:endParaRPr lang="en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F5D97-83BB-F4C4-D412-48D177D78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</a:t>
            </a:r>
            <a:r>
              <a:rPr dirty="0"/>
              <a:t> pragmas beyond what the interface needs</a:t>
            </a:r>
            <a:endParaRPr lang="en-DE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92804836-3DE1-FC88-9F4D-EE1EE77DDB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4000" y="1465788"/>
            <a:ext cx="8524557" cy="751280"/>
          </a:xfrm>
        </p:spPr>
        <p:txBody>
          <a:bodyPr/>
          <a:lstStyle/>
          <a:p>
            <a:pPr algn="ctr"/>
            <a:r>
              <a:rPr lang="en-GB" dirty="0"/>
              <a:t>Task 3.1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1287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13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Task 3.1: find and fetch a kernel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1300000"/>
          </a:xfrm>
        </p:spPr>
        <p:txBody>
          <a:bodyPr wrap="square"/>
          <a:lstStyle/>
          <a:p>
            <a:r>
              <a:rPr sz="1500" dirty="0">
                <a:latin typeface="Arial"/>
              </a:rPr>
              <a:t>Browse a source</a:t>
            </a:r>
            <a:r>
              <a:rPr lang="en-US" sz="1500" dirty="0">
                <a:latin typeface="Arial"/>
              </a:rPr>
              <a:t>, </a:t>
            </a:r>
            <a:r>
              <a:rPr sz="1500" dirty="0">
                <a:latin typeface="Arial"/>
              </a:rPr>
              <a:t>the Xilinx repo and its layout (previous slides), </a:t>
            </a:r>
            <a:r>
              <a:rPr lang="en-US" sz="1500" dirty="0">
                <a:latin typeface="Arial"/>
              </a:rPr>
              <a:t>or an </a:t>
            </a:r>
            <a:r>
              <a:rPr sz="1500" dirty="0">
                <a:latin typeface="Arial"/>
              </a:rPr>
              <a:t>hls4ml/FINN output</a:t>
            </a:r>
            <a:endParaRPr lang="en-US" sz="1500" dirty="0">
              <a:latin typeface="Arial"/>
            </a:endParaRPr>
          </a:p>
          <a:p>
            <a:r>
              <a:rPr sz="1500" dirty="0">
                <a:latin typeface="Arial"/>
              </a:rPr>
              <a:t>Picked a file? Pull just that one open it on GitHub, click “Raw”, then fetch the URL directly, no git required: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2300000"/>
            <a:ext cx="8014908" cy="6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Courier New"/>
              </a:rPr>
              <a:t>curl -O https://raw.githubusercontent.com/Xilinx/Vitis-HLS-Introductory-Examples/master/Array/array_partition_complete/matmul_partition.cpp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113" y="3050000"/>
            <a:ext cx="80149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009682"/>
                </a:solidFill>
                <a:latin typeface="Arial"/>
              </a:rPr>
              <a:t>▪  </a:t>
            </a:r>
            <a:r>
              <a:rPr sz="1500" dirty="0">
                <a:latin typeface="Arial"/>
              </a:rPr>
              <a:t>If the folder has a matching header or testbench, grab those the same way</a:t>
            </a:r>
            <a:r>
              <a:rPr lang="en-US" sz="1500" dirty="0">
                <a:latin typeface="Arial"/>
              </a:rPr>
              <a:t>, </a:t>
            </a:r>
            <a:r>
              <a:rPr sz="1500" dirty="0">
                <a:latin typeface="Arial"/>
              </a:rPr>
              <a:t>check the file listing on GitHub first.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14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Task 3.1: build and record the baseline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3350000"/>
          </a:xfrm>
        </p:spPr>
        <p:txBody>
          <a:bodyPr wrap="square"/>
          <a:lstStyle/>
          <a:p>
            <a:r>
              <a:rPr sz="1500" dirty="0">
                <a:latin typeface="Arial"/>
              </a:rPr>
              <a:t>Create a new Vitis HLS project; add the file(s) you downloaded as the design source, plus a testbench</a:t>
            </a:r>
            <a:r>
              <a:rPr lang="en-US" sz="1500" dirty="0">
                <a:latin typeface="Arial"/>
              </a:rPr>
              <a:t>, </a:t>
            </a:r>
            <a:r>
              <a:rPr sz="1500" dirty="0">
                <a:latin typeface="Arial"/>
              </a:rPr>
              <a:t>reuse one if it came with the kernel, otherwise write a short one against a known input/output pair.</a:t>
            </a:r>
          </a:p>
          <a:p>
            <a:r>
              <a:rPr sz="1500" dirty="0">
                <a:latin typeface="Arial"/>
              </a:rPr>
              <a:t>Run C Simulation</a:t>
            </a:r>
            <a:r>
              <a:rPr lang="en-US" sz="1500" dirty="0">
                <a:latin typeface="Arial"/>
              </a:rPr>
              <a:t>, </a:t>
            </a:r>
            <a:r>
              <a:rPr sz="1500" dirty="0">
                <a:latin typeface="Arial"/>
              </a:rPr>
              <a:t>confirm the kernel computes the right answer before you touch performance at all.</a:t>
            </a:r>
          </a:p>
          <a:p>
            <a:r>
              <a:rPr sz="1500" dirty="0">
                <a:latin typeface="Arial"/>
              </a:rPr>
              <a:t>Run C Synthesis with no pragmas beyond what the interface strictly needs.</a:t>
            </a:r>
          </a:p>
          <a:p>
            <a:r>
              <a:rPr sz="1500" dirty="0">
                <a:latin typeface="Arial"/>
              </a:rPr>
              <a:t>Open the synthesis report and record latency (cycles), and DSP / BRAM / FF / LUT utilization</a:t>
            </a:r>
            <a:r>
              <a:rPr lang="en-US" sz="1500" dirty="0">
                <a:latin typeface="Arial"/>
              </a:rPr>
              <a:t>, </a:t>
            </a:r>
            <a:r>
              <a:rPr sz="1500" dirty="0">
                <a:latin typeface="Arial"/>
              </a:rPr>
              <a:t>counts and percentages.</a:t>
            </a:r>
          </a:p>
          <a:p>
            <a:r>
              <a:rPr sz="1500" b="1" dirty="0">
                <a:latin typeface="Arial"/>
              </a:rPr>
              <a:t>That's your baseline. </a:t>
            </a:r>
            <a:r>
              <a:rPr sz="1500" dirty="0">
                <a:latin typeface="Arial"/>
              </a:rPr>
              <a:t>Every Task 3.2 result gets compared against it.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29B28-033C-D269-3844-81AABC8086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Exploring pragma combinations</a:t>
            </a:r>
            <a:endParaRPr lang="en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F5D97-83BB-F4C4-D412-48D177D78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PIPELINE · UNROLL · ARRAY_PARTITION, alone and combined</a:t>
            </a:r>
            <a:endParaRPr lang="en-DE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92804836-3DE1-FC88-9F4D-EE1EE77DDB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4000" y="1465788"/>
            <a:ext cx="8524557" cy="751280"/>
          </a:xfrm>
        </p:spPr>
        <p:txBody>
          <a:bodyPr/>
          <a:lstStyle/>
          <a:p>
            <a:pPr algn="ctr"/>
            <a:r>
              <a:rPr lang="en-GB" dirty="0"/>
              <a:t>Task 3.2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1287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16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Task 3.2: step by step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2650000"/>
          </a:xfrm>
        </p:spPr>
        <p:txBody>
          <a:bodyPr wrap="square"/>
          <a:lstStyle/>
          <a:p>
            <a:r>
              <a:rPr sz="1500" dirty="0">
                <a:latin typeface="Arial"/>
              </a:rPr>
              <a:t>Add PIPELINE to the innermost loop. Re-synthesize; note what changed, and why.</a:t>
            </a:r>
          </a:p>
          <a:p>
            <a:r>
              <a:rPr sz="1500" dirty="0">
                <a:latin typeface="Arial"/>
              </a:rPr>
              <a:t>Undo that, add UNROLL instead</a:t>
            </a:r>
            <a:r>
              <a:rPr lang="en-US" sz="1500" dirty="0">
                <a:latin typeface="Arial"/>
              </a:rPr>
              <a:t>, </a:t>
            </a:r>
            <a:r>
              <a:rPr sz="1500" dirty="0">
                <a:latin typeface="Arial"/>
              </a:rPr>
              <a:t>try a couple of factors. Re-synthesize; note what changed.</a:t>
            </a:r>
          </a:p>
          <a:p>
            <a:r>
              <a:rPr sz="1500" dirty="0">
                <a:latin typeface="Arial"/>
              </a:rPr>
              <a:t>Add ARRAY_PARTITION on the array(s) the unrolled loop reads, factor matched to the unroll factor. Re-synthesize.</a:t>
            </a:r>
          </a:p>
          <a:p>
            <a:r>
              <a:rPr sz="1500" dirty="0">
                <a:latin typeface="Arial"/>
              </a:rPr>
              <a:t>Combine PIPELINE + UNROLL + ARRAY_PARTITION. Re-synthesize.</a:t>
            </a:r>
          </a:p>
          <a:p>
            <a:r>
              <a:rPr sz="1500" dirty="0">
                <a:latin typeface="Arial"/>
              </a:rPr>
              <a:t>For every variant: what you added, and</a:t>
            </a:r>
            <a:r>
              <a:rPr lang="en-US" sz="1500" dirty="0">
                <a:latin typeface="Arial"/>
              </a:rPr>
              <a:t> </a:t>
            </a:r>
            <a:r>
              <a:rPr sz="1500" dirty="0">
                <a:latin typeface="Arial"/>
              </a:rPr>
              <a:t>in terms of the hardware</a:t>
            </a:r>
            <a:r>
              <a:rPr lang="en-US" sz="1500" dirty="0">
                <a:latin typeface="Arial"/>
              </a:rPr>
              <a:t>, and </a:t>
            </a:r>
            <a:r>
              <a:rPr sz="1500" dirty="0">
                <a:latin typeface="Arial"/>
              </a:rPr>
              <a:t>why it changed what it 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3650000"/>
            <a:ext cx="8014908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595959"/>
                </a:solidFill>
                <a:latin typeface="Arial"/>
              </a:rPr>
              <a:t>Want to see a pragma already in use first? Pipelining/ has PIPELINE examples, Array/ has ARRAY_PARTITION examples (repo layout, slide 10)</a:t>
            </a:r>
            <a:r>
              <a:rPr lang="en-US" sz="1300" i="1" dirty="0">
                <a:solidFill>
                  <a:srgbClr val="595959"/>
                </a:solidFill>
                <a:latin typeface="Arial"/>
              </a:rPr>
              <a:t>. </a:t>
            </a:r>
            <a:r>
              <a:rPr sz="1300" i="1" dirty="0">
                <a:solidFill>
                  <a:srgbClr val="595959"/>
                </a:solidFill>
                <a:latin typeface="Arial"/>
              </a:rPr>
              <a:t>UNROLL usually shows up alongside one of the two; search the source for '#pragma HLS UNROLL'.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17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Where Vitis HLS fits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2600000"/>
          </a:xfrm>
        </p:spPr>
        <p:txBody>
          <a:bodyPr wrap="square"/>
          <a:lstStyle/>
          <a:p>
            <a:r>
              <a:rPr sz="1400" dirty="0">
                <a:latin typeface="Arial"/>
              </a:rPr>
              <a:t>Vitis HLS only gets you from C++ to RTL, plus the estimate you're reading in the report</a:t>
            </a:r>
            <a:r>
              <a:rPr lang="en-US" sz="1400" dirty="0">
                <a:latin typeface="Arial"/>
              </a:rPr>
              <a:t>, </a:t>
            </a:r>
            <a:r>
              <a:rPr sz="1400" dirty="0">
                <a:latin typeface="Arial"/>
              </a:rPr>
              <a:t>it does not put anything on the board.</a:t>
            </a:r>
          </a:p>
          <a:p>
            <a:r>
              <a:rPr sz="1400" dirty="0">
                <a:latin typeface="Arial"/>
              </a:rPr>
              <a:t>The RTL it produces becomes an IP block for a </a:t>
            </a:r>
            <a:r>
              <a:rPr sz="1400" dirty="0" err="1">
                <a:latin typeface="Arial"/>
              </a:rPr>
              <a:t>Vivado</a:t>
            </a:r>
            <a:r>
              <a:rPr sz="1400" dirty="0">
                <a:latin typeface="Arial"/>
              </a:rPr>
              <a:t> project </a:t>
            </a:r>
            <a:r>
              <a:rPr lang="en-US" sz="1400" dirty="0">
                <a:latin typeface="Arial"/>
              </a:rPr>
              <a:t>which is </a:t>
            </a:r>
            <a:r>
              <a:rPr sz="1400" dirty="0">
                <a:latin typeface="Arial"/>
              </a:rPr>
              <a:t>the same tool you already used in Labs 1 and 2.</a:t>
            </a:r>
          </a:p>
          <a:p>
            <a:r>
              <a:rPr sz="1400" dirty="0" err="1">
                <a:latin typeface="Arial"/>
              </a:rPr>
              <a:t>Vivado</a:t>
            </a:r>
            <a:r>
              <a:rPr sz="1400" dirty="0">
                <a:latin typeface="Arial"/>
              </a:rPr>
              <a:t> is where logic synthesis, implementation (place &amp; route), and bitstream generation actually happen</a:t>
            </a:r>
            <a:r>
              <a:rPr lang="en-US" sz="1400" dirty="0">
                <a:latin typeface="Arial"/>
              </a:rPr>
              <a:t> </a:t>
            </a:r>
            <a:r>
              <a:rPr sz="1400" dirty="0">
                <a:latin typeface="Arial"/>
              </a:rPr>
              <a:t>and where a design that “fits” in the HLS report can still fail, if the estimate was optimistic.</a:t>
            </a:r>
          </a:p>
          <a:p>
            <a:r>
              <a:rPr sz="1400" dirty="0">
                <a:latin typeface="Arial"/>
              </a:rPr>
              <a:t>For this lab, C synthesis is enough</a:t>
            </a:r>
            <a:r>
              <a:rPr lang="en-US" sz="1400" dirty="0">
                <a:latin typeface="Arial"/>
              </a:rPr>
              <a:t> since </a:t>
            </a:r>
            <a:r>
              <a:rPr sz="1400" dirty="0">
                <a:latin typeface="Arial"/>
              </a:rPr>
              <a:t>you're comparing pragma choices, not producing a bitstream. Keep the rest of the flow in mind regardless.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13" y="3650000"/>
            <a:ext cx="8014908" cy="5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Courier New"/>
              </a:rPr>
              <a:t>C/C++  -&gt;  Vitis HLS (C-sim, C-synthesis)  -&gt;  RTL / IP  -&gt;  Vivado (synth, impl, bitstream)  -&gt;  FPGA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18863-5087-39CB-8D90-AEEA40A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03.08.26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ACC-B4FF-FF04-61E1-34815B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18</a:t>
            </a:fld>
            <a:endParaRPr lang="en-US" noProof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22CEAB-BD8F-DCB7-7BCD-F1BD362F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96244"/>
            <a:ext cx="6869178" cy="575989"/>
          </a:xfrm>
        </p:spPr>
        <p:txBody>
          <a:bodyPr/>
          <a:lstStyle/>
          <a:p>
            <a:r>
              <a:rPr lang="en-US" dirty="0"/>
              <a:t>What to hand in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8ABB5B5-1D37-D314-34F1-19E7AB1C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13" y="899717"/>
            <a:ext cx="8014908" cy="3431228"/>
          </a:xfrm>
        </p:spPr>
        <p:txBody>
          <a:bodyPr wrap="square"/>
          <a:lstStyle/>
          <a:p>
            <a:r>
              <a:rPr sz="1600" dirty="0">
                <a:latin typeface="Arial"/>
              </a:rPr>
              <a:t>A completed results table</a:t>
            </a:r>
            <a:r>
              <a:rPr lang="en-US" sz="1600" dirty="0">
                <a:latin typeface="Arial"/>
              </a:rPr>
              <a:t> with</a:t>
            </a:r>
            <a:r>
              <a:rPr sz="1600" dirty="0">
                <a:latin typeface="Arial"/>
              </a:rPr>
              <a:t> baseline plus every pragma variant you tried, latency and utilization for each.</a:t>
            </a:r>
          </a:p>
          <a:p>
            <a:r>
              <a:rPr sz="1600" dirty="0">
                <a:latin typeface="Arial"/>
              </a:rPr>
              <a:t>One or two sentences per pragma</a:t>
            </a:r>
            <a:r>
              <a:rPr lang="en-US" sz="1600" dirty="0">
                <a:latin typeface="Arial"/>
              </a:rPr>
              <a:t> with</a:t>
            </a:r>
            <a:r>
              <a:rPr sz="1600" dirty="0">
                <a:latin typeface="Arial"/>
              </a:rPr>
              <a:t> what you added, and what changed in the hardware as a result.</a:t>
            </a:r>
          </a:p>
          <a:p>
            <a:r>
              <a:rPr sz="1600" dirty="0">
                <a:latin typeface="Arial"/>
              </a:rPr>
              <a:t>The source file(s) you used, and where they came from.</a:t>
            </a:r>
          </a:p>
          <a:p>
            <a:r>
              <a:rPr sz="1600" dirty="0">
                <a:latin typeface="Arial"/>
              </a:rPr>
              <a:t>A short </a:t>
            </a:r>
            <a:r>
              <a:rPr lang="en-US" sz="1600" dirty="0">
                <a:latin typeface="Arial"/>
              </a:rPr>
              <a:t>explanation </a:t>
            </a:r>
            <a:r>
              <a:rPr sz="1600" dirty="0">
                <a:latin typeface="Arial"/>
              </a:rPr>
              <a:t>which configuration you would actually put on the board, and why.</a:t>
            </a:r>
          </a:p>
        </p:txBody>
      </p:sp>
    </p:spTree>
    <p:extLst>
      <p:ext uri="{BB962C8B-B14F-4D97-AF65-F5344CB8AC3E}">
        <p14:creationId xmlns:p14="http://schemas.microsoft.com/office/powerpoint/2010/main" val="3176004373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1">
  <a:themeElements>
    <a:clrScheme name="KIT">
      <a:dk1>
        <a:sysClr val="windowText" lastClr="000000"/>
      </a:dk1>
      <a:lt1>
        <a:sysClr val="window" lastClr="FFFFFF"/>
      </a:lt1>
      <a:dk2>
        <a:srgbClr val="009682"/>
      </a:dk2>
      <a:lt2>
        <a:srgbClr val="D9D9D9"/>
      </a:lt2>
      <a:accent1>
        <a:srgbClr val="009682"/>
      </a:accent1>
      <a:accent2>
        <a:srgbClr val="4664AA"/>
      </a:accent2>
      <a:accent3>
        <a:srgbClr val="D9D9D9"/>
      </a:accent3>
      <a:accent4>
        <a:srgbClr val="4CB5A7"/>
      </a:accent4>
      <a:accent5>
        <a:srgbClr val="7D92C3"/>
      </a:accent5>
      <a:accent6>
        <a:srgbClr val="7FCAC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1" id="{D385F135-4BB1-4144-883F-BD663B3FA4BF}" vid="{9BD07EEE-6672-4655-8F7E-3FE0E154673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Design1</Template>
  <TotalTime>12</TotalTime>
  <Words>2044</Words>
  <Application>Microsoft Macintosh PowerPoint</Application>
  <PresentationFormat>Custom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Design1</vt:lpstr>
      <vt:lpstr>PowerPoint Presentation</vt:lpstr>
      <vt:lpstr>What this lab is about</vt:lpstr>
      <vt:lpstr>Pragmas are not just better C</vt:lpstr>
      <vt:lpstr>The pragma toolbox is more than three</vt:lpstr>
      <vt:lpstr>PIPELINE</vt:lpstr>
      <vt:lpstr>UNROLL</vt:lpstr>
      <vt:lpstr>ARRAY_PARTITION</vt:lpstr>
      <vt:lpstr>Finding your way around Vitis HLS</vt:lpstr>
      <vt:lpstr>Where to find a starting kernel</vt:lpstr>
      <vt:lpstr>Reading the repository layout</vt:lpstr>
      <vt:lpstr>Getting the code onto the lab machine</vt:lpstr>
      <vt:lpstr>PowerPoint Presentation</vt:lpstr>
      <vt:lpstr>Task 3.1: find and fetch a kernel</vt:lpstr>
      <vt:lpstr>Task 3.1: build and record the baseline</vt:lpstr>
      <vt:lpstr>PowerPoint Presentation</vt:lpstr>
      <vt:lpstr>Task 3.2: step by step</vt:lpstr>
      <vt:lpstr>Where Vitis HLS fits</vt:lpstr>
      <vt:lpstr>What to hand 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Franzi</dc:creator>
  <cp:lastModifiedBy>urelg</cp:lastModifiedBy>
  <cp:revision>111</cp:revision>
  <dcterms:created xsi:type="dcterms:W3CDTF">2017-12-07T14:50:50Z</dcterms:created>
  <dcterms:modified xsi:type="dcterms:W3CDTF">2026-08-03T05:58:30Z</dcterms:modified>
</cp:coreProperties>
</file>