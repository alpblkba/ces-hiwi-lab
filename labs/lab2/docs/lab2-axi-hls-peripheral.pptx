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82296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800" b="1">
                <a:solidFill>
                  <a:srgbClr val="222222"/>
                </a:solidFill>
                <a:latin typeface="Arial"/>
              </a:rPr>
              <a:t>Lab 2: A calculator in HLS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63240"/>
            <a:ext cx="11057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100" b="0">
                <a:solidFill>
                  <a:srgbClr val="009682"/>
                </a:solidFill>
                <a:latin typeface="Arial"/>
              </a:rPr>
              <a:t>The Lab 1 display block, now driven by the processor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76472"/>
            <a:ext cx="11057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Customized Embedded Processors Lab  ·  Chair of Embedded Systems (CES)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160520"/>
            <a:ext cx="11057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Vitis HLS · Vivado · Vitis 2022.2  ·  Blackboard Zynq-7000 (xc7z007sclg400-1)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Lab 2 goal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737360"/>
          </a:xfrm>
          <a:prstGeom prst="roundRect">
            <a:avLst>
              <a:gd name="adj" fmla="val 3000"/>
            </a:avLst>
          </a:prstGeom>
          <a:solidFill>
            <a:srgbClr val="F7F9F8"/>
          </a:solidFill>
          <a:ln w="15875">
            <a:solidFill>
              <a:srgbClr val="6666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9616"/>
            <a:ext cx="10692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9682"/>
                </a:solidFill>
                <a:latin typeface="Consolas"/>
              </a:rPr>
              <a:t>img/02-system-overview.png</a:t>
            </a:r>
          </a:p>
          <a:p>
            <a:pPr algn="ctr"/>
            <a:r>
              <a:rPr sz="1100">
                <a:solidFill>
                  <a:srgbClr val="666666"/>
                </a:solidFill>
                <a:latin typeface="Arial"/>
              </a:rPr>
              <a:t>Block diagram: ARM PS → AXI Interconnect →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seven_segment_axi → four-digit display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163824"/>
            <a:ext cx="11057839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You type two numbers and an operation into a terminal.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The ARM processor sends them to your HLS block over AXI4-Lite.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The block computes the result and shows it on the seven-segment display.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Still no Verilog: the arithmetic and the display logic are both C++.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What actually changes from Lab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2793492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9888"/>
            <a:ext cx="10765231" cy="2610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Lab 1                                Lab 2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--------------------------------     --------------------------------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one input: value                     three inputs: op1, op2, op_sel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... ap_none port=value       #pragma ... s_axilite port=op1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                                 #pragma ... s_axilite port=op2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                                 #pragma ... s_axilite port=op_sel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                                 + one switch statement (the maths)</a:t>
            </a:r>
          </a:p>
          <a:p>
            <a:pPr>
              <a:spcAft>
                <a:spcPts val="100"/>
              </a:spcAft>
            </a:pP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segment table                        IDENTICAL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active-low conversion                IDENTICAL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tick / pos scan registers            IDENTICAL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*an = ~(1 &lt;&lt; pos)                    IDENTICAL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PIPELINE II=1            IDENTICAL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219956"/>
            <a:ext cx="11057839" cy="786384"/>
          </a:xfrm>
          <a:prstGeom prst="roundRect">
            <a:avLst>
              <a:gd name="adj" fmla="val 3000"/>
            </a:avLst>
          </a:prstGeom>
          <a:solidFill>
            <a:srgbClr val="E8F4F2"/>
          </a:solidFill>
          <a:ln w="15875">
            <a:solidFill>
              <a:srgbClr val="009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302252"/>
            <a:ext cx="107286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This is the point of the lab. If your Lab 1 works, Lab 2 is three pragmas plus the arithmetic. The display half is not rewritten — it is reused.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Why AXI4-Lite?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The ARM core cannot call hardware like a C function. The block must look like memory.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Software writes to an address; the fabric decodes it and hands the value to your logic.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AXI4-Lite fits: a handful of control registers, no streaming bandwidth needed.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468880"/>
          <a:ext cx="11057839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28919"/>
                <a:gridCol w="552892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Interface</a:t>
                      </a:r>
                    </a:p>
                  </a:txBody>
                  <a:tcPr anchor="ctr"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Use</a:t>
                      </a:r>
                    </a:p>
                  </a:txBody>
                  <a:tcPr anchor="ctr">
                    <a:solidFill>
                      <a:srgbClr val="00968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Full AXI4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high-performance burst transfers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AXI4-Lite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simple register access — this lab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AXI4-Stream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continuous data, no addresses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67328"/>
            <a:ext cx="11057839" cy="434340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3858768"/>
            <a:ext cx="10765231" cy="251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ARM processor  →  AXI Interconnect  →  AXI4-Lite slave (HLS IP)  →  display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The new interface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2007108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9888"/>
            <a:ext cx="10765231" cy="1824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void seven_segment_axi(ap_uint&lt;7&gt; op1, ap_uint&lt;7&gt; op2, ap_uint&lt;2&gt; op_sel,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                   ap_uint&lt;8&gt; *seg, ap_uint&lt;4&gt; *an) {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INTERFACE s_axilite port=op1    bundle=CTRL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INTERFACE s_axilite port=op2    bundle=CTRL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INTERFACE s_axilite port=op_sel bundle=CTRL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INTERFACE ap_none   port=seg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INTERFACE ap_none   port=an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INTERFACE ap_ctrl_none port=return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PIPELINE II=1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33572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Only the three inputs are memory-mapped. seg and an stay plain wires.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ap_ctrl_none keeps the block free-running, so the display never stops scanning.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Operands are 0…99; op_sel selects the operation.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The arithmetic, and its edge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810512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9888"/>
            <a:ext cx="10765231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switch (op_sel) {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case OP_ADD: result = op1 + op2; break;   // 0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case OP_SUB: result = op1 - op2; break;   // 1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case OP_MUL: result = op1 * op2; break;   // 2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default:                                  // 3 = divide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    if (op2 == 0) error = true;           // no defined result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    else result = op1 / op2;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6976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Negative results (subtraction) show a leading minus sign — segment G alone.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Division by zero and anything that will not fit shows ----.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The display always has a defined state: hardware cannot throw an exception.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407408"/>
            <a:ext cx="11057839" cy="512064"/>
          </a:xfrm>
          <a:prstGeom prst="roundRect">
            <a:avLst>
              <a:gd name="adj" fmla="val 3000"/>
            </a:avLst>
          </a:prstGeom>
          <a:solidFill>
            <a:srgbClr val="E8F4F2"/>
          </a:solidFill>
          <a:ln w="15875">
            <a:solidFill>
              <a:srgbClr val="009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489704"/>
            <a:ext cx="1072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Range check: 99 × 99 = 9801 still fits on four digits, so multiplication never overflows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The register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After synthesis, Vitis HLS generates xseven_segment_axi_hw.h: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700784"/>
          <a:ext cx="1105783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28919"/>
                <a:gridCol w="552892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Offset</a:t>
                      </a:r>
                    </a:p>
                  </a:txBody>
                  <a:tcPr anchor="ctr"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Register</a:t>
                      </a:r>
                    </a:p>
                  </a:txBody>
                  <a:tcPr anchor="ctr">
                    <a:solidFill>
                      <a:srgbClr val="00968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0x00 … 0x0c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reserved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0x10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op1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0x18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op2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0x20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op_sel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291840"/>
            <a:ext cx="11057839" cy="786384"/>
          </a:xfrm>
          <a:prstGeom prst="roundRect">
            <a:avLst>
              <a:gd name="adj" fmla="val 3000"/>
            </a:avLst>
          </a:prstGeom>
          <a:solidFill>
            <a:srgbClr val="FDF0E8"/>
          </a:solidFill>
          <a:ln w="15875">
            <a:solidFill>
              <a:srgbClr val="D0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374136"/>
            <a:ext cx="107286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Because the block is ap_ctrl_none, there is no ap_start register. The software never starts the block and never polls for completion — it only writes these three values.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206240"/>
            <a:ext cx="1105783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Always read these offsets from the generated header, never guess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Synthesize and export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737360"/>
          </a:xfrm>
          <a:prstGeom prst="roundRect">
            <a:avLst>
              <a:gd name="adj" fmla="val 3000"/>
            </a:avLst>
          </a:prstGeom>
          <a:solidFill>
            <a:srgbClr val="F7F9F8"/>
          </a:solidFill>
          <a:ln w="15875">
            <a:solidFill>
              <a:srgbClr val="6666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9616"/>
            <a:ext cx="10692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9682"/>
                </a:solidFill>
                <a:latin typeface="Consolas"/>
              </a:rPr>
              <a:t>img/08-synth-axi-interface.png</a:t>
            </a:r>
          </a:p>
          <a:p>
            <a:pPr algn="ctr"/>
            <a:r>
              <a:rPr sz="1100">
                <a:solidFill>
                  <a:srgbClr val="666666"/>
                </a:solidFill>
                <a:latin typeface="Arial"/>
              </a:rPr>
              <a:t>Synthesis report Interface table showing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the s_axi_CTRL ports plus seg / an,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and Interval =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163824"/>
            <a:ext cx="11057839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Top function seven_segment_axi, part xc7z007sclg400-1, clock 20 ns.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The report must show an AXI4-Lite slave named s_axi_CTRL, and seg / an as ap_none.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Confirm Interval = 1 again — same flicker trap as Lab 1.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Export RTL as Vivado IP; verify solution1/impl/ip/component.xml.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Vivado: project and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New RTL project, part xc7z007sclg400-1, no design sources.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Add the Blackboard XDC: it maps seg[7:0] and an[3:0] to the display pins.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No extra Verilog or VHDL is added in this lab — the anode logic lives in the HLS block.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11057839" cy="630936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10765231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seg[0] → K14 (SSEG_CA)  …  seg[7] → K18 (SSEG_DP)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an[0]  → K19 (SSEG_AN0) …  an[3]  → L16 (SSEG_AN3)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227832"/>
            <a:ext cx="11057839" cy="786384"/>
          </a:xfrm>
          <a:prstGeom prst="roundRect">
            <a:avLst>
              <a:gd name="adj" fmla="val 3000"/>
            </a:avLst>
          </a:prstGeom>
          <a:solidFill>
            <a:srgbClr val="E8F4F2"/>
          </a:solidFill>
          <a:ln w="15875">
            <a:solidFill>
              <a:srgbClr val="009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10128"/>
            <a:ext cx="107286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This is why the scan was written in HLS: the block design stays simple, and the lab never asks you to write RTL.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Vivado: block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737360"/>
          </a:xfrm>
          <a:prstGeom prst="roundRect">
            <a:avLst>
              <a:gd name="adj" fmla="val 3000"/>
            </a:avLst>
          </a:prstGeom>
          <a:solidFill>
            <a:srgbClr val="F7F9F8"/>
          </a:solidFill>
          <a:ln w="15875">
            <a:solidFill>
              <a:srgbClr val="6666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9616"/>
            <a:ext cx="10692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9682"/>
                </a:solidFill>
                <a:latin typeface="Consolas"/>
              </a:rPr>
              <a:t>img/10-block-design.png</a:t>
            </a:r>
          </a:p>
          <a:p>
            <a:pPr algn="ctr"/>
            <a:r>
              <a:rPr sz="1100">
                <a:solidFill>
                  <a:srgbClr val="666666"/>
                </a:solidFill>
                <a:latin typeface="Arial"/>
              </a:rPr>
              <a:t>Diagram after Run Connection Automation: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ZYNQ7 PS → AXI Interconnect →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seven_segment_axi_0/s_axi_CTRL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163824"/>
            <a:ext cx="11057839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Create Block Design, add ZYNQ7 Processing System, then Run Block Automation.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Settings → IP → Repository: add the exported solution1/impl/ip directory.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Add IP → seven_segment_axi from the catalog under UserIP.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Run Connection Automation to wire AXI, clock and reset.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Vivado: external ports and address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737360"/>
          </a:xfrm>
          <a:prstGeom prst="roundRect">
            <a:avLst>
              <a:gd name="adj" fmla="val 3000"/>
            </a:avLst>
          </a:prstGeom>
          <a:solidFill>
            <a:srgbClr val="F7F9F8"/>
          </a:solidFill>
          <a:ln w="15875">
            <a:solidFill>
              <a:srgbClr val="6666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9616"/>
            <a:ext cx="10692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9682"/>
                </a:solidFill>
                <a:latin typeface="Consolas"/>
              </a:rPr>
              <a:t>img/11-external-ports.png</a:t>
            </a:r>
          </a:p>
          <a:p>
            <a:pPr algn="ctr"/>
            <a:r>
              <a:rPr sz="1100">
                <a:solidFill>
                  <a:srgbClr val="666666"/>
                </a:solidFill>
                <a:latin typeface="Arial"/>
              </a:rPr>
              <a:t>Right-click seg / an → Make External,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plus the Address Editor showing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s_axi_CTRL at 0x4000_0000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163824"/>
            <a:ext cx="110578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Right-click the seg and an pins → Make External.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Address Editor: assign s_axi_CTRL to 0x4000_0000, range 64K.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023360"/>
            <a:ext cx="11057839" cy="786384"/>
          </a:xfrm>
          <a:prstGeom prst="roundRect">
            <a:avLst>
              <a:gd name="adj" fmla="val 3000"/>
            </a:avLst>
          </a:prstGeom>
          <a:solidFill>
            <a:srgbClr val="FDF0E8"/>
          </a:solidFill>
          <a:ln w="15875">
            <a:solidFill>
              <a:srgbClr val="D0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105656"/>
            <a:ext cx="107286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Naming matters. The external ports must be exactly seg and an to match the XDC. If Vivado creates seg_0, rename it in External Port Properties.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Vivado: build and export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Create HDL Wrapper, then Run Synthesis → Implementation → Generate Bitstream.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File → Export → Export Hardware, include bitstream → seven_segment_wrapper.xsa.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157984"/>
            <a:ext cx="11057839" cy="434340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249424"/>
            <a:ext cx="10765231" cy="251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synthesis = netlist   ·   implementation = place &amp; route + timing   ·   bitstream = FPGA configuration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720340"/>
            <a:ext cx="11057839" cy="1060704"/>
          </a:xfrm>
          <a:prstGeom prst="roundRect">
            <a:avLst>
              <a:gd name="adj" fmla="val 3000"/>
            </a:avLst>
          </a:prstGeom>
          <a:solidFill>
            <a:srgbClr val="FDF0E8"/>
          </a:solidFill>
          <a:ln w="15875">
            <a:solidFill>
              <a:srgbClr val="D0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02636"/>
            <a:ext cx="10728655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Whenever the HLS code changes, the IP must be re-exported, the block design refreshed (Report IP Status → Upgrade), and the bitstream and XSA regenerated. A stale XSA is the most common reason a working design misbehaves on the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Vitis: platform and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737360"/>
          </a:xfrm>
          <a:prstGeom prst="roundRect">
            <a:avLst>
              <a:gd name="adj" fmla="val 3000"/>
            </a:avLst>
          </a:prstGeom>
          <a:solidFill>
            <a:srgbClr val="F7F9F8"/>
          </a:solidFill>
          <a:ln w="15875">
            <a:solidFill>
              <a:srgbClr val="6666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9616"/>
            <a:ext cx="10692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9682"/>
                </a:solidFill>
                <a:latin typeface="Consolas"/>
              </a:rPr>
              <a:t>img/13-vitis-projects.png</a:t>
            </a:r>
          </a:p>
          <a:p>
            <a:pPr algn="ctr"/>
            <a:r>
              <a:rPr sz="1100">
                <a:solidFill>
                  <a:srgbClr val="666666"/>
                </a:solidFill>
                <a:latin typeface="Arial"/>
              </a:rPr>
              <a:t>Create Platform Project from the XSA,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then New Application Project on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ps7_cortexa9_0, Empty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163824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Platform project from seven_segment_wrapper.xsa, then Build Project.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Application project seven_segment_app, processor ps7_cortexa9_0, standalone, empty.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The XSA tells Vitis which processor exists and where your IP is mapped — platform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Vitis: the software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2596896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9888"/>
            <a:ext cx="10765231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#define CALC_BASEADDR   XPAR_SEVEN_SEGMENT_AXI_0_S_AXI_CTRL_BASEADDR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#define OP1_REG_OFFSET    0x10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#define OP2_REG_OFFSET    0x18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#define OPSEL_REG_OFFSET  0x20</a:t>
            </a:r>
          </a:p>
          <a:p>
            <a:pPr>
              <a:spcAft>
                <a:spcPts val="100"/>
              </a:spcAft>
            </a:pP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op1 = read_operand("First number");     /* over the terminal */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op2 = read_operand("Second number");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op_sel = read_operation();</a:t>
            </a:r>
          </a:p>
          <a:p>
            <a:pPr>
              <a:spcAft>
                <a:spcPts val="100"/>
              </a:spcAft>
            </a:pP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Xil_Out32(CALC_BASEADDR + OP1_REG_OFFSET,   op1);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Xil_Out32(CALC_BASEADDR + OP2_REG_OFFSET,   op2);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Xil_Out32(CALC_BASEADDR + OPSEL_REG_OFFSET, op_sel);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023360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Three writes, and the display updates on the very next clock cycle.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Use the generated base-address macro from xparameters.h — never a literal address.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Validate the operands in software too: a 7-bit register silently truncates 100 to 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Run on the 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737360"/>
          </a:xfrm>
          <a:prstGeom prst="roundRect">
            <a:avLst>
              <a:gd name="adj" fmla="val 3000"/>
            </a:avLst>
          </a:prstGeom>
          <a:solidFill>
            <a:srgbClr val="F7F9F8"/>
          </a:solidFill>
          <a:ln w="15875">
            <a:solidFill>
              <a:srgbClr val="6666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9616"/>
            <a:ext cx="10692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9682"/>
                </a:solidFill>
                <a:latin typeface="Consolas"/>
              </a:rPr>
              <a:t>img/15-board-result.png</a:t>
            </a:r>
          </a:p>
          <a:p>
            <a:pPr algn="ctr"/>
            <a:r>
              <a:rPr sz="1100">
                <a:solidFill>
                  <a:srgbClr val="666666"/>
                </a:solidFill>
                <a:latin typeface="Arial"/>
              </a:rPr>
              <a:t>Terminal showing the entered operands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next to a photo of the display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holding the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163824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Run As → Launch on Hardware: Vitis programs the bitstream, then starts the ELF.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Open a serial terminal at 115200 baud to type the operands.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Try 40 + 2 → 42, then 5 - 9 → -4, then 7 / 0 → ----.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34256"/>
            <a:ext cx="11057839" cy="827532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4425696"/>
            <a:ext cx="1076523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AXI4-Lite IP exported            [ok] platform + application built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block design validated           [ok] operands accepted over the terminal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bitstream and XSA generated      [ok] result correct on the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Checklist and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613916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9888"/>
            <a:ext cx="10765231" cy="1431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Lab 1 display block reused unchanged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three AXI4-Lite pragmas added, top function renamed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arithmetic implemented, division by zero handled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Interval = 1 confirmed in the synthesis report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IP exported, imported, address assigned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bitstream and XSA regenerated from the current IP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software writes op1 / op2 / op_sel and the display follows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040380"/>
          <a:ext cx="1105783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28919"/>
                <a:gridCol w="552892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Reference result</a:t>
                      </a:r>
                    </a:p>
                  </a:txBody>
                  <a:tcPr anchor="ctr"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anchor="ctr">
                    <a:solidFill>
                      <a:srgbClr val="00968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HLS Interval (II)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1, Fmax ~81 MHz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Post-route timing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WNS +12.7 ns, 0 failing endpoints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Utilisation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7.4 % LUT, 4.1 % FF, 1 DSP, 0 BRAM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Bonded I/O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12 (8 segment + 4 anode)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631436"/>
            <a:ext cx="11057839" cy="786384"/>
          </a:xfrm>
          <a:prstGeom prst="roundRect">
            <a:avLst>
              <a:gd name="adj" fmla="val 3000"/>
            </a:avLst>
          </a:prstGeom>
          <a:solidFill>
            <a:srgbClr val="E8F4F2"/>
          </a:solidFill>
          <a:ln w="15875">
            <a:solidFill>
              <a:srgbClr val="009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713732"/>
            <a:ext cx="107286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Deliverables. The HLS sources, the block design, the XSA, the Vitis application, a board demo, and a short answer to: which registers does the software write, and what does the hardware compute?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