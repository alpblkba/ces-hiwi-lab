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27"/>
  </p:notesMasterIdLst>
  <p:sldIdLst>
    <p:sldId id="256" r:id="rId2"/>
    <p:sldId id="270" r:id="rId3"/>
    <p:sldId id="271" r:id="rId4"/>
    <p:sldId id="272" r:id="rId5"/>
    <p:sldId id="276" r:id="rId6"/>
    <p:sldId id="277" r:id="rId7"/>
    <p:sldId id="278" r:id="rId8"/>
    <p:sldId id="279" r:id="rId9"/>
    <p:sldId id="281" r:id="rId10"/>
    <p:sldId id="282" r:id="rId11"/>
    <p:sldId id="284" r:id="rId12"/>
    <p:sldId id="257" r:id="rId13"/>
    <p:sldId id="286"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64" autoAdjust="0"/>
    <p:restoredTop sz="96301" autoAdjust="0"/>
  </p:normalViewPr>
  <p:slideViewPr>
    <p:cSldViewPr snapToGrid="0">
      <p:cViewPr varScale="1">
        <p:scale>
          <a:sx n="163" d="100"/>
          <a:sy n="163" d="100"/>
        </p:scale>
        <p:origin x="656" y="176"/>
      </p:cViewPr>
      <p:guideLst>
        <p:guide orient="horz" pos="1620"/>
        <p:guide pos="6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8F02CA-77CB-4E54-B712-21E588799EE8}" type="datetimeFigureOut">
              <a:rPr lang="de-DE" smtClean="0"/>
              <a:t>02.08.26</a:t>
            </a:fld>
            <a:endParaRPr lang="de-DE"/>
          </a:p>
        </p:txBody>
      </p:sp>
      <p:sp>
        <p:nvSpPr>
          <p:cNvPr id="4" name="Folienbildplatzhalt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F729A-0AF0-4995-B32B-9504BC68960C}" type="slidenum">
              <a:rPr lang="de-DE" smtClean="0"/>
              <a:t>‹#›</a:t>
            </a:fld>
            <a:endParaRPr lang="de-DE"/>
          </a:p>
        </p:txBody>
      </p:sp>
    </p:spTree>
    <p:extLst>
      <p:ext uri="{BB962C8B-B14F-4D97-AF65-F5344CB8AC3E}">
        <p14:creationId xmlns:p14="http://schemas.microsoft.com/office/powerpoint/2010/main" val="2810794510"/>
      </p:ext>
    </p:extLst>
  </p:cSld>
  <p:clrMap bg1="lt1" tx1="dk1" bg2="lt2" tx2="dk2" accent1="accent1" accent2="accent2" accent3="accent3" accent4="accent4" accent5="accent5" accent6="accent6" hlink="hlink" folHlink="folHlink"/>
  <p:notesStyle>
    <a:lvl1pPr marL="0" algn="l" defTabSz="685680" rtl="0" eaLnBrk="1" latinLnBrk="0" hangingPunct="1">
      <a:defRPr sz="900" kern="1200">
        <a:solidFill>
          <a:schemeClr val="tx1"/>
        </a:solidFill>
        <a:latin typeface="+mn-lt"/>
        <a:ea typeface="+mn-ea"/>
        <a:cs typeface="+mn-cs"/>
      </a:defRPr>
    </a:lvl1pPr>
    <a:lvl2pPr marL="342840" algn="l" defTabSz="685680" rtl="0" eaLnBrk="1" latinLnBrk="0" hangingPunct="1">
      <a:defRPr sz="900" kern="1200">
        <a:solidFill>
          <a:schemeClr val="tx1"/>
        </a:solidFill>
        <a:latin typeface="+mn-lt"/>
        <a:ea typeface="+mn-ea"/>
        <a:cs typeface="+mn-cs"/>
      </a:defRPr>
    </a:lvl2pPr>
    <a:lvl3pPr marL="685680" algn="l" defTabSz="685680" rtl="0" eaLnBrk="1" latinLnBrk="0" hangingPunct="1">
      <a:defRPr sz="900" kern="1200">
        <a:solidFill>
          <a:schemeClr val="tx1"/>
        </a:solidFill>
        <a:latin typeface="+mn-lt"/>
        <a:ea typeface="+mn-ea"/>
        <a:cs typeface="+mn-cs"/>
      </a:defRPr>
    </a:lvl3pPr>
    <a:lvl4pPr marL="1028520" algn="l" defTabSz="685680" rtl="0" eaLnBrk="1" latinLnBrk="0" hangingPunct="1">
      <a:defRPr sz="900" kern="1200">
        <a:solidFill>
          <a:schemeClr val="tx1"/>
        </a:solidFill>
        <a:latin typeface="+mn-lt"/>
        <a:ea typeface="+mn-ea"/>
        <a:cs typeface="+mn-cs"/>
      </a:defRPr>
    </a:lvl4pPr>
    <a:lvl5pPr marL="1371360" algn="l" defTabSz="685680" rtl="0" eaLnBrk="1" latinLnBrk="0" hangingPunct="1">
      <a:defRPr sz="900" kern="1200">
        <a:solidFill>
          <a:schemeClr val="tx1"/>
        </a:solidFill>
        <a:latin typeface="+mn-lt"/>
        <a:ea typeface="+mn-ea"/>
        <a:cs typeface="+mn-cs"/>
      </a:defRPr>
    </a:lvl5pPr>
    <a:lvl6pPr marL="1714200" algn="l" defTabSz="685680" rtl="0" eaLnBrk="1" latinLnBrk="0" hangingPunct="1">
      <a:defRPr sz="900" kern="1200">
        <a:solidFill>
          <a:schemeClr val="tx1"/>
        </a:solidFill>
        <a:latin typeface="+mn-lt"/>
        <a:ea typeface="+mn-ea"/>
        <a:cs typeface="+mn-cs"/>
      </a:defRPr>
    </a:lvl6pPr>
    <a:lvl7pPr marL="2057040" algn="l" defTabSz="685680" rtl="0" eaLnBrk="1" latinLnBrk="0" hangingPunct="1">
      <a:defRPr sz="900" kern="1200">
        <a:solidFill>
          <a:schemeClr val="tx1"/>
        </a:solidFill>
        <a:latin typeface="+mn-lt"/>
        <a:ea typeface="+mn-ea"/>
        <a:cs typeface="+mn-cs"/>
      </a:defRPr>
    </a:lvl7pPr>
    <a:lvl8pPr marL="2399880" algn="l" defTabSz="685680" rtl="0" eaLnBrk="1" latinLnBrk="0" hangingPunct="1">
      <a:defRPr sz="900" kern="1200">
        <a:solidFill>
          <a:schemeClr val="tx1"/>
        </a:solidFill>
        <a:latin typeface="+mn-lt"/>
        <a:ea typeface="+mn-ea"/>
        <a:cs typeface="+mn-cs"/>
      </a:defRPr>
    </a:lvl8pPr>
    <a:lvl9pPr marL="2742720" algn="l" defTabSz="68568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E3DA4-1A9A-4B49-B924-215979D2EA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600" y="2727552"/>
            <a:ext cx="8935697" cy="2029108"/>
          </a:xfrm>
          <a:prstGeom prst="rect">
            <a:avLst/>
          </a:prstGeom>
        </p:spPr>
      </p:pic>
      <p:sp>
        <p:nvSpPr>
          <p:cNvPr id="8" name="Textplatzhalter 18"/>
          <p:cNvSpPr>
            <a:spLocks noGrp="1"/>
          </p:cNvSpPr>
          <p:nvPr>
            <p:ph type="body" sz="quarter" idx="11" hasCustomPrompt="1"/>
          </p:nvPr>
        </p:nvSpPr>
        <p:spPr>
          <a:xfrm>
            <a:off x="254000" y="1465788"/>
            <a:ext cx="8524557" cy="751280"/>
          </a:xfrm>
        </p:spPr>
        <p:txBody>
          <a:bodyPr anchor="ctr">
            <a:normAutofit/>
          </a:bodyPr>
          <a:lstStyle>
            <a:lvl1pPr marL="0" indent="0">
              <a:lnSpc>
                <a:spcPct val="100000"/>
              </a:lnSpc>
              <a:buFont typeface="Arial" panose="020B0604020202020204" pitchFamily="34" charset="0"/>
              <a:buNone/>
              <a:defRPr sz="2600" b="1"/>
            </a:lvl1pPr>
            <a:lvl2pPr marL="355600" indent="0">
              <a:buFont typeface="Arial" panose="020B0604020202020204" pitchFamily="34" charset="0"/>
              <a:buNone/>
              <a:defRPr sz="2600" b="1"/>
            </a:lvl2pPr>
            <a:lvl3pPr marL="717550" indent="0">
              <a:buFont typeface="Arial" panose="020B0604020202020204" pitchFamily="34" charset="0"/>
              <a:buNone/>
              <a:defRPr sz="2600" b="1"/>
            </a:lvl3pPr>
            <a:lvl4pPr marL="1073150" indent="0">
              <a:buFont typeface="Arial" panose="020B0604020202020204" pitchFamily="34" charset="0"/>
              <a:buNone/>
              <a:defRPr sz="2600" b="1"/>
            </a:lvl4pPr>
            <a:lvl5pPr marL="1435100" indent="0">
              <a:buFont typeface="Arial" panose="020B0604020202020204" pitchFamily="34" charset="0"/>
              <a:buNone/>
              <a:defRPr sz="2600" b="1"/>
            </a:lvl5pPr>
          </a:lstStyle>
          <a:p>
            <a:pPr lvl="0"/>
            <a:r>
              <a:rPr lang="de-DE" dirty="0"/>
              <a:t>Click </a:t>
            </a:r>
            <a:r>
              <a:rPr lang="de-DE" dirty="0" err="1"/>
              <a:t>to</a:t>
            </a:r>
            <a:r>
              <a:rPr lang="de-DE" dirty="0"/>
              <a:t> </a:t>
            </a:r>
            <a:r>
              <a:rPr lang="de-DE" dirty="0" err="1"/>
              <a:t>add</a:t>
            </a:r>
            <a:r>
              <a:rPr lang="de-DE" dirty="0"/>
              <a:t> </a:t>
            </a:r>
            <a:r>
              <a:rPr lang="de-DE" dirty="0" err="1"/>
              <a:t>the</a:t>
            </a:r>
            <a:r>
              <a:rPr lang="de-DE" dirty="0"/>
              <a:t> title</a:t>
            </a:r>
          </a:p>
        </p:txBody>
      </p:sp>
      <p:sp>
        <p:nvSpPr>
          <p:cNvPr id="10" name="Text Box 14">
            <a:extLst>
              <a:ext uri="{FF2B5EF4-FFF2-40B4-BE49-F238E27FC236}">
                <a16:creationId xmlns:a16="http://schemas.microsoft.com/office/drawing/2014/main" id="{537A5579-09BA-4663-B67D-33B154205799}"/>
              </a:ext>
            </a:extLst>
          </p:cNvPr>
          <p:cNvSpPr txBox="1">
            <a:spLocks noChangeArrowheads="1"/>
          </p:cNvSpPr>
          <p:nvPr userDrawn="1"/>
        </p:nvSpPr>
        <p:spPr bwMode="auto">
          <a:xfrm>
            <a:off x="116600" y="4895776"/>
            <a:ext cx="3606670" cy="126958"/>
          </a:xfrm>
          <a:prstGeom prst="rect">
            <a:avLst/>
          </a:prstGeom>
          <a:noFill/>
          <a:ln w="9525">
            <a:noFill/>
            <a:miter lim="800000"/>
            <a:headEnd/>
            <a:tailEnd/>
          </a:ln>
          <a:effectLst/>
        </p:spPr>
        <p:txBody>
          <a:bodyPr wrap="square" lIns="0" tIns="0" rIns="0" bIns="0">
            <a:spAutoFit/>
          </a:bodyPr>
          <a:lstStyle/>
          <a:p>
            <a:r>
              <a:rPr lang="en-US" sz="825" noProof="0" dirty="0"/>
              <a:t>KIT – The Research University in the Helmholtz Association</a:t>
            </a:r>
          </a:p>
        </p:txBody>
      </p:sp>
      <p:sp>
        <p:nvSpPr>
          <p:cNvPr id="11" name="Text Box 14">
            <a:extLst>
              <a:ext uri="{FF2B5EF4-FFF2-40B4-BE49-F238E27FC236}">
                <a16:creationId xmlns:a16="http://schemas.microsoft.com/office/drawing/2014/main" id="{6C188393-F356-4F5D-80C7-5DAA7302CAFB}"/>
              </a:ext>
            </a:extLst>
          </p:cNvPr>
          <p:cNvSpPr txBox="1">
            <a:spLocks noChangeArrowheads="1"/>
          </p:cNvSpPr>
          <p:nvPr userDrawn="1"/>
        </p:nvSpPr>
        <p:spPr bwMode="auto">
          <a:xfrm>
            <a:off x="7318375" y="4826105"/>
            <a:ext cx="17272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de-DE" altLang="de-DE" sz="1600" b="1" dirty="0">
                <a:solidFill>
                  <a:schemeClr val="tx1"/>
                </a:solidFill>
              </a:rPr>
              <a:t>ces.itec.kit.edu</a:t>
            </a:r>
          </a:p>
        </p:txBody>
      </p:sp>
      <p:pic>
        <p:nvPicPr>
          <p:cNvPr id="12" name="Grafik 11">
            <a:extLst>
              <a:ext uri="{FF2B5EF4-FFF2-40B4-BE49-F238E27FC236}">
                <a16:creationId xmlns:a16="http://schemas.microsoft.com/office/drawing/2014/main" id="{F170E65B-29E8-4B34-8C2D-4A01E1FD964E}"/>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96000" y="360000"/>
            <a:ext cx="1621550" cy="751280"/>
          </a:xfrm>
          <a:prstGeom prst="rect">
            <a:avLst/>
          </a:prstGeom>
        </p:spPr>
      </p:pic>
      <p:pic>
        <p:nvPicPr>
          <p:cNvPr id="14" name="Picture 13">
            <a:extLst>
              <a:ext uri="{FF2B5EF4-FFF2-40B4-BE49-F238E27FC236}">
                <a16:creationId xmlns:a16="http://schemas.microsoft.com/office/drawing/2014/main" id="{D030C395-2F6A-4527-8B16-1851C169BF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5024" y="360000"/>
            <a:ext cx="1874976" cy="595304"/>
          </a:xfrm>
          <a:prstGeom prst="rect">
            <a:avLst/>
          </a:prstGeom>
        </p:spPr>
      </p:pic>
      <p:sp>
        <p:nvSpPr>
          <p:cNvPr id="2" name="Textplatzhalter 18">
            <a:extLst>
              <a:ext uri="{FF2B5EF4-FFF2-40B4-BE49-F238E27FC236}">
                <a16:creationId xmlns:a16="http://schemas.microsoft.com/office/drawing/2014/main" id="{6A260E99-0BCE-C497-80F5-5071FAA53631}"/>
              </a:ext>
            </a:extLst>
          </p:cNvPr>
          <p:cNvSpPr>
            <a:spLocks noGrp="1"/>
          </p:cNvSpPr>
          <p:nvPr>
            <p:ph type="body" sz="quarter" idx="12" hasCustomPrompt="1"/>
          </p:nvPr>
        </p:nvSpPr>
        <p:spPr>
          <a:xfrm>
            <a:off x="254000" y="2883528"/>
            <a:ext cx="8636000" cy="1037775"/>
          </a:xfrm>
          <a:prstGeom prst="rect">
            <a:avLst/>
          </a:prstGeom>
        </p:spPr>
        <p:txBody>
          <a:bodyPr anchor="t">
            <a:normAutofit/>
          </a:bodyPr>
          <a:lstStyle>
            <a:lvl1pPr marL="0" indent="0">
              <a:lnSpc>
                <a:spcPct val="100000"/>
              </a:lnSpc>
              <a:buFont typeface="Arial" panose="020B0604020202020204" pitchFamily="34" charset="0"/>
              <a:buNone/>
              <a:defRPr sz="1800" b="1">
                <a:solidFill>
                  <a:schemeClr val="bg1"/>
                </a:solidFill>
                <a:effectLst>
                  <a:outerShdw blurRad="38100" dist="38100" dir="2700000" algn="tl">
                    <a:srgbClr val="000000">
                      <a:alpha val="43137"/>
                    </a:srgbClr>
                  </a:outerShdw>
                </a:effectLst>
              </a:defRPr>
            </a:lvl1pPr>
            <a:lvl2pPr marL="355600" indent="0">
              <a:buFont typeface="Arial" panose="020B0604020202020204" pitchFamily="34" charset="0"/>
              <a:buNone/>
              <a:defRPr sz="2600" b="1"/>
            </a:lvl2pPr>
            <a:lvl3pPr marL="717550" indent="0">
              <a:buFont typeface="Arial" panose="020B0604020202020204" pitchFamily="34" charset="0"/>
              <a:buNone/>
              <a:defRPr sz="2600" b="1"/>
            </a:lvl3pPr>
            <a:lvl4pPr marL="1073150" indent="0">
              <a:buFont typeface="Arial" panose="020B0604020202020204" pitchFamily="34" charset="0"/>
              <a:buNone/>
              <a:defRPr sz="2600" b="1"/>
            </a:lvl4pPr>
            <a:lvl5pPr marL="1435100" indent="0">
              <a:buFont typeface="Arial" panose="020B0604020202020204" pitchFamily="34" charset="0"/>
              <a:buNone/>
              <a:defRPr sz="2600" b="1"/>
            </a:lvl5pPr>
          </a:lstStyle>
          <a:p>
            <a:pPr lvl="0"/>
            <a:r>
              <a:rPr lang="en-US" noProof="0" dirty="0"/>
              <a:t>Click to add Authors, Subtitle, Description, Comments, etc.</a:t>
            </a:r>
          </a:p>
        </p:txBody>
      </p:sp>
      <p:sp>
        <p:nvSpPr>
          <p:cNvPr id="3" name="Textplatzhalter 18">
            <a:extLst>
              <a:ext uri="{FF2B5EF4-FFF2-40B4-BE49-F238E27FC236}">
                <a16:creationId xmlns:a16="http://schemas.microsoft.com/office/drawing/2014/main" id="{D7360E02-3185-A131-CEFC-E55C6464B306}"/>
              </a:ext>
            </a:extLst>
          </p:cNvPr>
          <p:cNvSpPr>
            <a:spLocks noGrp="1"/>
          </p:cNvSpPr>
          <p:nvPr>
            <p:ph type="body" sz="quarter" idx="13" hasCustomPrompt="1"/>
          </p:nvPr>
        </p:nvSpPr>
        <p:spPr>
          <a:xfrm>
            <a:off x="254000" y="4049484"/>
            <a:ext cx="8636000" cy="550631"/>
          </a:xfrm>
          <a:prstGeom prst="rect">
            <a:avLst/>
          </a:prstGeom>
        </p:spPr>
        <p:txBody>
          <a:bodyPr anchor="b">
            <a:normAutofit/>
          </a:bodyPr>
          <a:lstStyle>
            <a:lvl1pPr marL="0" indent="0">
              <a:lnSpc>
                <a:spcPct val="100000"/>
              </a:lnSpc>
              <a:buFont typeface="Arial" panose="020B0604020202020204" pitchFamily="34" charset="0"/>
              <a:buNone/>
              <a:defRPr sz="1600" b="0">
                <a:solidFill>
                  <a:schemeClr val="bg1"/>
                </a:solidFill>
                <a:effectLst>
                  <a:outerShdw blurRad="38100" dist="38100" dir="2700000" algn="tl">
                    <a:srgbClr val="000000">
                      <a:alpha val="43137"/>
                    </a:srgbClr>
                  </a:outerShdw>
                </a:effectLst>
              </a:defRPr>
            </a:lvl1pPr>
            <a:lvl2pPr marL="355600" indent="0">
              <a:buFont typeface="Arial" panose="020B0604020202020204" pitchFamily="34" charset="0"/>
              <a:buNone/>
              <a:defRPr sz="2600" b="1"/>
            </a:lvl2pPr>
            <a:lvl3pPr marL="717550" indent="0">
              <a:buFont typeface="Arial" panose="020B0604020202020204" pitchFamily="34" charset="0"/>
              <a:buNone/>
              <a:defRPr sz="2600" b="1"/>
            </a:lvl3pPr>
            <a:lvl4pPr marL="1073150" indent="0">
              <a:buFont typeface="Arial" panose="020B0604020202020204" pitchFamily="34" charset="0"/>
              <a:buNone/>
              <a:defRPr sz="2600" b="1"/>
            </a:lvl4pPr>
            <a:lvl5pPr marL="1435100" indent="0">
              <a:buFont typeface="Arial" panose="020B0604020202020204" pitchFamily="34" charset="0"/>
              <a:buNone/>
              <a:defRPr sz="2600" b="1"/>
            </a:lvl5pPr>
          </a:lstStyle>
          <a:p>
            <a:pPr lvl="0"/>
            <a:r>
              <a:rPr lang="en-US" noProof="0" dirty="0"/>
              <a:t>Click to add Acknowledgement, Project name, etc. (if applicable)</a:t>
            </a:r>
          </a:p>
        </p:txBody>
      </p:sp>
    </p:spTree>
    <p:extLst>
      <p:ext uri="{BB962C8B-B14F-4D97-AF65-F5344CB8AC3E}">
        <p14:creationId xmlns:p14="http://schemas.microsoft.com/office/powerpoint/2010/main" val="190524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0050" y="1188000"/>
            <a:ext cx="8343900" cy="3365893"/>
          </a:xfrm>
        </p:spPr>
        <p:txBody>
          <a:bodyPr/>
          <a:lstStyle>
            <a:lvl1pPr>
              <a:defRPr/>
            </a:lvl1pPr>
            <a:lvl2pPr>
              <a:defRPr/>
            </a:lvl2pPr>
            <a:lvl3pPr>
              <a:defRPr/>
            </a:lvl3pPr>
            <a:lvl4pPr>
              <a:defRPr/>
            </a:lvl4pPr>
            <a:lvl5pPr>
              <a:defRPr sz="1600"/>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627234" y="4748824"/>
            <a:ext cx="1027755" cy="396264"/>
          </a:xfrm>
          <a:prstGeom prst="rect">
            <a:avLst/>
          </a:prstGeom>
        </p:spPr>
        <p:txBody>
          <a:bodyPr/>
          <a:lstStyle/>
          <a:p>
            <a:endParaRPr lang="en-US" noProof="0"/>
          </a:p>
        </p:txBody>
      </p:sp>
      <p:sp>
        <p:nvSpPr>
          <p:cNvPr id="6" name="Slide Number Placeholder 5"/>
          <p:cNvSpPr>
            <a:spLocks noGrp="1"/>
          </p:cNvSpPr>
          <p:nvPr>
            <p:ph type="sldNum" sz="quarter" idx="12"/>
          </p:nvPr>
        </p:nvSpPr>
        <p:spPr>
          <a:xfrm>
            <a:off x="216000" y="4748824"/>
            <a:ext cx="326368" cy="396264"/>
          </a:xfrm>
          <a:prstGeom prst="rect">
            <a:avLst/>
          </a:prstGeom>
        </p:spPr>
        <p:txBody>
          <a:bodyPr/>
          <a:lstStyle>
            <a:lvl1pPr>
              <a:defRPr/>
            </a:lvl1pPr>
          </a:lstStyle>
          <a:p>
            <a:fld id="{61696EC4-B4CF-4701-AD06-A8439D6D8E12}" type="slidenum">
              <a:rPr lang="en-US" noProof="0" smtClean="0"/>
              <a:t>‹#›</a:t>
            </a:fld>
            <a:endParaRPr lang="en-US" noProof="0"/>
          </a:p>
        </p:txBody>
      </p:sp>
      <p:sp>
        <p:nvSpPr>
          <p:cNvPr id="7" name="Title Placeholder 1">
            <a:extLst>
              <a:ext uri="{FF2B5EF4-FFF2-40B4-BE49-F238E27FC236}">
                <a16:creationId xmlns:a16="http://schemas.microsoft.com/office/drawing/2014/main" id="{340BE303-A4F2-4BCB-AF82-DC9DDFB7C7E7}"/>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4091395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00050" y="1188000"/>
            <a:ext cx="4114800" cy="3446153"/>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Content Placeholder 3"/>
          <p:cNvSpPr>
            <a:spLocks noGrp="1"/>
          </p:cNvSpPr>
          <p:nvPr>
            <p:ph sz="half" idx="2" hasCustomPrompt="1"/>
          </p:nvPr>
        </p:nvSpPr>
        <p:spPr>
          <a:xfrm>
            <a:off x="4629150" y="1188000"/>
            <a:ext cx="4114799" cy="3446153"/>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627234" y="4748824"/>
            <a:ext cx="1027755" cy="396264"/>
          </a:xfrm>
          <a:prstGeom prst="rect">
            <a:avLst/>
          </a:prstGeom>
        </p:spPr>
        <p:txBody>
          <a:bodyPr/>
          <a:lstStyle/>
          <a:p>
            <a:endParaRPr lang="de-DE"/>
          </a:p>
        </p:txBody>
      </p:sp>
      <p:sp>
        <p:nvSpPr>
          <p:cNvPr id="7" name="Slide Number Placeholder 6"/>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286638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00050" y="1188000"/>
            <a:ext cx="2706624" cy="3446153"/>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Content Placeholder 3"/>
          <p:cNvSpPr>
            <a:spLocks noGrp="1"/>
          </p:cNvSpPr>
          <p:nvPr>
            <p:ph sz="half" idx="2" hasCustomPrompt="1"/>
          </p:nvPr>
        </p:nvSpPr>
        <p:spPr>
          <a:xfrm>
            <a:off x="3217545" y="1188000"/>
            <a:ext cx="2706624" cy="3446153"/>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627234" y="4748824"/>
            <a:ext cx="1027755" cy="396264"/>
          </a:xfrm>
          <a:prstGeom prst="rect">
            <a:avLst/>
          </a:prstGeom>
        </p:spPr>
        <p:txBody>
          <a:bodyPr/>
          <a:lstStyle/>
          <a:p>
            <a:endParaRPr lang="de-DE"/>
          </a:p>
        </p:txBody>
      </p:sp>
      <p:sp>
        <p:nvSpPr>
          <p:cNvPr id="7" name="Slide Number Placeholder 6"/>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8" name="Content Placeholder 3"/>
          <p:cNvSpPr>
            <a:spLocks noGrp="1"/>
          </p:cNvSpPr>
          <p:nvPr>
            <p:ph sz="half" idx="13" hasCustomPrompt="1"/>
          </p:nvPr>
        </p:nvSpPr>
        <p:spPr>
          <a:xfrm>
            <a:off x="6035040" y="1188000"/>
            <a:ext cx="2706624" cy="3446153"/>
          </a:xfrm>
        </p:spPr>
        <p:txBody>
          <a:bodyPr/>
          <a:lstStyle>
            <a:lvl1pPr algn="l">
              <a:defRPr/>
            </a:lvl1pPr>
            <a:lvl2pPr algn="l">
              <a:defRPr/>
            </a:lvl2pPr>
            <a:lvl3pPr algn="l">
              <a:defRPr/>
            </a:lvl3pPr>
            <a:lvl4pPr algn="l">
              <a:defRPr/>
            </a:lvl4pPr>
            <a:lvl5pPr algn="l">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Tree>
    <p:extLst>
      <p:ext uri="{BB962C8B-B14F-4D97-AF65-F5344CB8AC3E}">
        <p14:creationId xmlns:p14="http://schemas.microsoft.com/office/powerpoint/2010/main" val="2680639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8" name="Bildplatzhalter 4"/>
          <p:cNvSpPr>
            <a:spLocks noGrp="1"/>
          </p:cNvSpPr>
          <p:nvPr>
            <p:ph type="pic" sz="quarter" idx="13" hasCustomPrompt="1"/>
          </p:nvPr>
        </p:nvSpPr>
        <p:spPr>
          <a:xfrm>
            <a:off x="4655819" y="1188720"/>
            <a:ext cx="4100831" cy="3459481"/>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en-US" dirty="0"/>
              <a:t>Please insert a picture in the master slide</a:t>
            </a:r>
          </a:p>
        </p:txBody>
      </p:sp>
      <p:sp>
        <p:nvSpPr>
          <p:cNvPr id="3" name="Content Placeholder 2"/>
          <p:cNvSpPr>
            <a:spLocks noGrp="1"/>
          </p:cNvSpPr>
          <p:nvPr>
            <p:ph sz="half" idx="1" hasCustomPrompt="1"/>
          </p:nvPr>
        </p:nvSpPr>
        <p:spPr>
          <a:xfrm>
            <a:off x="400050" y="1188000"/>
            <a:ext cx="4114800" cy="3446153"/>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627234" y="4748824"/>
            <a:ext cx="1027755" cy="396264"/>
          </a:xfrm>
          <a:prstGeom prst="rect">
            <a:avLst/>
          </a:prstGeom>
        </p:spPr>
        <p:txBody>
          <a:bodyPr/>
          <a:lstStyle/>
          <a:p>
            <a:endParaRPr lang="de-DE"/>
          </a:p>
        </p:txBody>
      </p:sp>
      <p:sp>
        <p:nvSpPr>
          <p:cNvPr id="7" name="Slide Number Placeholder 6"/>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372711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00050" y="1188000"/>
            <a:ext cx="4098132" cy="618125"/>
          </a:xfrm>
        </p:spPr>
        <p:txBody>
          <a:bodyPr anchor="b">
            <a:normAutofit/>
          </a:bodyPr>
          <a:lstStyle>
            <a:lvl1pPr marL="0" indent="0">
              <a:buNone/>
              <a:defRPr sz="20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ltLang="de-DE" dirty="0"/>
              <a:t>Click to add subline</a:t>
            </a:r>
          </a:p>
        </p:txBody>
      </p:sp>
      <p:sp>
        <p:nvSpPr>
          <p:cNvPr id="4" name="Content Placeholder 3"/>
          <p:cNvSpPr>
            <a:spLocks noGrp="1"/>
          </p:cNvSpPr>
          <p:nvPr>
            <p:ph sz="half" idx="2" hasCustomPrompt="1"/>
          </p:nvPr>
        </p:nvSpPr>
        <p:spPr>
          <a:xfrm>
            <a:off x="400050" y="1937441"/>
            <a:ext cx="4098132" cy="2706239"/>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Text Placeholder 4"/>
          <p:cNvSpPr>
            <a:spLocks noGrp="1"/>
          </p:cNvSpPr>
          <p:nvPr>
            <p:ph type="body" sz="quarter" idx="3" hasCustomPrompt="1"/>
          </p:nvPr>
        </p:nvSpPr>
        <p:spPr>
          <a:xfrm>
            <a:off x="4645818" y="1188000"/>
            <a:ext cx="4098132" cy="618125"/>
          </a:xfrm>
        </p:spPr>
        <p:txBody>
          <a:bodyPr anchor="b">
            <a:normAutofit/>
          </a:bodyPr>
          <a:lstStyle>
            <a:lvl1pPr marL="0" indent="0">
              <a:buNone/>
              <a:defRPr sz="20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ltLang="de-DE" dirty="0"/>
              <a:t>Click to add subline</a:t>
            </a:r>
          </a:p>
        </p:txBody>
      </p:sp>
      <p:sp>
        <p:nvSpPr>
          <p:cNvPr id="6" name="Content Placeholder 5"/>
          <p:cNvSpPr>
            <a:spLocks noGrp="1"/>
          </p:cNvSpPr>
          <p:nvPr>
            <p:ph sz="quarter" idx="4" hasCustomPrompt="1"/>
          </p:nvPr>
        </p:nvSpPr>
        <p:spPr>
          <a:xfrm>
            <a:off x="4645818" y="1937441"/>
            <a:ext cx="4098132" cy="2706240"/>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7" name="Date Placeholder 6"/>
          <p:cNvSpPr>
            <a:spLocks noGrp="1"/>
          </p:cNvSpPr>
          <p:nvPr>
            <p:ph type="dt" sz="half" idx="10"/>
          </p:nvPr>
        </p:nvSpPr>
        <p:spPr>
          <a:xfrm>
            <a:off x="627234" y="4748824"/>
            <a:ext cx="1027755" cy="396264"/>
          </a:xfrm>
          <a:prstGeom prst="rect">
            <a:avLst/>
          </a:prstGeom>
        </p:spPr>
        <p:txBody>
          <a:bodyPr/>
          <a:lstStyle/>
          <a:p>
            <a:endParaRPr lang="de-DE"/>
          </a:p>
        </p:txBody>
      </p:sp>
      <p:sp>
        <p:nvSpPr>
          <p:cNvPr id="9" name="Slide Number Placeholder 8"/>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11" name="Title Placeholder 1">
            <a:extLst>
              <a:ext uri="{FF2B5EF4-FFF2-40B4-BE49-F238E27FC236}">
                <a16:creationId xmlns:a16="http://schemas.microsoft.com/office/drawing/2014/main" id="{7E438375-C357-462F-AB62-257249F8E3AC}"/>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30814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Vergleich">
    <p:spTree>
      <p:nvGrpSpPr>
        <p:cNvPr id="1" name=""/>
        <p:cNvGrpSpPr/>
        <p:nvPr/>
      </p:nvGrpSpPr>
      <p:grpSpPr>
        <a:xfrm>
          <a:off x="0" y="0"/>
          <a:ext cx="0" cy="0"/>
          <a:chOff x="0" y="0"/>
          <a:chExt cx="0" cy="0"/>
        </a:xfrm>
      </p:grpSpPr>
      <p:sp>
        <p:nvSpPr>
          <p:cNvPr id="10" name="Bildplatzhalter 4"/>
          <p:cNvSpPr>
            <a:spLocks noGrp="1"/>
          </p:cNvSpPr>
          <p:nvPr>
            <p:ph type="pic" sz="quarter" idx="13" hasCustomPrompt="1"/>
          </p:nvPr>
        </p:nvSpPr>
        <p:spPr>
          <a:xfrm>
            <a:off x="4655819" y="1943101"/>
            <a:ext cx="4100831" cy="2705099"/>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en-US" dirty="0"/>
              <a:t>Please insert a picture in the master slide</a:t>
            </a:r>
          </a:p>
        </p:txBody>
      </p:sp>
      <p:sp>
        <p:nvSpPr>
          <p:cNvPr id="3" name="Text Placeholder 2"/>
          <p:cNvSpPr>
            <a:spLocks noGrp="1"/>
          </p:cNvSpPr>
          <p:nvPr>
            <p:ph type="body" idx="1" hasCustomPrompt="1"/>
          </p:nvPr>
        </p:nvSpPr>
        <p:spPr>
          <a:xfrm>
            <a:off x="400050" y="1188000"/>
            <a:ext cx="4098132" cy="618125"/>
          </a:xfrm>
        </p:spPr>
        <p:txBody>
          <a:bodyPr anchor="b">
            <a:normAutofit/>
          </a:bodyPr>
          <a:lstStyle>
            <a:lvl1pPr marL="0" indent="0">
              <a:buNone/>
              <a:defRPr sz="20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ltLang="de-DE" dirty="0"/>
              <a:t>Click to add subline</a:t>
            </a:r>
          </a:p>
        </p:txBody>
      </p:sp>
      <p:sp>
        <p:nvSpPr>
          <p:cNvPr id="4" name="Content Placeholder 3"/>
          <p:cNvSpPr>
            <a:spLocks noGrp="1"/>
          </p:cNvSpPr>
          <p:nvPr>
            <p:ph sz="half" idx="2" hasCustomPrompt="1"/>
          </p:nvPr>
        </p:nvSpPr>
        <p:spPr>
          <a:xfrm>
            <a:off x="400050" y="1937441"/>
            <a:ext cx="4098132" cy="2706239"/>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Text Placeholder 4"/>
          <p:cNvSpPr>
            <a:spLocks noGrp="1"/>
          </p:cNvSpPr>
          <p:nvPr>
            <p:ph type="body" sz="quarter" idx="3" hasCustomPrompt="1"/>
          </p:nvPr>
        </p:nvSpPr>
        <p:spPr>
          <a:xfrm>
            <a:off x="4645818" y="1188000"/>
            <a:ext cx="4098132" cy="618125"/>
          </a:xfrm>
        </p:spPr>
        <p:txBody>
          <a:bodyPr anchor="b">
            <a:normAutofit/>
          </a:bodyPr>
          <a:lstStyle>
            <a:lvl1pPr marL="0" indent="0">
              <a:buNone/>
              <a:defRPr sz="20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ltLang="de-DE" dirty="0"/>
              <a:t>Click to add subline</a:t>
            </a:r>
          </a:p>
        </p:txBody>
      </p:sp>
      <p:sp>
        <p:nvSpPr>
          <p:cNvPr id="7" name="Date Placeholder 6"/>
          <p:cNvSpPr>
            <a:spLocks noGrp="1"/>
          </p:cNvSpPr>
          <p:nvPr>
            <p:ph type="dt" sz="half" idx="10"/>
          </p:nvPr>
        </p:nvSpPr>
        <p:spPr>
          <a:xfrm>
            <a:off x="627234" y="4748824"/>
            <a:ext cx="1027755" cy="396264"/>
          </a:xfrm>
          <a:prstGeom prst="rect">
            <a:avLst/>
          </a:prstGeom>
        </p:spPr>
        <p:txBody>
          <a:bodyPr/>
          <a:lstStyle/>
          <a:p>
            <a:endParaRPr lang="de-DE"/>
          </a:p>
        </p:txBody>
      </p:sp>
      <p:sp>
        <p:nvSpPr>
          <p:cNvPr id="9" name="Slide Number Placeholder 8"/>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11" name="Title Placeholder 1">
            <a:extLst>
              <a:ext uri="{FF2B5EF4-FFF2-40B4-BE49-F238E27FC236}">
                <a16:creationId xmlns:a16="http://schemas.microsoft.com/office/drawing/2014/main" id="{7E438375-C357-462F-AB62-257249F8E3AC}"/>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p>
        </p:txBody>
      </p:sp>
    </p:spTree>
    <p:extLst>
      <p:ext uri="{BB962C8B-B14F-4D97-AF65-F5344CB8AC3E}">
        <p14:creationId xmlns:p14="http://schemas.microsoft.com/office/powerpoint/2010/main" val="947471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27234" y="4748824"/>
            <a:ext cx="1027755" cy="396264"/>
          </a:xfrm>
          <a:prstGeom prst="rect">
            <a:avLst/>
          </a:prstGeom>
        </p:spPr>
        <p:txBody>
          <a:bodyPr/>
          <a:lstStyle/>
          <a:p>
            <a:endParaRPr lang="de-DE"/>
          </a:p>
        </p:txBody>
      </p:sp>
      <p:sp>
        <p:nvSpPr>
          <p:cNvPr id="5" name="Slide Number Placeholder 4"/>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8" name="Bildplatzhalter 3"/>
          <p:cNvSpPr>
            <a:spLocks noGrp="1"/>
          </p:cNvSpPr>
          <p:nvPr>
            <p:ph type="pic" sz="quarter" idx="14"/>
          </p:nvPr>
        </p:nvSpPr>
        <p:spPr>
          <a:xfrm>
            <a:off x="0" y="1328420"/>
            <a:ext cx="9144000" cy="3304540"/>
          </a:xfrm>
          <a:solidFill>
            <a:srgbClr val="FF99FF"/>
          </a:solidFill>
        </p:spPr>
        <p:txBody>
          <a:bodyPr anchor="t"/>
          <a:lstStyle>
            <a:lvl1pPr marL="0" indent="0" algn="ctr">
              <a:buFont typeface="Arial" panose="020B0604020202020204" pitchFamily="34" charset="0"/>
              <a:buNone/>
              <a:defRPr/>
            </a:lvl1pPr>
          </a:lstStyle>
          <a:p>
            <a:endParaRPr lang="de-DE" dirty="0"/>
          </a:p>
          <a:p>
            <a:r>
              <a:rPr lang="en-US" dirty="0"/>
              <a:t>Please insert a picture in the master slide</a:t>
            </a:r>
          </a:p>
        </p:txBody>
      </p:sp>
    </p:spTree>
    <p:extLst>
      <p:ext uri="{BB962C8B-B14F-4D97-AF65-F5344CB8AC3E}">
        <p14:creationId xmlns:p14="http://schemas.microsoft.com/office/powerpoint/2010/main" val="969953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27234" y="4748824"/>
            <a:ext cx="1027755" cy="396264"/>
          </a:xfrm>
          <a:prstGeom prst="rect">
            <a:avLst/>
          </a:prstGeom>
        </p:spPr>
        <p:txBody>
          <a:bodyPr/>
          <a:lstStyle/>
          <a:p>
            <a:endParaRPr lang="de-DE"/>
          </a:p>
        </p:txBody>
      </p:sp>
      <p:sp>
        <p:nvSpPr>
          <p:cNvPr id="5" name="Slide Number Placeholder 4"/>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2" name="Rechteck 1"/>
          <p:cNvSpPr/>
          <p:nvPr userDrawn="1"/>
        </p:nvSpPr>
        <p:spPr>
          <a:xfrm>
            <a:off x="0" y="4652492"/>
            <a:ext cx="9144000" cy="182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3"/>
          <p:cNvSpPr>
            <a:spLocks noGrp="1"/>
          </p:cNvSpPr>
          <p:nvPr>
            <p:ph type="pic" sz="quarter" idx="14"/>
          </p:nvPr>
        </p:nvSpPr>
        <p:spPr>
          <a:xfrm>
            <a:off x="0" y="1328419"/>
            <a:ext cx="9144000" cy="3419793"/>
          </a:xfrm>
          <a:solidFill>
            <a:srgbClr val="FF99FF"/>
          </a:solidFill>
        </p:spPr>
        <p:txBody>
          <a:bodyPr anchor="t"/>
          <a:lstStyle>
            <a:lvl1pPr marL="0" indent="0" algn="ctr">
              <a:buFont typeface="Arial" panose="020B0604020202020204" pitchFamily="34" charset="0"/>
              <a:buNone/>
              <a:defRPr/>
            </a:lvl1pPr>
          </a:lstStyle>
          <a:p>
            <a:endParaRPr lang="de-DE" dirty="0"/>
          </a:p>
          <a:p>
            <a:r>
              <a:rPr lang="en-US" dirty="0"/>
              <a:t>Please insert a picture in the master slide</a:t>
            </a:r>
          </a:p>
        </p:txBody>
      </p:sp>
    </p:spTree>
    <p:extLst>
      <p:ext uri="{BB962C8B-B14F-4D97-AF65-F5344CB8AC3E}">
        <p14:creationId xmlns:p14="http://schemas.microsoft.com/office/powerpoint/2010/main" val="3671066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27234" y="4748824"/>
            <a:ext cx="1027755" cy="396264"/>
          </a:xfrm>
          <a:prstGeom prst="rect">
            <a:avLst/>
          </a:prstGeom>
        </p:spPr>
        <p:txBody>
          <a:bodyPr/>
          <a:lstStyle/>
          <a:p>
            <a:endParaRPr lang="de-DE"/>
          </a:p>
        </p:txBody>
      </p:sp>
      <p:sp>
        <p:nvSpPr>
          <p:cNvPr id="5" name="Slide Number Placeholder 4"/>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2373164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7234" y="4748824"/>
            <a:ext cx="1027755" cy="396264"/>
          </a:xfrm>
          <a:prstGeom prst="rect">
            <a:avLst/>
          </a:prstGeom>
        </p:spPr>
        <p:txBody>
          <a:bodyPr/>
          <a:lstStyle/>
          <a:p>
            <a:endParaRPr lang="de-DE"/>
          </a:p>
        </p:txBody>
      </p:sp>
      <p:sp>
        <p:nvSpPr>
          <p:cNvPr id="4" name="Slide Number Placeholder 3"/>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Tree>
    <p:extLst>
      <p:ext uri="{BB962C8B-B14F-4D97-AF65-F5344CB8AC3E}">
        <p14:creationId xmlns:p14="http://schemas.microsoft.com/office/powerpoint/2010/main" val="2060272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mit Überschri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61640" y="1188000"/>
            <a:ext cx="4882310" cy="3209146"/>
          </a:xfrm>
        </p:spPr>
        <p:txBody>
          <a:bodyPr/>
          <a:lstStyle>
            <a:lvl1pPr>
              <a:defRPr sz="1500"/>
            </a:lvl1pPr>
            <a:lvl2pPr>
              <a:defRPr sz="1350"/>
            </a:lvl2pPr>
            <a:lvl3pPr>
              <a:defRPr sz="1200"/>
            </a:lvl3pPr>
            <a:lvl4pPr>
              <a:defRPr sz="1200"/>
            </a:lvl4pPr>
            <a:lvl5pPr marL="1076612" indent="0">
              <a:buNone/>
              <a:defRPr sz="1200"/>
            </a:lvl5pPr>
            <a:lvl6pPr>
              <a:defRPr sz="1500"/>
            </a:lvl6pPr>
            <a:lvl7pPr>
              <a:defRPr sz="1500"/>
            </a:lvl7pPr>
            <a:lvl8pPr>
              <a:defRPr sz="1500"/>
            </a:lvl8pPr>
            <a:lvl9pPr>
              <a:defRPr sz="1500"/>
            </a:lvl9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Text Placeholder 3"/>
          <p:cNvSpPr>
            <a:spLocks noGrp="1"/>
          </p:cNvSpPr>
          <p:nvPr>
            <p:ph type="body" sz="half" idx="2" hasCustomPrompt="1"/>
          </p:nvPr>
        </p:nvSpPr>
        <p:spPr>
          <a:xfrm>
            <a:off x="400051" y="1188001"/>
            <a:ext cx="3178969" cy="3209146"/>
          </a:xfrm>
        </p:spPr>
        <p:txBody>
          <a:bodyPr/>
          <a:lstStyle>
            <a:lvl1pPr marL="0" indent="0">
              <a:buNone/>
              <a:defRPr sz="1200"/>
            </a:lvl1pPr>
            <a:lvl2pPr marL="342991" indent="0">
              <a:buNone/>
              <a:defRPr sz="1050"/>
            </a:lvl2pPr>
            <a:lvl3pPr marL="685983" indent="0">
              <a:buNone/>
              <a:defRPr sz="900"/>
            </a:lvl3pPr>
            <a:lvl4pPr marL="1028974" indent="0">
              <a:buNone/>
              <a:defRPr sz="750"/>
            </a:lvl4pPr>
            <a:lvl5pPr marL="1371966" indent="0">
              <a:buNone/>
              <a:defRPr sz="750"/>
            </a:lvl5pPr>
            <a:lvl6pPr marL="1714957" indent="0">
              <a:buNone/>
              <a:defRPr sz="750"/>
            </a:lvl6pPr>
            <a:lvl7pPr marL="2057949" indent="0">
              <a:buNone/>
              <a:defRPr sz="750"/>
            </a:lvl7pPr>
            <a:lvl8pPr marL="2400940" indent="0">
              <a:buNone/>
              <a:defRPr sz="750"/>
            </a:lvl8pPr>
            <a:lvl9pPr marL="2743932" indent="0">
              <a:buNone/>
              <a:defRPr sz="750"/>
            </a:lvl9pPr>
          </a:lstStyle>
          <a:p>
            <a:pPr lvl="0"/>
            <a:r>
              <a:rPr lang="en-US" altLang="de-DE" dirty="0"/>
              <a:t>Click to add text</a:t>
            </a:r>
          </a:p>
        </p:txBody>
      </p:sp>
      <p:sp>
        <p:nvSpPr>
          <p:cNvPr id="5" name="Date Placeholder 4"/>
          <p:cNvSpPr>
            <a:spLocks noGrp="1"/>
          </p:cNvSpPr>
          <p:nvPr>
            <p:ph type="dt" sz="half" idx="10"/>
          </p:nvPr>
        </p:nvSpPr>
        <p:spPr>
          <a:xfrm>
            <a:off x="627234" y="4748824"/>
            <a:ext cx="1027755" cy="396264"/>
          </a:xfrm>
          <a:prstGeom prst="rect">
            <a:avLst/>
          </a:prstGeom>
        </p:spPr>
        <p:txBody>
          <a:bodyPr/>
          <a:lstStyle/>
          <a:p>
            <a:endParaRPr lang="de-DE"/>
          </a:p>
        </p:txBody>
      </p:sp>
      <p:sp>
        <p:nvSpPr>
          <p:cNvPr id="7" name="Slide Number Placeholder 6"/>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9" name="Title Placeholder 1">
            <a:extLst>
              <a:ext uri="{FF2B5EF4-FFF2-40B4-BE49-F238E27FC236}">
                <a16:creationId xmlns:a16="http://schemas.microsoft.com/office/drawing/2014/main" id="{5F47D9EC-E3C8-4173-84B3-DB5A91069C3D}"/>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1170020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ild mit Überschrift">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43915" y="468662"/>
            <a:ext cx="5471285" cy="3112861"/>
          </a:xfrm>
        </p:spPr>
        <p:txBody>
          <a:bodyPr anchor="t"/>
          <a:lstStyle>
            <a:lvl1pPr marL="0" indent="0">
              <a:buNone/>
              <a:defRPr sz="2401"/>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de-DE" dirty="0"/>
              <a:t>Bild</a:t>
            </a:r>
          </a:p>
        </p:txBody>
      </p:sp>
      <p:sp>
        <p:nvSpPr>
          <p:cNvPr id="5" name="Date Placeholder 4"/>
          <p:cNvSpPr>
            <a:spLocks noGrp="1"/>
          </p:cNvSpPr>
          <p:nvPr>
            <p:ph type="dt" sz="half" idx="10"/>
          </p:nvPr>
        </p:nvSpPr>
        <p:spPr>
          <a:xfrm>
            <a:off x="627234" y="4748824"/>
            <a:ext cx="1027755" cy="396264"/>
          </a:xfrm>
          <a:prstGeom prst="rect">
            <a:avLst/>
          </a:prstGeom>
        </p:spPr>
        <p:txBody>
          <a:bodyPr/>
          <a:lstStyle/>
          <a:p>
            <a:endParaRPr lang="de-DE"/>
          </a:p>
        </p:txBody>
      </p:sp>
      <p:sp>
        <p:nvSpPr>
          <p:cNvPr id="7" name="Slide Number Placeholder 6"/>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8" name="Title 1">
            <a:extLst>
              <a:ext uri="{FF2B5EF4-FFF2-40B4-BE49-F238E27FC236}">
                <a16:creationId xmlns:a16="http://schemas.microsoft.com/office/drawing/2014/main" id="{874D6481-F98B-45EE-B6D0-BF8C42A11F43}"/>
              </a:ext>
            </a:extLst>
          </p:cNvPr>
          <p:cNvSpPr>
            <a:spLocks noGrp="1"/>
          </p:cNvSpPr>
          <p:nvPr>
            <p:ph type="title" hasCustomPrompt="1"/>
          </p:nvPr>
        </p:nvSpPr>
        <p:spPr>
          <a:xfrm>
            <a:off x="1843914" y="3628492"/>
            <a:ext cx="5468677" cy="425214"/>
          </a:xfrm>
          <a:prstGeom prst="rect">
            <a:avLst/>
          </a:prstGeom>
        </p:spPr>
        <p:txBody>
          <a:bodyPr anchor="b">
            <a:normAutofit/>
          </a:bodyPr>
          <a:lstStyle>
            <a:lvl1pPr>
              <a:defRPr sz="1500"/>
            </a:lvl1pPr>
          </a:lstStyle>
          <a:p>
            <a:r>
              <a:rPr lang="en-US" altLang="de-DE" dirty="0"/>
              <a:t>Click to add title</a:t>
            </a:r>
            <a:endParaRPr lang="en-US" dirty="0"/>
          </a:p>
        </p:txBody>
      </p:sp>
      <p:sp>
        <p:nvSpPr>
          <p:cNvPr id="9" name="Text Placeholder 3">
            <a:extLst>
              <a:ext uri="{FF2B5EF4-FFF2-40B4-BE49-F238E27FC236}">
                <a16:creationId xmlns:a16="http://schemas.microsoft.com/office/drawing/2014/main" id="{85119134-5DDA-43C1-B0D4-2BD9056B0DD6}"/>
              </a:ext>
            </a:extLst>
          </p:cNvPr>
          <p:cNvSpPr>
            <a:spLocks noGrp="1"/>
          </p:cNvSpPr>
          <p:nvPr>
            <p:ph type="body" sz="half" idx="2"/>
          </p:nvPr>
        </p:nvSpPr>
        <p:spPr>
          <a:xfrm>
            <a:off x="1846522" y="4099062"/>
            <a:ext cx="5468677" cy="577364"/>
          </a:xfrm>
        </p:spPr>
        <p:txBody>
          <a:bodyPr>
            <a:normAutofit/>
          </a:bodyPr>
          <a:lstStyle>
            <a:lvl1pPr marL="0" indent="0">
              <a:buNone/>
              <a:defRPr sz="1050"/>
            </a:lvl1pPr>
            <a:lvl2pPr marL="342991" indent="0">
              <a:buNone/>
              <a:defRPr sz="1050"/>
            </a:lvl2pPr>
            <a:lvl3pPr marL="685983" indent="0">
              <a:buNone/>
              <a:defRPr sz="900"/>
            </a:lvl3pPr>
            <a:lvl4pPr marL="1028974" indent="0">
              <a:buNone/>
              <a:defRPr sz="750"/>
            </a:lvl4pPr>
            <a:lvl5pPr marL="1371966" indent="0">
              <a:buNone/>
              <a:defRPr sz="750"/>
            </a:lvl5pPr>
            <a:lvl6pPr marL="1714957" indent="0">
              <a:buNone/>
              <a:defRPr sz="750"/>
            </a:lvl6pPr>
            <a:lvl7pPr marL="2057949" indent="0">
              <a:buNone/>
              <a:defRPr sz="750"/>
            </a:lvl7pPr>
            <a:lvl8pPr marL="2400940" indent="0">
              <a:buNone/>
              <a:defRPr sz="750"/>
            </a:lvl8pPr>
            <a:lvl9pPr marL="2743932" indent="0">
              <a:buNone/>
              <a:defRPr sz="750"/>
            </a:lvl9pPr>
          </a:lstStyle>
          <a:p>
            <a:pPr lvl="0"/>
            <a:r>
              <a:rPr lang="en-US" altLang="de-DE" dirty="0" err="1"/>
              <a:t>Mastertextformat</a:t>
            </a:r>
            <a:r>
              <a:rPr lang="en-US" altLang="de-DE" dirty="0"/>
              <a:t> </a:t>
            </a:r>
            <a:r>
              <a:rPr lang="en-US" altLang="de-DE" dirty="0" err="1"/>
              <a:t>bearbeiten</a:t>
            </a:r>
            <a:endParaRPr lang="en-US" altLang="de-DE" dirty="0"/>
          </a:p>
        </p:txBody>
      </p:sp>
    </p:spTree>
    <p:extLst>
      <p:ext uri="{BB962C8B-B14F-4D97-AF65-F5344CB8AC3E}">
        <p14:creationId xmlns:p14="http://schemas.microsoft.com/office/powerpoint/2010/main" val="143674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a:xfrm>
            <a:off x="400050" y="1068308"/>
            <a:ext cx="8343900" cy="3512663"/>
          </a:xfrm>
        </p:spPr>
        <p:txBody>
          <a:bodyPr vert="eaVert"/>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627234" y="4748824"/>
            <a:ext cx="1027755" cy="396264"/>
          </a:xfrm>
          <a:prstGeom prst="rect">
            <a:avLst/>
          </a:prstGeom>
        </p:spPr>
        <p:txBody>
          <a:bodyPr/>
          <a:lstStyle/>
          <a:p>
            <a:endParaRPr lang="de-DE"/>
          </a:p>
        </p:txBody>
      </p:sp>
      <p:sp>
        <p:nvSpPr>
          <p:cNvPr id="6" name="Slide Number Placeholder 5"/>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
        <p:nvSpPr>
          <p:cNvPr id="8" name="Title Placeholder 1">
            <a:extLst>
              <a:ext uri="{FF2B5EF4-FFF2-40B4-BE49-F238E27FC236}">
                <a16:creationId xmlns:a16="http://schemas.microsoft.com/office/drawing/2014/main" id="{A0AF9471-6F4B-417A-9B82-1D3AC42AE952}"/>
              </a:ext>
            </a:extLst>
          </p:cNvPr>
          <p:cNvSpPr>
            <a:spLocks noGrp="1"/>
          </p:cNvSpPr>
          <p:nvPr>
            <p:ph type="title" hasCustomPrompt="1"/>
          </p:nvPr>
        </p:nvSpPr>
        <p:spPr>
          <a:xfrm>
            <a:off x="396000" y="296244"/>
            <a:ext cx="6869178" cy="575989"/>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155266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770387" y="273928"/>
            <a:ext cx="1971675" cy="4360224"/>
          </a:xfrm>
          <a:prstGeom prst="rect">
            <a:avLst/>
          </a:prstGeom>
        </p:spPr>
        <p:txBody>
          <a:bodyPr vert="eaVert"/>
          <a:lstStyle>
            <a:lvl1pPr>
              <a:defRPr/>
            </a:lvl1pPr>
          </a:lstStyle>
          <a:p>
            <a:r>
              <a:rPr lang="en-US" altLang="de-DE" dirty="0"/>
              <a:t>Click to add title</a:t>
            </a:r>
            <a:endParaRPr lang="en-US" dirty="0"/>
          </a:p>
        </p:txBody>
      </p:sp>
      <p:sp>
        <p:nvSpPr>
          <p:cNvPr id="3" name="Vertical Text Placeholder 2"/>
          <p:cNvSpPr>
            <a:spLocks noGrp="1"/>
          </p:cNvSpPr>
          <p:nvPr>
            <p:ph type="body" orient="vert" idx="1" hasCustomPrompt="1"/>
          </p:nvPr>
        </p:nvSpPr>
        <p:spPr>
          <a:xfrm>
            <a:off x="401940" y="273928"/>
            <a:ext cx="6225572" cy="4360224"/>
          </a:xfrm>
        </p:spPr>
        <p:txBody>
          <a:bodyPr vert="eaVert"/>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627234" y="4748824"/>
            <a:ext cx="1027755" cy="396264"/>
          </a:xfrm>
          <a:prstGeom prst="rect">
            <a:avLst/>
          </a:prstGeom>
        </p:spPr>
        <p:txBody>
          <a:bodyPr/>
          <a:lstStyle/>
          <a:p>
            <a:endParaRPr lang="de-DE"/>
          </a:p>
        </p:txBody>
      </p:sp>
      <p:sp>
        <p:nvSpPr>
          <p:cNvPr id="6" name="Slide Number Placeholder 5"/>
          <p:cNvSpPr>
            <a:spLocks noGrp="1"/>
          </p:cNvSpPr>
          <p:nvPr>
            <p:ph type="sldNum" sz="quarter" idx="12"/>
          </p:nvPr>
        </p:nvSpPr>
        <p:spPr>
          <a:xfrm>
            <a:off x="216000" y="4748824"/>
            <a:ext cx="326368" cy="396264"/>
          </a:xfrm>
          <a:prstGeom prst="rect">
            <a:avLst/>
          </a:prstGeom>
        </p:spPr>
        <p:txBody>
          <a:bodyPr/>
          <a:lstStyle/>
          <a:p>
            <a:fld id="{61696EC4-B4CF-4701-AD06-A8439D6D8E12}" type="slidenum">
              <a:rPr lang="de-DE" smtClean="0"/>
              <a:t>‹#›</a:t>
            </a:fld>
            <a:endParaRPr lang="de-DE"/>
          </a:p>
        </p:txBody>
      </p:sp>
    </p:spTree>
    <p:extLst>
      <p:ext uri="{BB962C8B-B14F-4D97-AF65-F5344CB8AC3E}">
        <p14:creationId xmlns:p14="http://schemas.microsoft.com/office/powerpoint/2010/main" val="1922369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62DFE-5A86-6B57-77BC-E4A0D0EDB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B4BFCA-6942-6D0E-5FD9-FD54AFAC7B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04AC86-C379-EAB1-D96C-900A4EA6D4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7CF41E-9ABA-12D6-BD56-9D8C01C27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99BE9-03EC-F0D3-7532-7F4449FD3EC4}"/>
              </a:ext>
            </a:extLst>
          </p:cNvPr>
          <p:cNvSpPr>
            <a:spLocks noGrp="1"/>
          </p:cNvSpPr>
          <p:nvPr>
            <p:ph type="sldNum" sz="quarter" idx="12"/>
          </p:nvPr>
        </p:nvSpPr>
        <p:spPr/>
        <p:txBody>
          <a:bodyPr/>
          <a:lstStyle/>
          <a:p>
            <a:fld id="{3626266D-1553-1D42-A4A7-21630171A50C}" type="slidenum">
              <a:rPr lang="en-US" smtClean="0"/>
              <a:t>‹#›</a:t>
            </a:fld>
            <a:endParaRPr lang="en-US"/>
          </a:p>
        </p:txBody>
      </p:sp>
    </p:spTree>
    <p:extLst>
      <p:ext uri="{BB962C8B-B14F-4D97-AF65-F5344CB8AC3E}">
        <p14:creationId xmlns:p14="http://schemas.microsoft.com/office/powerpoint/2010/main" val="720304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6000" y="296244"/>
            <a:ext cx="6869178" cy="575989"/>
          </a:xfrm>
          <a:prstGeom prst="rect">
            <a:avLst/>
          </a:prstGeom>
        </p:spPr>
        <p:txBody>
          <a:bodyPr vert="horz" lIns="0" tIns="0" rIns="0" bIns="0" rtlCol="0" anchor="b">
            <a:normAutofit/>
          </a:bodyPr>
          <a:lstStyle/>
          <a:p>
            <a:r>
              <a:rPr lang="en-US" altLang="de-DE" dirty="0"/>
              <a:t>Click to add title</a:t>
            </a:r>
            <a:endParaRPr lang="en-US" dirty="0"/>
          </a:p>
        </p:txBody>
      </p:sp>
      <p:sp>
        <p:nvSpPr>
          <p:cNvPr id="3" name="Text Placeholder 2"/>
          <p:cNvSpPr>
            <a:spLocks noGrp="1"/>
          </p:cNvSpPr>
          <p:nvPr>
            <p:ph type="body" idx="1"/>
          </p:nvPr>
        </p:nvSpPr>
        <p:spPr>
          <a:xfrm>
            <a:off x="396000" y="1187341"/>
            <a:ext cx="8351999" cy="3393631"/>
          </a:xfrm>
          <a:prstGeom prst="rect">
            <a:avLst/>
          </a:prstGeom>
        </p:spPr>
        <p:txBody>
          <a:bodyPr vert="horz" lIns="0" tIns="0" rIns="0" bIns="0" rtlCol="0">
            <a:normAutofit/>
          </a:bodyPr>
          <a:lstStyle/>
          <a:p>
            <a:pPr lvl="0"/>
            <a:r>
              <a:rPr lang="de-DE" altLang="de-DE" dirty="0"/>
              <a:t>Karlsruher Institute </a:t>
            </a:r>
            <a:r>
              <a:rPr lang="de-DE" altLang="de-DE" dirty="0" err="1"/>
              <a:t>for</a:t>
            </a:r>
            <a:r>
              <a:rPr lang="de-DE" altLang="de-DE" dirty="0"/>
              <a:t> Technology (KIT).</a:t>
            </a:r>
          </a:p>
          <a:p>
            <a:pPr lvl="1"/>
            <a:r>
              <a:rPr lang="en-US" altLang="de-DE" dirty="0"/>
              <a:t>Second level</a:t>
            </a:r>
          </a:p>
          <a:p>
            <a:pPr lvl="2"/>
            <a:r>
              <a:rPr lang="en-US" altLang="de-DE" dirty="0"/>
              <a:t>Third level</a:t>
            </a:r>
          </a:p>
          <a:p>
            <a:pPr lvl="3"/>
            <a:r>
              <a:rPr lang="en-US" altLang="de-DE" dirty="0"/>
              <a:t>Fourth level           </a:t>
            </a:r>
          </a:p>
        </p:txBody>
      </p:sp>
      <p:cxnSp>
        <p:nvCxnSpPr>
          <p:cNvPr id="12" name="Gerade Verbindung 11"/>
          <p:cNvCxnSpPr/>
          <p:nvPr userDrawn="1"/>
        </p:nvCxnSpPr>
        <p:spPr>
          <a:xfrm>
            <a:off x="107947" y="4741374"/>
            <a:ext cx="8640052"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Grafik 13">
            <a:extLst>
              <a:ext uri="{FF2B5EF4-FFF2-40B4-BE49-F238E27FC236}">
                <a16:creationId xmlns:a16="http://schemas.microsoft.com/office/drawing/2014/main" id="{49C6492B-9F9B-4588-8AB6-62DBF42A6EA9}"/>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668000" y="331200"/>
            <a:ext cx="1079999" cy="500374"/>
          </a:xfrm>
          <a:prstGeom prst="rect">
            <a:avLst/>
          </a:prstGeom>
        </p:spPr>
      </p:pic>
      <p:sp>
        <p:nvSpPr>
          <p:cNvPr id="15" name="Date Placeholder 3"/>
          <p:cNvSpPr>
            <a:spLocks noGrp="1"/>
          </p:cNvSpPr>
          <p:nvPr>
            <p:ph type="dt" sz="half" idx="2"/>
          </p:nvPr>
        </p:nvSpPr>
        <p:spPr>
          <a:xfrm>
            <a:off x="627234" y="4748824"/>
            <a:ext cx="1027755" cy="396264"/>
          </a:xfrm>
          <a:prstGeom prst="rect">
            <a:avLst/>
          </a:prstGeom>
        </p:spPr>
        <p:txBody>
          <a:bodyPr vert="horz" lIns="0" tIns="0" rIns="0" bIns="0" rtlCol="0" anchor="ctr"/>
          <a:lstStyle>
            <a:lvl1pPr algn="l">
              <a:defRPr sz="900">
                <a:solidFill>
                  <a:schemeClr val="tx1"/>
                </a:solidFill>
              </a:defRPr>
            </a:lvl1pPr>
          </a:lstStyle>
          <a:p>
            <a:endParaRPr lang="en-US" dirty="0"/>
          </a:p>
        </p:txBody>
      </p:sp>
      <p:sp>
        <p:nvSpPr>
          <p:cNvPr id="16" name="Slide Number Placeholder 5"/>
          <p:cNvSpPr>
            <a:spLocks noGrp="1"/>
          </p:cNvSpPr>
          <p:nvPr>
            <p:ph type="sldNum" sz="quarter" idx="4"/>
          </p:nvPr>
        </p:nvSpPr>
        <p:spPr>
          <a:xfrm>
            <a:off x="216000" y="4748824"/>
            <a:ext cx="326368" cy="396264"/>
          </a:xfrm>
          <a:prstGeom prst="rect">
            <a:avLst/>
          </a:prstGeom>
        </p:spPr>
        <p:txBody>
          <a:bodyPr vert="horz" lIns="0" tIns="0" rIns="0" bIns="0" rtlCol="0" anchor="ctr"/>
          <a:lstStyle>
            <a:lvl1pPr algn="l">
              <a:defRPr sz="900" b="1">
                <a:solidFill>
                  <a:schemeClr val="tx1"/>
                </a:solidFill>
              </a:defRPr>
            </a:lvl1pPr>
          </a:lstStyle>
          <a:p>
            <a:fld id="{61696EC4-B4CF-4701-AD06-A8439D6D8E12}" type="slidenum">
              <a:rPr lang="en-US" smtClean="0"/>
              <a:pPr/>
              <a:t>‹#›</a:t>
            </a:fld>
            <a:endParaRPr lang="en-US" dirty="0"/>
          </a:p>
        </p:txBody>
      </p:sp>
      <p:sp>
        <p:nvSpPr>
          <p:cNvPr id="17" name="Footer Placeholder 4">
            <a:extLst>
              <a:ext uri="{FF2B5EF4-FFF2-40B4-BE49-F238E27FC236}">
                <a16:creationId xmlns:a16="http://schemas.microsoft.com/office/drawing/2014/main" id="{74D87B36-D57F-487F-9086-156B2F77E750}"/>
              </a:ext>
            </a:extLst>
          </p:cNvPr>
          <p:cNvSpPr txBox="1">
            <a:spLocks/>
          </p:cNvSpPr>
          <p:nvPr userDrawn="1"/>
        </p:nvSpPr>
        <p:spPr>
          <a:xfrm>
            <a:off x="1700330" y="4748824"/>
            <a:ext cx="3681295" cy="396264"/>
          </a:xfrm>
          <a:prstGeom prst="rect">
            <a:avLst/>
          </a:prstGeom>
        </p:spPr>
        <p:txBody>
          <a:bodyPr vert="horz" lIns="0" tIns="0" rIns="0" bIns="0" rtlCol="0" anchor="ctr"/>
          <a:lstStyle>
            <a:defPPr>
              <a:defRPr lang="en-US"/>
            </a:defPPr>
            <a:lvl1pPr marL="0" algn="l"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50000"/>
              </a:spcBef>
              <a:defRPr/>
            </a:pPr>
            <a:r>
              <a:rPr lang="en-US" sz="900" dirty="0"/>
              <a:t>Speaker (e.g. J. Henkel) @ Conference, Place, Date</a:t>
            </a:r>
            <a:endParaRPr lang="de-DE" sz="900" b="1" dirty="0"/>
          </a:p>
        </p:txBody>
      </p:sp>
      <p:sp>
        <p:nvSpPr>
          <p:cNvPr id="18" name="Fußzeilenplatzhalter 4">
            <a:extLst>
              <a:ext uri="{FF2B5EF4-FFF2-40B4-BE49-F238E27FC236}">
                <a16:creationId xmlns:a16="http://schemas.microsoft.com/office/drawing/2014/main" id="{AE6A56DB-B5EE-4225-952A-4A1FEE4F4716}"/>
              </a:ext>
            </a:extLst>
          </p:cNvPr>
          <p:cNvSpPr txBox="1">
            <a:spLocks/>
          </p:cNvSpPr>
          <p:nvPr userDrawn="1"/>
        </p:nvSpPr>
        <p:spPr>
          <a:xfrm>
            <a:off x="4427973" y="4741374"/>
            <a:ext cx="3464002" cy="396264"/>
          </a:xfrm>
          <a:prstGeom prst="rect">
            <a:avLst/>
          </a:prstGeom>
        </p:spPr>
        <p:txBody>
          <a:bodyPr vert="horz" lIns="0" tIns="0" rIns="0" bIns="0" rtlCol="0" anchor="ctr"/>
          <a:lstStyle>
            <a:defPPr>
              <a:defRPr lang="de-DE"/>
            </a:defPPr>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base" latinLnBrk="0" hangingPunct="1">
              <a:lnSpc>
                <a:spcPct val="100000"/>
              </a:lnSpc>
              <a:spcBef>
                <a:spcPts val="0"/>
              </a:spcBef>
              <a:spcAft>
                <a:spcPts val="200"/>
              </a:spcAft>
              <a:buClrTx/>
              <a:buSzTx/>
              <a:buFontTx/>
              <a:buNone/>
              <a:tabLst/>
              <a:defRPr/>
            </a:pPr>
            <a:r>
              <a:rPr lang="en-US" sz="900" kern="1200" noProof="0" dirty="0">
                <a:solidFill>
                  <a:schemeClr val="tx1"/>
                </a:solidFill>
                <a:latin typeface="Arial" charset="0"/>
                <a:ea typeface="+mn-ea"/>
                <a:cs typeface="+mn-cs"/>
              </a:rPr>
              <a:t>ces.itec.kit.edu</a:t>
            </a:r>
            <a:endParaRPr lang="en-US" sz="900" dirty="0"/>
          </a:p>
        </p:txBody>
      </p:sp>
      <p:pic>
        <p:nvPicPr>
          <p:cNvPr id="5" name="Picture 4">
            <a:extLst>
              <a:ext uri="{FF2B5EF4-FFF2-40B4-BE49-F238E27FC236}">
                <a16:creationId xmlns:a16="http://schemas.microsoft.com/office/drawing/2014/main" id="{EC0E066C-2E1A-4557-8C6F-F307995973B5}"/>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7976144" y="4813887"/>
            <a:ext cx="771855" cy="245064"/>
          </a:xfrm>
          <a:prstGeom prst="rect">
            <a:avLst/>
          </a:prstGeom>
        </p:spPr>
      </p:pic>
    </p:spTree>
    <p:extLst>
      <p:ext uri="{BB962C8B-B14F-4D97-AF65-F5344CB8AC3E}">
        <p14:creationId xmlns:p14="http://schemas.microsoft.com/office/powerpoint/2010/main" val="350334046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7" r:id="rId3"/>
    <p:sldLayoutId id="2147483690" r:id="rId4"/>
    <p:sldLayoutId id="2147483687" r:id="rId5"/>
    <p:sldLayoutId id="2147483678" r:id="rId6"/>
    <p:sldLayoutId id="2147483686" r:id="rId7"/>
    <p:sldLayoutId id="2147483688" r:id="rId8"/>
    <p:sldLayoutId id="2147483689" r:id="rId9"/>
    <p:sldLayoutId id="2147483679" r:id="rId10"/>
    <p:sldLayoutId id="2147483680" r:id="rId11"/>
    <p:sldLayoutId id="2147483681" r:id="rId12"/>
    <p:sldLayoutId id="2147483682" r:id="rId13"/>
    <p:sldLayoutId id="2147483683" r:id="rId14"/>
    <p:sldLayoutId id="2147483684" r:id="rId15"/>
    <p:sldLayoutId id="2147483691" r:id="rId16"/>
  </p:sldLayoutIdLst>
  <p:hf hdr="0" ftr="0" dt="0"/>
  <p:txStyles>
    <p:titleStyle>
      <a:lvl1pPr algn="l" defTabSz="685983" rtl="0" eaLnBrk="1" latinLnBrk="0" hangingPunct="1">
        <a:lnSpc>
          <a:spcPct val="90000"/>
        </a:lnSpc>
        <a:spcBef>
          <a:spcPct val="0"/>
        </a:spcBef>
        <a:buNone/>
        <a:defRPr lang="en-US" sz="2400" b="1" kern="1200" dirty="0">
          <a:solidFill>
            <a:schemeClr val="tx1"/>
          </a:solidFill>
          <a:latin typeface="+mj-lt"/>
          <a:ea typeface="+mj-ea"/>
          <a:cs typeface="Arial" panose="020B0604020202020204" pitchFamily="34" charset="0"/>
        </a:defRPr>
      </a:lvl1pPr>
    </p:titleStyle>
    <p:bodyStyle>
      <a:lvl1pPr marL="203652" indent="-203652" algn="l" defTabSz="685983" rtl="0" eaLnBrk="1" latinLnBrk="0" hangingPunct="1">
        <a:lnSpc>
          <a:spcPct val="100000"/>
        </a:lnSpc>
        <a:spcBef>
          <a:spcPts val="360"/>
        </a:spcBef>
        <a:buSzPct val="88000"/>
        <a:buFontTx/>
        <a:buBlip>
          <a:blip r:embed="rId20"/>
        </a:buBlip>
        <a:defRPr sz="2000" kern="1200">
          <a:solidFill>
            <a:schemeClr val="tx1"/>
          </a:solidFill>
          <a:latin typeface="+mn-lt"/>
          <a:ea typeface="+mn-ea"/>
          <a:cs typeface="+mn-cs"/>
        </a:defRPr>
      </a:lvl1pPr>
      <a:lvl2pPr marL="470423" indent="-203652" algn="l" defTabSz="685983" rtl="0" eaLnBrk="1" latinLnBrk="0" hangingPunct="1">
        <a:lnSpc>
          <a:spcPct val="90000"/>
        </a:lnSpc>
        <a:spcBef>
          <a:spcPts val="360"/>
        </a:spcBef>
        <a:buSzPct val="88000"/>
        <a:buFontTx/>
        <a:buBlip>
          <a:blip r:embed="rId20"/>
        </a:buBlip>
        <a:defRPr sz="1800" kern="1200">
          <a:solidFill>
            <a:schemeClr val="tx1"/>
          </a:solidFill>
          <a:latin typeface="+mn-lt"/>
          <a:ea typeface="+mn-ea"/>
          <a:cs typeface="+mn-cs"/>
        </a:defRPr>
      </a:lvl2pPr>
      <a:lvl3pPr marL="737194" indent="-198888" algn="l" defTabSz="674073" rtl="0" eaLnBrk="1" latinLnBrk="0" hangingPunct="1">
        <a:lnSpc>
          <a:spcPct val="90000"/>
        </a:lnSpc>
        <a:spcBef>
          <a:spcPts val="360"/>
        </a:spcBef>
        <a:buSzPct val="88000"/>
        <a:buFontTx/>
        <a:buBlip>
          <a:blip r:embed="rId20"/>
        </a:buBlip>
        <a:defRPr sz="1600" kern="1200">
          <a:solidFill>
            <a:schemeClr val="tx1"/>
          </a:solidFill>
          <a:latin typeface="+mn-lt"/>
          <a:ea typeface="+mn-ea"/>
          <a:cs typeface="+mn-cs"/>
        </a:defRPr>
      </a:lvl3pPr>
      <a:lvl4pPr marL="1008729" indent="-203652" algn="l" defTabSz="685983" rtl="0" eaLnBrk="1" latinLnBrk="0" hangingPunct="1">
        <a:lnSpc>
          <a:spcPct val="90000"/>
        </a:lnSpc>
        <a:spcBef>
          <a:spcPts val="360"/>
        </a:spcBef>
        <a:buSzPct val="88000"/>
        <a:buFontTx/>
        <a:buBlip>
          <a:blip r:embed="rId20"/>
        </a:buBlip>
        <a:defRPr sz="1600" kern="1200">
          <a:solidFill>
            <a:schemeClr val="tx1"/>
          </a:solidFill>
          <a:latin typeface="+mn-lt"/>
          <a:ea typeface="+mn-ea"/>
          <a:cs typeface="+mn-cs"/>
        </a:defRPr>
      </a:lvl4pPr>
      <a:lvl5pPr marL="1275500" indent="-198888" algn="l" defTabSz="685983" rtl="0" eaLnBrk="1" latinLnBrk="0" hangingPunct="1">
        <a:lnSpc>
          <a:spcPct val="90000"/>
        </a:lnSpc>
        <a:spcBef>
          <a:spcPts val="360"/>
        </a:spcBef>
        <a:buSzPct val="88000"/>
        <a:buFontTx/>
        <a:buBlip>
          <a:blip r:embed="rId20"/>
        </a:buBlip>
        <a:defRPr sz="1200" kern="1200">
          <a:solidFill>
            <a:schemeClr val="tx1"/>
          </a:solidFill>
          <a:latin typeface="+mn-lt"/>
          <a:ea typeface="+mn-ea"/>
          <a:cs typeface="+mn-cs"/>
        </a:defRPr>
      </a:lvl5pPr>
      <a:lvl6pPr marL="1886453"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44"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436"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427"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3" orient="horz" pos="464" userDrawn="1">
          <p15:clr>
            <a:srgbClr val="F26B43"/>
          </p15:clr>
        </p15:guide>
        <p15:guide id="4" pos="4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normAutofit fontScale="92500"/>
          </a:bodyPr>
          <a:lstStyle/>
          <a:p>
            <a:r>
              <a:rPr sz="3000" b="1">
                <a:solidFill>
                  <a:srgbClr val="1A1A1A"/>
                </a:solidFill>
                <a:latin typeface="Arial"/>
              </a:rPr>
              <a:t>Lab 1: Vitis HLS and the seven-segment display</a:t>
            </a:r>
          </a:p>
        </p:txBody>
      </p:sp>
      <p:sp>
        <p:nvSpPr>
          <p:cNvPr id="3" name="Text Placeholder 2"/>
          <p:cNvSpPr>
            <a:spLocks noGrp="1"/>
          </p:cNvSpPr>
          <p:nvPr>
            <p:ph type="body" sz="quarter" idx="12"/>
          </p:nvPr>
        </p:nvSpPr>
        <p:spPr/>
        <p:txBody>
          <a:bodyPr/>
          <a:lstStyle/>
          <a:p>
            <a:r>
              <a:rPr lang="en-US" dirty="0">
                <a:solidFill>
                  <a:srgbClr val="FFFFFF"/>
                </a:solidFill>
              </a:rPr>
              <a:t>Seven-segment decoder as a first HLS design</a:t>
            </a:r>
          </a:p>
        </p:txBody>
      </p:sp>
      <p:sp>
        <p:nvSpPr>
          <p:cNvPr id="4" name="Text Placeholder 3"/>
          <p:cNvSpPr>
            <a:spLocks noGrp="1"/>
          </p:cNvSpPr>
          <p:nvPr>
            <p:ph type="body" sz="quarter" idx="13"/>
          </p:nvPr>
        </p:nvSpPr>
        <p:spPr/>
        <p:txBody>
          <a:bodyPr/>
          <a:lstStyle/>
          <a:p>
            <a:r>
              <a:rPr lang="en-US" sz="1200" dirty="0">
                <a:solidFill>
                  <a:srgbClr val="FFFFFF"/>
                </a:solidFill>
              </a:rPr>
              <a:t>Customized Embedded Processors Lab · Chair of Embedded Systems (CES)</a:t>
            </a:r>
          </a:p>
          <a:p>
            <a:r>
              <a:rPr lang="en-US" sz="1200" dirty="0">
                <a:solidFill>
                  <a:srgbClr val="FFFFFF"/>
                </a:solidFill>
              </a:rPr>
              <a:t>Vitis HLS 2022.2 · </a:t>
            </a:r>
            <a:r>
              <a:rPr lang="en-US" sz="1200" dirty="0" err="1">
                <a:solidFill>
                  <a:srgbClr val="FFFFFF"/>
                </a:solidFill>
              </a:rPr>
              <a:t>Vivado</a:t>
            </a:r>
            <a:r>
              <a:rPr lang="en-US" sz="1200" dirty="0">
                <a:solidFill>
                  <a:srgbClr val="FFFFFF"/>
                </a:solidFill>
              </a:rPr>
              <a:t> 2022.2 · Blackboard Zynq-7000 (xc7z007sclg400-1)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endParaRPr/>
          </a:p>
        </p:txBody>
      </p:sp>
      <p:sp>
        <p:nvSpPr>
          <p:cNvPr id="3" name="Rectangle 2"/>
          <p:cNvSpPr/>
          <p:nvPr/>
        </p:nvSpPr>
        <p:spPr>
          <a:xfrm>
            <a:off x="0" y="1417320"/>
            <a:ext cx="9144000" cy="1417320"/>
          </a:xfrm>
          <a:prstGeom prst="rect">
            <a:avLst/>
          </a:prstGeom>
          <a:solidFill>
            <a:srgbClr val="E5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1645920"/>
            <a:ext cx="7882127" cy="548640"/>
          </a:xfrm>
          <a:prstGeom prst="rect">
            <a:avLst/>
          </a:prstGeom>
          <a:noFill/>
        </p:spPr>
        <p:txBody>
          <a:bodyPr wrap="square" lIns="0" tIns="0" rIns="0" bIns="0">
            <a:spAutoFit/>
          </a:bodyPr>
          <a:lstStyle/>
          <a:p>
            <a:r>
              <a:rPr sz="2600" b="1">
                <a:solidFill>
                  <a:srgbClr val="009682"/>
                </a:solidFill>
                <a:latin typeface="Arial"/>
              </a:rPr>
              <a:t>Section A — Initial setup</a:t>
            </a:r>
          </a:p>
        </p:txBody>
      </p:sp>
      <p:sp>
        <p:nvSpPr>
          <p:cNvPr id="5" name="TextBox 4"/>
          <p:cNvSpPr txBox="1"/>
          <p:nvPr/>
        </p:nvSpPr>
        <p:spPr>
          <a:xfrm>
            <a:off x="630936" y="2240280"/>
            <a:ext cx="7882127" cy="457200"/>
          </a:xfrm>
          <a:prstGeom prst="rect">
            <a:avLst/>
          </a:prstGeom>
          <a:noFill/>
        </p:spPr>
        <p:txBody>
          <a:bodyPr wrap="square" lIns="0" tIns="0" rIns="0" bIns="0">
            <a:spAutoFit/>
          </a:bodyPr>
          <a:lstStyle/>
          <a:p>
            <a:r>
              <a:rPr sz="1400" b="0" i="0">
                <a:solidFill>
                  <a:srgbClr val="6F6F6F"/>
                </a:solidFill>
                <a:latin typeface="Arial"/>
              </a:rPr>
              <a:t>Access the machine, load the toolchain, create the first HLS project.</a:t>
            </a:r>
          </a:p>
        </p:txBody>
      </p:sp>
      <p:sp>
        <p:nvSpPr>
          <p:cNvPr id="9" name="Slide Number Placeholder 8">
            <a:extLst>
              <a:ext uri="{FF2B5EF4-FFF2-40B4-BE49-F238E27FC236}">
                <a16:creationId xmlns:a16="http://schemas.microsoft.com/office/drawing/2014/main" id="{07D1E466-C850-DFFD-3EE0-9737517D02CE}"/>
              </a:ext>
            </a:extLst>
          </p:cNvPr>
          <p:cNvSpPr>
            <a:spLocks noGrp="1"/>
          </p:cNvSpPr>
          <p:nvPr>
            <p:ph type="sldNum" sz="quarter" idx="12"/>
          </p:nvPr>
        </p:nvSpPr>
        <p:spPr/>
        <p:txBody>
          <a:bodyPr/>
          <a:lstStyle/>
          <a:p>
            <a:fld id="{61696EC4-B4CF-4701-AD06-A8439D6D8E12}" type="slidenum">
              <a:rPr lang="de-DE" smtClean="0"/>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Lab objective and tool flow</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2336" y="969264"/>
            <a:ext cx="8339327" cy="1048877"/>
          </a:xfrm>
          <a:prstGeom prst="rect">
            <a:avLst/>
          </a:prstGeom>
          <a:noFill/>
        </p:spPr>
        <p:txBody>
          <a:bodyPr wrap="square" lIns="0" tIns="0" rIns="0" bIns="0">
            <a:spAutoFit/>
          </a:bodyPr>
          <a:lstStyle/>
          <a:p>
            <a:pPr>
              <a:lnSpc>
                <a:spcPct val="108000"/>
              </a:lnSpc>
              <a:spcAft>
                <a:spcPts val="250"/>
              </a:spcAft>
            </a:pPr>
            <a:r>
              <a:rPr sz="1200">
                <a:solidFill>
                  <a:srgbClr val="009682"/>
                </a:solidFill>
                <a:latin typeface="Arial"/>
              </a:rPr>
              <a:t>▪ </a:t>
            </a:r>
            <a:r>
              <a:rPr sz="1200" b="1" i="0">
                <a:solidFill>
                  <a:srgbClr val="000000"/>
                </a:solidFill>
                <a:latin typeface="Arial"/>
              </a:rPr>
              <a:t>Goal of Lab 1.1:</a:t>
            </a:r>
            <a:r>
              <a:rPr sz="1200" b="0" i="0">
                <a:solidFill>
                  <a:srgbClr val="000000"/>
                </a:solidFill>
                <a:latin typeface="Arial"/>
              </a:rPr>
              <a:t> get the Xilinx 2022.2 toolchain running and create a working Vitis HLS project.</a:t>
            </a:r>
          </a:p>
          <a:p>
            <a:pPr>
              <a:lnSpc>
                <a:spcPct val="108000"/>
              </a:lnSpc>
              <a:spcAft>
                <a:spcPts val="250"/>
              </a:spcAft>
            </a:pPr>
            <a:r>
              <a:rPr sz="1200">
                <a:solidFill>
                  <a:srgbClr val="009682"/>
                </a:solidFill>
                <a:latin typeface="Arial"/>
              </a:rPr>
              <a:t>▪ </a:t>
            </a:r>
            <a:r>
              <a:rPr sz="1200" b="1" i="0">
                <a:solidFill>
                  <a:srgbClr val="000000"/>
                </a:solidFill>
                <a:latin typeface="Arial"/>
              </a:rPr>
              <a:t>Goal of Lab 1.2:</a:t>
            </a:r>
            <a:r>
              <a:rPr sz="1200" b="0" i="0">
                <a:solidFill>
                  <a:srgbClr val="000000"/>
                </a:solidFill>
                <a:latin typeface="Arial"/>
              </a:rPr>
              <a:t> describe a small hardware function in C/C++ and let Vitis HLS generate the RTL.</a:t>
            </a:r>
          </a:p>
          <a:p>
            <a:pPr>
              <a:lnSpc>
                <a:spcPct val="108000"/>
              </a:lnSpc>
              <a:spcAft>
                <a:spcPts val="250"/>
              </a:spcAft>
            </a:pPr>
            <a:r>
              <a:rPr sz="1200">
                <a:solidFill>
                  <a:srgbClr val="009682"/>
                </a:solidFill>
                <a:latin typeface="Arial"/>
              </a:rPr>
              <a:t>▪ </a:t>
            </a:r>
            <a:r>
              <a:rPr sz="1200" b="0" i="0">
                <a:solidFill>
                  <a:srgbClr val="000000"/>
                </a:solidFill>
                <a:latin typeface="Arial"/>
              </a:rPr>
              <a:t>No VHDL and no Verilog is written in this lab. The decoder logic comes from C/C++.</a:t>
            </a:r>
          </a:p>
          <a:p>
            <a:pPr>
              <a:lnSpc>
                <a:spcPct val="108000"/>
              </a:lnSpc>
              <a:spcAft>
                <a:spcPts val="250"/>
              </a:spcAft>
            </a:pPr>
            <a:r>
              <a:rPr sz="1200">
                <a:solidFill>
                  <a:srgbClr val="009682"/>
                </a:solidFill>
                <a:latin typeface="Arial"/>
              </a:rPr>
              <a:t>▪ </a:t>
            </a:r>
            <a:r>
              <a:rPr sz="1200" b="0" i="0">
                <a:solidFill>
                  <a:srgbClr val="000000"/>
                </a:solidFill>
                <a:latin typeface="Arial"/>
              </a:rPr>
              <a:t>Vivado is only </a:t>
            </a:r>
            <a:r>
              <a:rPr sz="1200" b="0" i="1">
                <a:solidFill>
                  <a:srgbClr val="000000"/>
                </a:solidFill>
                <a:latin typeface="Arial"/>
              </a:rPr>
              <a:t>opened and verified</a:t>
            </a:r>
            <a:r>
              <a:rPr sz="1200" b="0" i="0">
                <a:solidFill>
                  <a:srgbClr val="000000"/>
                </a:solidFill>
                <a:latin typeface="Arial"/>
              </a:rPr>
              <a:t> in Lab 1 — it is used for real in Lab 2.</a:t>
            </a:r>
          </a:p>
        </p:txBody>
      </p:sp>
      <p:sp>
        <p:nvSpPr>
          <p:cNvPr id="5" name="Rectangle 4"/>
          <p:cNvSpPr/>
          <p:nvPr/>
        </p:nvSpPr>
        <p:spPr>
          <a:xfrm>
            <a:off x="402336" y="2082149"/>
            <a:ext cx="8339327" cy="6964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2082149"/>
            <a:ext cx="8339327" cy="32004"/>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8" y="2173589"/>
            <a:ext cx="8119871" cy="531875"/>
          </a:xfrm>
          <a:prstGeom prst="rect">
            <a:avLst/>
          </a:prstGeom>
          <a:noFill/>
        </p:spPr>
        <p:txBody>
          <a:bodyPr wrap="square" lIns="0" tIns="0" rIns="0" bIns="0">
            <a:spAutoFit/>
          </a:bodyPr>
          <a:lstStyle/>
          <a:p>
            <a:pPr algn="ctr">
              <a:lnSpc>
                <a:spcPct val="106000"/>
              </a:lnSpc>
              <a:spcAft>
                <a:spcPts val="0"/>
              </a:spcAft>
            </a:pPr>
            <a:r>
              <a:rPr sz="1000">
                <a:solidFill>
                  <a:srgbClr val="16302C"/>
                </a:solidFill>
                <a:latin typeface="Consolas"/>
              </a:rPr>
              <a:t>C/C++ function  →  C simulation  →  C synthesis  →  RTL + reports  →  exported IP</a:t>
            </a:r>
          </a:p>
          <a:p>
            <a:pPr algn="ctr">
              <a:lnSpc>
                <a:spcPct val="106000"/>
              </a:lnSpc>
              <a:spcAft>
                <a:spcPts val="0"/>
              </a:spcAft>
            </a:pPr>
            <a:r>
              <a:rPr sz="1000">
                <a:solidFill>
                  <a:srgbClr val="16302C"/>
                </a:solidFill>
                <a:latin typeface="Consolas"/>
              </a:rPr>
              <a:t>                                                                        │</a:t>
            </a:r>
          </a:p>
          <a:p>
            <a:pPr algn="ctr">
              <a:lnSpc>
                <a:spcPct val="106000"/>
              </a:lnSpc>
              <a:spcAft>
                <a:spcPts val="0"/>
              </a:spcAft>
            </a:pPr>
            <a:r>
              <a:rPr sz="1000">
                <a:solidFill>
                  <a:srgbClr val="16302C"/>
                </a:solidFill>
                <a:latin typeface="Consolas"/>
              </a:rPr>
              <a:t>                                                     Lab 2:  Vivado block design  →  bitstream</a:t>
            </a:r>
          </a:p>
        </p:txBody>
      </p:sp>
      <p:sp>
        <p:nvSpPr>
          <p:cNvPr id="8" name="Rectangle 7"/>
          <p:cNvSpPr/>
          <p:nvPr/>
        </p:nvSpPr>
        <p:spPr>
          <a:xfrm>
            <a:off x="402336" y="2842625"/>
            <a:ext cx="8339327" cy="562610"/>
          </a:xfrm>
          <a:prstGeom prst="rect">
            <a:avLst/>
          </a:prstGeom>
          <a:solidFill>
            <a:srgbClr val="E5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02336" y="2842625"/>
            <a:ext cx="50292" cy="562610"/>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 y="2915777"/>
            <a:ext cx="8065007" cy="416306"/>
          </a:xfrm>
          <a:prstGeom prst="rect">
            <a:avLst/>
          </a:prstGeom>
          <a:noFill/>
        </p:spPr>
        <p:txBody>
          <a:bodyPr wrap="square" lIns="0" tIns="0" rIns="0" bIns="0">
            <a:spAutoFit/>
          </a:bodyPr>
          <a:lstStyle/>
          <a:p>
            <a:pPr>
              <a:lnSpc>
                <a:spcPct val="110000"/>
              </a:lnSpc>
            </a:pPr>
            <a:r>
              <a:rPr sz="1150" b="0" i="0">
                <a:solidFill>
                  <a:srgbClr val="000000"/>
                </a:solidFill>
                <a:latin typeface="Arial"/>
              </a:rPr>
              <a:t>Tool roles. Vitis HLS turns C/C++ into an RTL IP block. Vivado builds the system around that IP and produces the bitstream. Vitis builds the software that runs on the ARM core.</a:t>
            </a:r>
          </a:p>
        </p:txBody>
      </p:sp>
      <p:sp>
        <p:nvSpPr>
          <p:cNvPr id="14" name="Slide Number Placeholder 13">
            <a:extLst>
              <a:ext uri="{FF2B5EF4-FFF2-40B4-BE49-F238E27FC236}">
                <a16:creationId xmlns:a16="http://schemas.microsoft.com/office/drawing/2014/main" id="{26327F14-BDBE-157C-DC98-D25812228AE8}"/>
              </a:ext>
            </a:extLst>
          </p:cNvPr>
          <p:cNvSpPr>
            <a:spLocks noGrp="1"/>
          </p:cNvSpPr>
          <p:nvPr>
            <p:ph type="sldNum" sz="quarter" idx="12"/>
          </p:nvPr>
        </p:nvSpPr>
        <p:spPr/>
        <p:txBody>
          <a:bodyPr/>
          <a:lstStyle/>
          <a:p>
            <a:fld id="{61696EC4-B4CF-4701-AD06-A8439D6D8E12}" type="slidenum">
              <a:rPr lang="de-DE" smtClean="0"/>
              <a:t>3</a:t>
            </a:fld>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Repository structure</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2336" y="969264"/>
            <a:ext cx="8339327" cy="660374"/>
          </a:xfrm>
          <a:prstGeom prst="rect">
            <a:avLst/>
          </a:prstGeom>
          <a:noFill/>
        </p:spPr>
        <p:txBody>
          <a:bodyPr wrap="square" lIns="0" tIns="0" rIns="0" bIns="0">
            <a:spAutoFit/>
          </a:bodyPr>
          <a:lstStyle/>
          <a:p>
            <a:pPr>
              <a:lnSpc>
                <a:spcPct val="108000"/>
              </a:lnSpc>
              <a:spcAft>
                <a:spcPts val="250"/>
              </a:spcAft>
            </a:pPr>
            <a:r>
              <a:rPr sz="1200" dirty="0">
                <a:solidFill>
                  <a:srgbClr val="009682"/>
                </a:solidFill>
                <a:latin typeface="Arial"/>
              </a:rPr>
              <a:t>▪ </a:t>
            </a:r>
            <a:r>
              <a:rPr sz="1200" b="0" i="0" dirty="0">
                <a:solidFill>
                  <a:srgbClr val="000000"/>
                </a:solidFill>
                <a:latin typeface="Arial"/>
              </a:rPr>
              <a:t>One directory per task, </a:t>
            </a:r>
            <a:r>
              <a:rPr lang="en-US" sz="1200" b="0" i="0" dirty="0">
                <a:solidFill>
                  <a:srgbClr val="000000"/>
                </a:solidFill>
                <a:latin typeface="Arial"/>
              </a:rPr>
              <a:t>our recommendation is </a:t>
            </a:r>
            <a:r>
              <a:rPr sz="1200" b="0" i="0" dirty="0">
                <a:solidFill>
                  <a:srgbClr val="000000"/>
                </a:solidFill>
                <a:latin typeface="Arial"/>
              </a:rPr>
              <a:t>under</a:t>
            </a:r>
            <a:r>
              <a:rPr lang="en-US" sz="1200" b="0" i="0" dirty="0">
                <a:solidFill>
                  <a:srgbClr val="000000"/>
                </a:solidFill>
                <a:latin typeface="Arial"/>
              </a:rPr>
              <a:t> </a:t>
            </a:r>
            <a:r>
              <a:rPr lang="en-US" sz="1200" dirty="0">
                <a:solidFill>
                  <a:srgbClr val="009682"/>
                </a:solidFill>
                <a:latin typeface="Consolas"/>
              </a:rPr>
              <a:t>&lt;</a:t>
            </a:r>
            <a:r>
              <a:rPr lang="en-US" sz="1200" dirty="0" err="1">
                <a:solidFill>
                  <a:srgbClr val="009682"/>
                </a:solidFill>
                <a:latin typeface="Consolas"/>
              </a:rPr>
              <a:t>Xilinx_app</a:t>
            </a:r>
            <a:r>
              <a:rPr lang="en-US" sz="1200" dirty="0">
                <a:solidFill>
                  <a:srgbClr val="009682"/>
                </a:solidFill>
                <a:latin typeface="Consolas"/>
              </a:rPr>
              <a:t>&gt;</a:t>
            </a:r>
            <a:r>
              <a:rPr sz="1200" b="0" i="0" dirty="0">
                <a:solidFill>
                  <a:srgbClr val="009682"/>
                </a:solidFill>
                <a:latin typeface="Consolas"/>
              </a:rPr>
              <a:t>/lab1</a:t>
            </a:r>
            <a:r>
              <a:rPr lang="en-US" sz="1200" b="0" i="0" dirty="0">
                <a:solidFill>
                  <a:srgbClr val="009682"/>
                </a:solidFill>
                <a:latin typeface="Consolas"/>
              </a:rPr>
              <a:t>_task2</a:t>
            </a:r>
          </a:p>
          <a:p>
            <a:pPr>
              <a:lnSpc>
                <a:spcPct val="108000"/>
              </a:lnSpc>
              <a:spcAft>
                <a:spcPts val="250"/>
              </a:spcAft>
            </a:pPr>
            <a:r>
              <a:rPr lang="en-US" sz="1200" dirty="0">
                <a:solidFill>
                  <a:srgbClr val="009682"/>
                </a:solidFill>
              </a:rPr>
              <a:t>▪ </a:t>
            </a:r>
            <a:r>
              <a:rPr sz="1200" b="0" i="0" dirty="0">
                <a:solidFill>
                  <a:srgbClr val="000000"/>
                </a:solidFill>
                <a:latin typeface="Arial"/>
              </a:rPr>
              <a:t>Create your Vitis HLS / </a:t>
            </a:r>
            <a:r>
              <a:rPr sz="1200" b="0" i="0" dirty="0" err="1">
                <a:solidFill>
                  <a:srgbClr val="000000"/>
                </a:solidFill>
                <a:latin typeface="Arial"/>
              </a:rPr>
              <a:t>Vivado</a:t>
            </a:r>
            <a:r>
              <a:rPr sz="1200" b="0" i="0" dirty="0">
                <a:solidFill>
                  <a:srgbClr val="000000"/>
                </a:solidFill>
                <a:latin typeface="Arial"/>
              </a:rPr>
              <a:t> projects </a:t>
            </a:r>
            <a:r>
              <a:rPr sz="1200" b="1" i="0" dirty="0">
                <a:solidFill>
                  <a:srgbClr val="000000"/>
                </a:solidFill>
                <a:latin typeface="Arial"/>
              </a:rPr>
              <a:t>outside</a:t>
            </a:r>
            <a:r>
              <a:rPr sz="1200" b="0" i="0" dirty="0">
                <a:solidFill>
                  <a:srgbClr val="000000"/>
                </a:solidFill>
                <a:latin typeface="Arial"/>
              </a:rPr>
              <a:t> the tool installation directory, in your own writable working directory.</a:t>
            </a:r>
          </a:p>
          <a:p>
            <a:pPr>
              <a:lnSpc>
                <a:spcPct val="108000"/>
              </a:lnSpc>
              <a:spcAft>
                <a:spcPts val="250"/>
              </a:spcAft>
            </a:pPr>
            <a:r>
              <a:rPr sz="1200" dirty="0">
                <a:solidFill>
                  <a:srgbClr val="009682"/>
                </a:solidFill>
                <a:latin typeface="Arial"/>
              </a:rPr>
              <a:t>▪ </a:t>
            </a:r>
            <a:r>
              <a:rPr sz="1200" b="0" i="0" dirty="0">
                <a:solidFill>
                  <a:srgbClr val="000000"/>
                </a:solidFill>
                <a:latin typeface="Arial"/>
              </a:rPr>
              <a:t>Keep every lab </a:t>
            </a:r>
            <a:r>
              <a:rPr sz="1200" b="0" i="0" dirty="0" err="1">
                <a:solidFill>
                  <a:srgbClr val="000000"/>
                </a:solidFill>
                <a:latin typeface="Arial"/>
              </a:rPr>
              <a:t>artfact</a:t>
            </a:r>
            <a:r>
              <a:rPr sz="1200" b="0" i="0" dirty="0">
                <a:solidFill>
                  <a:srgbClr val="000000"/>
                </a:solidFill>
                <a:latin typeface="Arial"/>
              </a:rPr>
              <a:t> under one tree — incomplete submissions are usually a directory problem, not a design problem.</a:t>
            </a:r>
          </a:p>
        </p:txBody>
      </p:sp>
      <p:sp>
        <p:nvSpPr>
          <p:cNvPr id="11" name="Slide Number Placeholder 10">
            <a:extLst>
              <a:ext uri="{FF2B5EF4-FFF2-40B4-BE49-F238E27FC236}">
                <a16:creationId xmlns:a16="http://schemas.microsoft.com/office/drawing/2014/main" id="{B84A3876-B5AE-3D4D-FDB9-D27D8159584B}"/>
              </a:ext>
            </a:extLst>
          </p:cNvPr>
          <p:cNvSpPr>
            <a:spLocks noGrp="1"/>
          </p:cNvSpPr>
          <p:nvPr>
            <p:ph type="sldNum" sz="quarter" idx="12"/>
          </p:nvPr>
        </p:nvSpPr>
        <p:spPr/>
        <p:txBody>
          <a:bodyPr/>
          <a:lstStyle/>
          <a:p>
            <a:fld id="{61696EC4-B4CF-4701-AD06-A8439D6D8E12}" type="slidenum">
              <a:rPr lang="de-DE" smtClean="0"/>
              <a:t>4</a:t>
            </a:fld>
            <a:endParaRPr lang="de-D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2E367042-4545-4A66-E77C-B872446EA113}"/>
              </a:ext>
            </a:extLst>
          </p:cNvPr>
          <p:cNvPicPr>
            <a:picLocks noChangeAspect="1"/>
          </p:cNvPicPr>
          <p:nvPr/>
        </p:nvPicPr>
        <p:blipFill>
          <a:blip r:embed="rId2"/>
          <a:srcRect r="1450"/>
          <a:stretch>
            <a:fillRect/>
          </a:stretch>
        </p:blipFill>
        <p:spPr>
          <a:xfrm>
            <a:off x="-7414" y="801"/>
            <a:ext cx="5679454" cy="5143493"/>
          </a:xfrm>
          <a:prstGeom prst="rect">
            <a:avLst/>
          </a:prstGeom>
        </p:spPr>
      </p:pic>
      <p:sp>
        <p:nvSpPr>
          <p:cNvPr id="7" name="Content Placeholder 6">
            <a:extLst>
              <a:ext uri="{FF2B5EF4-FFF2-40B4-BE49-F238E27FC236}">
                <a16:creationId xmlns:a16="http://schemas.microsoft.com/office/drawing/2014/main" id="{410D1CC0-CC40-BFD3-1CE2-C59D77FCEE08}"/>
              </a:ext>
            </a:extLst>
          </p:cNvPr>
          <p:cNvSpPr>
            <a:spLocks noGrp="1"/>
          </p:cNvSpPr>
          <p:nvPr>
            <p:ph idx="1"/>
          </p:nvPr>
        </p:nvSpPr>
        <p:spPr>
          <a:xfrm>
            <a:off x="5785658" y="972818"/>
            <a:ext cx="3066263" cy="4171476"/>
          </a:xfrm>
        </p:spPr>
        <p:txBody>
          <a:bodyPr>
            <a:normAutofit fontScale="70000" lnSpcReduction="20000"/>
          </a:bodyPr>
          <a:lstStyle/>
          <a:p>
            <a:r>
              <a:rPr lang="en-US" sz="1500" dirty="0"/>
              <a:t>On the lab computers, the Xilinx software suite is usually located under: /Software/</a:t>
            </a:r>
            <a:r>
              <a:rPr lang="en-US" sz="1500" dirty="0" err="1"/>
              <a:t>xilinx</a:t>
            </a:r>
            <a:r>
              <a:rPr lang="en-US" sz="1500" dirty="0"/>
              <a:t>/&lt;version&gt;</a:t>
            </a:r>
          </a:p>
          <a:p>
            <a:r>
              <a:rPr lang="en-US" sz="1500" dirty="0"/>
              <a:t>If you cannot able to find the Xilinx software, you can use this convenience command:</a:t>
            </a:r>
          </a:p>
          <a:p>
            <a:endParaRPr lang="en-US" sz="1500" dirty="0"/>
          </a:p>
          <a:p>
            <a:pPr marL="0" indent="0">
              <a:buNone/>
            </a:pPr>
            <a:r>
              <a:rPr lang="en-US" sz="1500" dirty="0">
                <a:latin typeface="Consolas" panose="020B0609020204030204" pitchFamily="49" charset="0"/>
                <a:cs typeface="Consolas" panose="020B0609020204030204" pitchFamily="49" charset="0"/>
              </a:rPr>
              <a:t>find /Software /tools /opt /</a:t>
            </a:r>
            <a:r>
              <a:rPr lang="en-US" sz="1500" dirty="0" err="1">
                <a:latin typeface="Consolas" panose="020B0609020204030204" pitchFamily="49" charset="0"/>
                <a:cs typeface="Consolas" panose="020B0609020204030204" pitchFamily="49" charset="0"/>
              </a:rPr>
              <a:t>usr</a:t>
            </a:r>
            <a:r>
              <a:rPr lang="en-US" sz="1500" dirty="0">
                <a:latin typeface="Consolas" panose="020B0609020204030204" pitchFamily="49" charset="0"/>
                <a:cs typeface="Consolas" panose="020B0609020204030204" pitchFamily="49" charset="0"/>
              </a:rPr>
              <a:t> /home -</a:t>
            </a:r>
            <a:r>
              <a:rPr lang="en-US" sz="1500" dirty="0" err="1">
                <a:latin typeface="Consolas" panose="020B0609020204030204" pitchFamily="49" charset="0"/>
                <a:cs typeface="Consolas" panose="020B0609020204030204" pitchFamily="49" charset="0"/>
              </a:rPr>
              <a:t>maxdepth</a:t>
            </a:r>
            <a:r>
              <a:rPr lang="en-US" sz="1500" dirty="0">
                <a:latin typeface="Consolas" panose="020B0609020204030204" pitchFamily="49" charset="0"/>
                <a:cs typeface="Consolas" panose="020B0609020204030204" pitchFamily="49" charset="0"/>
              </a:rPr>
              <a:t> 8 -type f \( -name </a:t>
            </a:r>
            <a:r>
              <a:rPr lang="en-US" sz="1500" dirty="0" err="1">
                <a:latin typeface="Consolas" panose="020B0609020204030204" pitchFamily="49" charset="0"/>
                <a:cs typeface="Consolas" panose="020B0609020204030204" pitchFamily="49" charset="0"/>
              </a:rPr>
              <a:t>vivado</a:t>
            </a:r>
            <a:r>
              <a:rPr lang="en-US" sz="1500" dirty="0">
                <a:latin typeface="Consolas" panose="020B0609020204030204" pitchFamily="49" charset="0"/>
                <a:cs typeface="Consolas" panose="020B0609020204030204" pitchFamily="49" charset="0"/>
              </a:rPr>
              <a:t> -o -name </a:t>
            </a:r>
            <a:r>
              <a:rPr lang="en-US" sz="1500" dirty="0" err="1">
                <a:latin typeface="Consolas" panose="020B0609020204030204" pitchFamily="49" charset="0"/>
                <a:cs typeface="Consolas" panose="020B0609020204030204" pitchFamily="49" charset="0"/>
              </a:rPr>
              <a:t>vitis</a:t>
            </a:r>
            <a:r>
              <a:rPr lang="en-US" sz="1500" dirty="0">
                <a:latin typeface="Consolas" panose="020B0609020204030204" pitchFamily="49" charset="0"/>
                <a:cs typeface="Consolas" panose="020B0609020204030204" pitchFamily="49" charset="0"/>
              </a:rPr>
              <a:t> -o -name </a:t>
            </a:r>
            <a:r>
              <a:rPr lang="en-US" sz="1500" dirty="0" err="1">
                <a:latin typeface="Consolas" panose="020B0609020204030204" pitchFamily="49" charset="0"/>
                <a:cs typeface="Consolas" panose="020B0609020204030204" pitchFamily="49" charset="0"/>
              </a:rPr>
              <a:t>vitis_hls</a:t>
            </a:r>
            <a:r>
              <a:rPr lang="en-US" sz="1500" dirty="0">
                <a:latin typeface="Consolas" panose="020B0609020204030204" pitchFamily="49" charset="0"/>
                <a:cs typeface="Consolas" panose="020B0609020204030204" pitchFamily="49" charset="0"/>
              </a:rPr>
              <a:t> \) 2&gt;/dev/null | sort</a:t>
            </a:r>
          </a:p>
          <a:p>
            <a:pPr marL="0" indent="0">
              <a:buNone/>
            </a:pPr>
            <a:endParaRPr lang="en-US" sz="1500" dirty="0"/>
          </a:p>
          <a:p>
            <a:r>
              <a:rPr lang="en-US" sz="1500" dirty="0"/>
              <a:t>The `settings64.sh` script configures the current terminal session to use the Xilinx toolchain. This script sets environment variables such as PATH, LD_LIBRARY_PATH, XILINX_VIVADO, and XILINX_VITIS to ensure the terminal can locate the correct version of </a:t>
            </a:r>
            <a:r>
              <a:rPr lang="en-US" sz="1500" dirty="0" err="1"/>
              <a:t>Vivado</a:t>
            </a:r>
            <a:r>
              <a:rPr lang="en-US" sz="1500" dirty="0"/>
              <a:t>, Vitis, or Vitis HLS. You must source the script rather than run it normally, because the changes need to persist within the same shell session. This ensures that, even if multiple Xilinx versions are installed on the same machine, the specific version to be used is explicitly selected.</a:t>
            </a:r>
          </a:p>
        </p:txBody>
      </p:sp>
      <p:sp>
        <p:nvSpPr>
          <p:cNvPr id="3" name="Slide Number Placeholder 2">
            <a:extLst>
              <a:ext uri="{FF2B5EF4-FFF2-40B4-BE49-F238E27FC236}">
                <a16:creationId xmlns:a16="http://schemas.microsoft.com/office/drawing/2014/main" id="{A29C16A5-1973-349F-6587-9FB8340FBC53}"/>
              </a:ext>
            </a:extLst>
          </p:cNvPr>
          <p:cNvSpPr>
            <a:spLocks noGrp="1"/>
          </p:cNvSpPr>
          <p:nvPr>
            <p:ph type="sldNum" sz="quarter" idx="12"/>
          </p:nvPr>
        </p:nvSpPr>
        <p:spPr/>
        <p:txBody>
          <a:bodyPr/>
          <a:lstStyle/>
          <a:p>
            <a:fld id="{3626266D-1553-1D42-A4A7-21630171A50C}" type="slidenum">
              <a:rPr lang="en-US" smtClean="0"/>
              <a:t>5</a:t>
            </a:fld>
            <a:endParaRPr lang="en-US"/>
          </a:p>
        </p:txBody>
      </p:sp>
    </p:spTree>
    <p:extLst>
      <p:ext uri="{BB962C8B-B14F-4D97-AF65-F5344CB8AC3E}">
        <p14:creationId xmlns:p14="http://schemas.microsoft.com/office/powerpoint/2010/main" val="208112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Starting Vitis HLS 2022.2</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2336" y="969264"/>
            <a:ext cx="3931919" cy="345440"/>
          </a:xfrm>
          <a:prstGeom prst="rect">
            <a:avLst/>
          </a:prstGeom>
          <a:solidFill>
            <a:srgbClr val="F3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969264"/>
            <a:ext cx="41148" cy="345440"/>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033272"/>
            <a:ext cx="3730751" cy="217423"/>
          </a:xfrm>
          <a:prstGeom prst="rect">
            <a:avLst/>
          </a:prstGeom>
          <a:noFill/>
        </p:spPr>
        <p:txBody>
          <a:bodyPr wrap="square" lIns="0" tIns="0" rIns="0" bIns="0">
            <a:spAutoFit/>
          </a:bodyPr>
          <a:lstStyle/>
          <a:p>
            <a:pPr>
              <a:lnSpc>
                <a:spcPct val="105000"/>
              </a:lnSpc>
              <a:spcAft>
                <a:spcPts val="0"/>
              </a:spcAft>
            </a:pPr>
            <a:r>
              <a:rPr sz="1000">
                <a:solidFill>
                  <a:srgbClr val="16302C"/>
                </a:solidFill>
                <a:latin typeface="Consolas"/>
              </a:rPr>
              <a:t>vitis_hls &amp;</a:t>
            </a:r>
          </a:p>
        </p:txBody>
      </p:sp>
      <p:sp>
        <p:nvSpPr>
          <p:cNvPr id="8" name="TextBox 7"/>
          <p:cNvSpPr txBox="1"/>
          <p:nvPr/>
        </p:nvSpPr>
        <p:spPr>
          <a:xfrm>
            <a:off x="402336" y="1378712"/>
            <a:ext cx="3931919" cy="1888906"/>
          </a:xfrm>
          <a:prstGeom prst="rect">
            <a:avLst/>
          </a:prstGeom>
          <a:noFill/>
        </p:spPr>
        <p:txBody>
          <a:bodyPr wrap="square" lIns="0" tIns="0" rIns="0" bIns="0">
            <a:spAutoFit/>
          </a:bodyPr>
          <a:lstStyle/>
          <a:p>
            <a:pPr>
              <a:lnSpc>
                <a:spcPct val="108000"/>
              </a:lnSpc>
              <a:spcAft>
                <a:spcPts val="250"/>
              </a:spcAft>
            </a:pPr>
            <a:r>
              <a:rPr sz="1200">
                <a:solidFill>
                  <a:srgbClr val="009682"/>
                </a:solidFill>
                <a:latin typeface="Arial"/>
              </a:rPr>
              <a:t>▪ </a:t>
            </a:r>
            <a:r>
              <a:rPr sz="1200" b="0" i="0">
                <a:solidFill>
                  <a:srgbClr val="000000"/>
                </a:solidFill>
                <a:latin typeface="Arial"/>
              </a:rPr>
              <a:t>The </a:t>
            </a:r>
            <a:r>
              <a:rPr sz="1200" b="0" i="0">
                <a:solidFill>
                  <a:srgbClr val="009682"/>
                </a:solidFill>
                <a:latin typeface="Consolas"/>
              </a:rPr>
              <a:t>&amp;</a:t>
            </a:r>
            <a:r>
              <a:rPr sz="1200" b="0" i="0">
                <a:solidFill>
                  <a:srgbClr val="000000"/>
                </a:solidFill>
                <a:latin typeface="Arial"/>
              </a:rPr>
              <a:t> keeps the shell usable while the GUI runs.</a:t>
            </a:r>
          </a:p>
          <a:p>
            <a:pPr>
              <a:lnSpc>
                <a:spcPct val="108000"/>
              </a:lnSpc>
              <a:spcAft>
                <a:spcPts val="250"/>
              </a:spcAft>
            </a:pPr>
            <a:r>
              <a:rPr sz="1200">
                <a:solidFill>
                  <a:srgbClr val="009682"/>
                </a:solidFill>
                <a:latin typeface="Arial"/>
              </a:rPr>
              <a:t>▪ </a:t>
            </a:r>
            <a:r>
              <a:rPr sz="1200" b="0" i="0">
                <a:solidFill>
                  <a:srgbClr val="000000"/>
                </a:solidFill>
                <a:latin typeface="Arial"/>
              </a:rPr>
              <a:t>The Welcome page confirms both the GUI and X11 forwarding work.</a:t>
            </a:r>
          </a:p>
          <a:p>
            <a:pPr>
              <a:lnSpc>
                <a:spcPct val="108000"/>
              </a:lnSpc>
              <a:spcAft>
                <a:spcPts val="250"/>
              </a:spcAft>
            </a:pPr>
            <a:r>
              <a:rPr sz="1200">
                <a:solidFill>
                  <a:srgbClr val="009682"/>
                </a:solidFill>
                <a:latin typeface="Arial"/>
              </a:rPr>
              <a:t>▪ </a:t>
            </a:r>
            <a:r>
              <a:rPr sz="1200" b="0" i="0">
                <a:solidFill>
                  <a:srgbClr val="000000"/>
                </a:solidFill>
                <a:latin typeface="Arial"/>
              </a:rPr>
              <a:t>If the window never appears: check </a:t>
            </a:r>
            <a:r>
              <a:rPr sz="1200" b="0" i="0">
                <a:solidFill>
                  <a:srgbClr val="009682"/>
                </a:solidFill>
                <a:latin typeface="Consolas"/>
              </a:rPr>
              <a:t>echo $DISPLAY</a:t>
            </a:r>
            <a:r>
              <a:rPr sz="1200" b="0" i="0">
                <a:solidFill>
                  <a:srgbClr val="000000"/>
                </a:solidFill>
                <a:latin typeface="Arial"/>
              </a:rPr>
              <a:t> and </a:t>
            </a:r>
            <a:r>
              <a:rPr sz="1200" b="0" i="0">
                <a:solidFill>
                  <a:srgbClr val="009682"/>
                </a:solidFill>
                <a:latin typeface="Consolas"/>
              </a:rPr>
              <a:t>xdpyinfo</a:t>
            </a:r>
            <a:r>
              <a:rPr sz="1200" b="0" i="0">
                <a:solidFill>
                  <a:srgbClr val="000000"/>
                </a:solidFill>
                <a:latin typeface="Arial"/>
              </a:rPr>
              <a:t>.</a:t>
            </a:r>
          </a:p>
          <a:p>
            <a:pPr>
              <a:lnSpc>
                <a:spcPct val="108000"/>
              </a:lnSpc>
              <a:spcAft>
                <a:spcPts val="250"/>
              </a:spcAft>
            </a:pPr>
            <a:r>
              <a:rPr sz="1200">
                <a:solidFill>
                  <a:srgbClr val="009682"/>
                </a:solidFill>
                <a:latin typeface="Arial"/>
              </a:rPr>
              <a:t>▪ </a:t>
            </a:r>
            <a:r>
              <a:rPr sz="1200" b="0" i="0">
                <a:solidFill>
                  <a:srgbClr val="000000"/>
                </a:solidFill>
                <a:latin typeface="Arial"/>
              </a:rPr>
              <a:t>Choose </a:t>
            </a:r>
            <a:r>
              <a:rPr sz="1200" b="1" i="0">
                <a:solidFill>
                  <a:srgbClr val="000000"/>
                </a:solidFill>
                <a:latin typeface="Arial"/>
              </a:rPr>
              <a:t>Create Project</a:t>
            </a:r>
            <a:r>
              <a:rPr sz="1200" b="0" i="0">
                <a:solidFill>
                  <a:srgbClr val="000000"/>
                </a:solidFill>
                <a:latin typeface="Arial"/>
              </a:rPr>
              <a:t> — do not open an existing project yet.</a:t>
            </a:r>
          </a:p>
        </p:txBody>
      </p:sp>
      <p:pic>
        <p:nvPicPr>
          <p:cNvPr id="12" name="Picture 11">
            <a:extLst>
              <a:ext uri="{FF2B5EF4-FFF2-40B4-BE49-F238E27FC236}">
                <a16:creationId xmlns:a16="http://schemas.microsoft.com/office/drawing/2014/main" id="{9C1535BF-7E15-9250-0935-AA16D1062A15}"/>
              </a:ext>
            </a:extLst>
          </p:cNvPr>
          <p:cNvPicPr>
            <a:picLocks noChangeAspect="1"/>
          </p:cNvPicPr>
          <p:nvPr/>
        </p:nvPicPr>
        <p:blipFill>
          <a:blip r:embed="rId2"/>
          <a:stretch>
            <a:fillRect/>
          </a:stretch>
        </p:blipFill>
        <p:spPr>
          <a:xfrm>
            <a:off x="4571999" y="1098782"/>
            <a:ext cx="4332646" cy="2448765"/>
          </a:xfrm>
          <a:prstGeom prst="rect">
            <a:avLst/>
          </a:prstGeom>
        </p:spPr>
      </p:pic>
      <p:sp>
        <p:nvSpPr>
          <p:cNvPr id="11" name="Slide Number Placeholder 10">
            <a:extLst>
              <a:ext uri="{FF2B5EF4-FFF2-40B4-BE49-F238E27FC236}">
                <a16:creationId xmlns:a16="http://schemas.microsoft.com/office/drawing/2014/main" id="{BD8A1DF3-152D-5C91-FEB7-D00521F1E3DA}"/>
              </a:ext>
            </a:extLst>
          </p:cNvPr>
          <p:cNvSpPr>
            <a:spLocks noGrp="1"/>
          </p:cNvSpPr>
          <p:nvPr>
            <p:ph type="sldNum" sz="quarter" idx="12"/>
          </p:nvPr>
        </p:nvSpPr>
        <p:spPr/>
        <p:txBody>
          <a:bodyPr/>
          <a:lstStyle/>
          <a:p>
            <a:fld id="{61696EC4-B4CF-4701-AD06-A8439D6D8E12}" type="slidenum">
              <a:rPr lang="de-DE" smtClean="0"/>
              <a:t>6</a:t>
            </a:fld>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New project: name, location, sources</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6000" y="1062655"/>
            <a:ext cx="7618556" cy="898259"/>
          </a:xfrm>
          <a:prstGeom prst="rect">
            <a:avLst/>
          </a:prstGeom>
          <a:noFill/>
        </p:spPr>
        <p:txBody>
          <a:bodyPr wrap="square" lIns="0" tIns="0" rIns="0" bIns="0">
            <a:spAutoFit/>
          </a:bodyPr>
          <a:lstStyle/>
          <a:p>
            <a:pPr>
              <a:lnSpc>
                <a:spcPct val="108000"/>
              </a:lnSpc>
              <a:spcAft>
                <a:spcPts val="250"/>
              </a:spcAft>
            </a:pPr>
            <a:r>
              <a:rPr sz="1200" dirty="0">
                <a:solidFill>
                  <a:srgbClr val="009682"/>
                </a:solidFill>
                <a:latin typeface="Arial"/>
              </a:rPr>
              <a:t>▪ </a:t>
            </a:r>
            <a:r>
              <a:rPr sz="1200" b="0" i="0" dirty="0">
                <a:solidFill>
                  <a:srgbClr val="000000"/>
                </a:solidFill>
                <a:latin typeface="Arial"/>
              </a:rPr>
              <a:t>Project name </a:t>
            </a:r>
            <a:r>
              <a:rPr sz="1200" b="0" i="0" dirty="0">
                <a:solidFill>
                  <a:srgbClr val="009682"/>
                </a:solidFill>
                <a:latin typeface="Consolas"/>
              </a:rPr>
              <a:t>lab1_task2_hls</a:t>
            </a:r>
            <a:r>
              <a:rPr sz="1200" b="0" i="0" dirty="0">
                <a:solidFill>
                  <a:srgbClr val="000000"/>
                </a:solidFill>
                <a:latin typeface="Arial"/>
              </a:rPr>
              <a:t>; location = your lab working directory. </a:t>
            </a:r>
            <a:r>
              <a:rPr sz="1200" b="1" i="0" dirty="0">
                <a:solidFill>
                  <a:srgbClr val="000000"/>
                </a:solidFill>
                <a:latin typeface="Arial"/>
              </a:rPr>
              <a:t>No spaces in the path.</a:t>
            </a:r>
          </a:p>
          <a:p>
            <a:pPr>
              <a:lnSpc>
                <a:spcPct val="108000"/>
              </a:lnSpc>
              <a:spcAft>
                <a:spcPts val="250"/>
              </a:spcAft>
            </a:pPr>
            <a:r>
              <a:rPr sz="1200" dirty="0">
                <a:solidFill>
                  <a:srgbClr val="009682"/>
                </a:solidFill>
                <a:latin typeface="Arial"/>
              </a:rPr>
              <a:t>▪ </a:t>
            </a:r>
            <a:r>
              <a:rPr sz="1200" b="0" i="0" dirty="0">
                <a:solidFill>
                  <a:srgbClr val="000000"/>
                </a:solidFill>
                <a:latin typeface="Arial"/>
              </a:rPr>
              <a:t>Design files: </a:t>
            </a:r>
            <a:r>
              <a:rPr sz="1200" b="0" i="0" dirty="0" err="1">
                <a:solidFill>
                  <a:srgbClr val="009682"/>
                </a:solidFill>
                <a:latin typeface="Consolas"/>
              </a:rPr>
              <a:t>seven_segment.cpp</a:t>
            </a:r>
            <a:r>
              <a:rPr sz="1200" b="0" i="0" dirty="0">
                <a:solidFill>
                  <a:srgbClr val="000000"/>
                </a:solidFill>
                <a:latin typeface="Arial"/>
              </a:rPr>
              <a:t>, </a:t>
            </a:r>
            <a:r>
              <a:rPr sz="1200" b="0" i="0" dirty="0" err="1">
                <a:solidFill>
                  <a:srgbClr val="009682"/>
                </a:solidFill>
                <a:latin typeface="Consolas"/>
              </a:rPr>
              <a:t>seven_segment.h</a:t>
            </a:r>
            <a:endParaRPr sz="1200" b="0" i="0" dirty="0">
              <a:solidFill>
                <a:srgbClr val="009682"/>
              </a:solidFill>
              <a:latin typeface="Consolas"/>
            </a:endParaRPr>
          </a:p>
          <a:p>
            <a:pPr>
              <a:lnSpc>
                <a:spcPct val="108000"/>
              </a:lnSpc>
              <a:spcAft>
                <a:spcPts val="250"/>
              </a:spcAft>
            </a:pPr>
            <a:r>
              <a:rPr sz="1200" dirty="0">
                <a:solidFill>
                  <a:srgbClr val="009682"/>
                </a:solidFill>
                <a:latin typeface="Arial"/>
              </a:rPr>
              <a:t>▪ </a:t>
            </a:r>
            <a:r>
              <a:rPr sz="1200" b="0" i="0" dirty="0">
                <a:solidFill>
                  <a:srgbClr val="000000"/>
                </a:solidFill>
                <a:latin typeface="Arial"/>
              </a:rPr>
              <a:t>Testbench files: </a:t>
            </a:r>
            <a:r>
              <a:rPr sz="1200" b="0" i="0" dirty="0" err="1">
                <a:solidFill>
                  <a:srgbClr val="009682"/>
                </a:solidFill>
                <a:latin typeface="Consolas"/>
              </a:rPr>
              <a:t>seven_segment_tb.cpp</a:t>
            </a:r>
            <a:r>
              <a:rPr sz="1200" b="0" i="0" dirty="0">
                <a:solidFill>
                  <a:srgbClr val="000000"/>
                </a:solidFill>
                <a:latin typeface="Arial"/>
              </a:rPr>
              <a:t> — added on the </a:t>
            </a:r>
            <a:r>
              <a:rPr sz="1200" b="0" i="1" dirty="0">
                <a:solidFill>
                  <a:srgbClr val="000000"/>
                </a:solidFill>
                <a:latin typeface="Arial"/>
              </a:rPr>
              <a:t>separate</a:t>
            </a:r>
            <a:r>
              <a:rPr sz="1200" b="0" i="0" dirty="0">
                <a:solidFill>
                  <a:srgbClr val="000000"/>
                </a:solidFill>
                <a:latin typeface="Arial"/>
              </a:rPr>
              <a:t> testbench page, not with the design files.</a:t>
            </a:r>
            <a:endParaRPr lang="en-US" sz="1200" b="0" i="0" dirty="0">
              <a:solidFill>
                <a:srgbClr val="000000"/>
              </a:solidFill>
              <a:latin typeface="Arial"/>
            </a:endParaRPr>
          </a:p>
          <a:p>
            <a:pPr>
              <a:lnSpc>
                <a:spcPct val="108000"/>
              </a:lnSpc>
              <a:spcAft>
                <a:spcPts val="250"/>
              </a:spcAft>
            </a:pPr>
            <a:r>
              <a:rPr lang="en-US" sz="1200" dirty="0">
                <a:solidFill>
                  <a:srgbClr val="009682"/>
                </a:solidFill>
                <a:latin typeface="Arial"/>
              </a:rPr>
              <a:t>▪ </a:t>
            </a:r>
            <a:r>
              <a:rPr lang="en-US" sz="1200" b="0" i="0" dirty="0">
                <a:solidFill>
                  <a:srgbClr val="000000"/>
                </a:solidFill>
                <a:latin typeface="Arial"/>
              </a:rPr>
              <a:t>Vitis HLS copies nothing: the files stay where they are and are referenced by path.</a:t>
            </a:r>
          </a:p>
        </p:txBody>
      </p:sp>
      <p:pic>
        <p:nvPicPr>
          <p:cNvPr id="13" name="Picture 12">
            <a:extLst>
              <a:ext uri="{FF2B5EF4-FFF2-40B4-BE49-F238E27FC236}">
                <a16:creationId xmlns:a16="http://schemas.microsoft.com/office/drawing/2014/main" id="{5B387B4B-7352-C463-E784-1E3DFF008378}"/>
              </a:ext>
            </a:extLst>
          </p:cNvPr>
          <p:cNvPicPr>
            <a:picLocks noChangeAspect="1"/>
          </p:cNvPicPr>
          <p:nvPr/>
        </p:nvPicPr>
        <p:blipFill>
          <a:blip r:embed="rId2"/>
          <a:stretch>
            <a:fillRect/>
          </a:stretch>
        </p:blipFill>
        <p:spPr>
          <a:xfrm>
            <a:off x="530352" y="2189570"/>
            <a:ext cx="2511228" cy="2309221"/>
          </a:xfrm>
          <a:prstGeom prst="rect">
            <a:avLst/>
          </a:prstGeom>
        </p:spPr>
      </p:pic>
      <p:pic>
        <p:nvPicPr>
          <p:cNvPr id="14" name="Picture 13">
            <a:extLst>
              <a:ext uri="{FF2B5EF4-FFF2-40B4-BE49-F238E27FC236}">
                <a16:creationId xmlns:a16="http://schemas.microsoft.com/office/drawing/2014/main" id="{83B50D7D-0280-6B84-7A58-1B5E27EA0B0C}"/>
              </a:ext>
            </a:extLst>
          </p:cNvPr>
          <p:cNvPicPr>
            <a:picLocks noChangeAspect="1"/>
          </p:cNvPicPr>
          <p:nvPr/>
        </p:nvPicPr>
        <p:blipFill>
          <a:blip r:embed="rId3"/>
          <a:stretch>
            <a:fillRect/>
          </a:stretch>
        </p:blipFill>
        <p:spPr>
          <a:xfrm>
            <a:off x="3269957" y="2189569"/>
            <a:ext cx="2511229" cy="2309222"/>
          </a:xfrm>
          <a:prstGeom prst="rect">
            <a:avLst/>
          </a:prstGeom>
        </p:spPr>
      </p:pic>
      <p:pic>
        <p:nvPicPr>
          <p:cNvPr id="15" name="Picture 14">
            <a:extLst>
              <a:ext uri="{FF2B5EF4-FFF2-40B4-BE49-F238E27FC236}">
                <a16:creationId xmlns:a16="http://schemas.microsoft.com/office/drawing/2014/main" id="{D2B2E171-2453-8D31-13B6-791D79BCB383}"/>
              </a:ext>
            </a:extLst>
          </p:cNvPr>
          <p:cNvPicPr>
            <a:picLocks noChangeAspect="1"/>
          </p:cNvPicPr>
          <p:nvPr/>
        </p:nvPicPr>
        <p:blipFill>
          <a:blip r:embed="rId4"/>
          <a:stretch>
            <a:fillRect/>
          </a:stretch>
        </p:blipFill>
        <p:spPr>
          <a:xfrm>
            <a:off x="6009564" y="2166369"/>
            <a:ext cx="2511228" cy="2332422"/>
          </a:xfrm>
          <a:prstGeom prst="rect">
            <a:avLst/>
          </a:prstGeom>
        </p:spPr>
      </p:pic>
      <p:sp>
        <p:nvSpPr>
          <p:cNvPr id="5" name="Slide Number Placeholder 4">
            <a:extLst>
              <a:ext uri="{FF2B5EF4-FFF2-40B4-BE49-F238E27FC236}">
                <a16:creationId xmlns:a16="http://schemas.microsoft.com/office/drawing/2014/main" id="{07788A1F-14D6-5246-4600-5289D1CE905C}"/>
              </a:ext>
            </a:extLst>
          </p:cNvPr>
          <p:cNvSpPr>
            <a:spLocks noGrp="1"/>
          </p:cNvSpPr>
          <p:nvPr>
            <p:ph type="sldNum" sz="quarter" idx="12"/>
          </p:nvPr>
        </p:nvSpPr>
        <p:spPr/>
        <p:txBody>
          <a:bodyPr/>
          <a:lstStyle/>
          <a:p>
            <a:fld id="{61696EC4-B4CF-4701-AD06-A8439D6D8E12}" type="slidenum">
              <a:rPr lang="de-DE" smtClean="0"/>
              <a:t>7</a:t>
            </a:fld>
            <a:endParaRPr lang="de-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AB7241C-A9E6-8CF8-9D69-5EE3A11F445F}"/>
              </a:ext>
            </a:extLst>
          </p:cNvPr>
          <p:cNvSpPr>
            <a:spLocks noGrp="1"/>
          </p:cNvSpPr>
          <p:nvPr>
            <p:ph idx="1"/>
          </p:nvPr>
        </p:nvSpPr>
        <p:spPr>
          <a:xfrm>
            <a:off x="463850" y="1538406"/>
            <a:ext cx="4042888" cy="2757842"/>
          </a:xfrm>
        </p:spPr>
        <p:txBody>
          <a:bodyPr anchor="ctr">
            <a:normAutofit fontScale="85000" lnSpcReduction="20000"/>
          </a:bodyPr>
          <a:lstStyle/>
          <a:p>
            <a:pPr marL="0" indent="0">
              <a:buNone/>
            </a:pPr>
            <a:endParaRPr lang="en-US" sz="1275" dirty="0"/>
          </a:p>
          <a:p>
            <a:pPr marL="0" indent="0">
              <a:buNone/>
            </a:pPr>
            <a:r>
              <a:rPr lang="en-US" sz="1275" dirty="0"/>
              <a:t>Design files: Leave blank</a:t>
            </a:r>
          </a:p>
          <a:p>
            <a:pPr marL="0" indent="0">
              <a:buNone/>
            </a:pPr>
            <a:r>
              <a:rPr lang="en-US" sz="1275" dirty="0"/>
              <a:t>Testbench files: Leave blank</a:t>
            </a:r>
          </a:p>
          <a:p>
            <a:pPr marL="0" indent="0">
              <a:buNone/>
            </a:pPr>
            <a:r>
              <a:rPr lang="en-US" sz="1275" dirty="0"/>
              <a:t>Solution: Create</a:t>
            </a:r>
          </a:p>
          <a:p>
            <a:pPr marL="0" indent="0">
              <a:buNone/>
            </a:pPr>
            <a:endParaRPr lang="en-US" sz="1275" dirty="0"/>
          </a:p>
          <a:p>
            <a:pPr>
              <a:lnSpc>
                <a:spcPct val="108000"/>
              </a:lnSpc>
              <a:spcAft>
                <a:spcPts val="250"/>
              </a:spcAft>
            </a:pPr>
            <a:r>
              <a:rPr lang="en-US" sz="1400" dirty="0">
                <a:solidFill>
                  <a:srgbClr val="009682"/>
                </a:solidFill>
              </a:rPr>
              <a:t>▪ </a:t>
            </a:r>
            <a:r>
              <a:rPr lang="en-US" sz="1400" b="1" dirty="0">
                <a:solidFill>
                  <a:srgbClr val="000000"/>
                </a:solidFill>
              </a:rPr>
              <a:t>Top function</a:t>
            </a:r>
            <a:r>
              <a:rPr lang="en-US" sz="1400" dirty="0">
                <a:solidFill>
                  <a:srgbClr val="000000"/>
                </a:solidFill>
              </a:rPr>
              <a:t> = the C/C++ function that becomes the hardware block. Everything it calls is synthesized with it.</a:t>
            </a:r>
          </a:p>
          <a:p>
            <a:pPr>
              <a:lnSpc>
                <a:spcPct val="108000"/>
              </a:lnSpc>
              <a:spcAft>
                <a:spcPts val="250"/>
              </a:spcAft>
            </a:pPr>
            <a:r>
              <a:rPr lang="en-US" sz="1400" dirty="0">
                <a:solidFill>
                  <a:srgbClr val="009682"/>
                </a:solidFill>
              </a:rPr>
              <a:t>▪ </a:t>
            </a:r>
            <a:r>
              <a:rPr lang="en-US" sz="1400" dirty="0">
                <a:solidFill>
                  <a:srgbClr val="000000"/>
                </a:solidFill>
              </a:rPr>
              <a:t>Solution name </a:t>
            </a:r>
            <a:r>
              <a:rPr lang="en-US" sz="1400" dirty="0">
                <a:solidFill>
                  <a:srgbClr val="009682"/>
                </a:solidFill>
                <a:latin typeface="Consolas"/>
              </a:rPr>
              <a:t>solution1</a:t>
            </a:r>
            <a:r>
              <a:rPr lang="en-US" sz="1400" dirty="0">
                <a:solidFill>
                  <a:srgbClr val="000000"/>
                </a:solidFill>
              </a:rPr>
              <a:t>, </a:t>
            </a:r>
            <a:r>
              <a:rPr lang="en-US" sz="1400" b="1" dirty="0">
                <a:solidFill>
                  <a:srgbClr val="000000"/>
                </a:solidFill>
              </a:rPr>
              <a:t>Flow target: </a:t>
            </a:r>
            <a:r>
              <a:rPr lang="en-US" sz="1400" b="1" dirty="0" err="1">
                <a:solidFill>
                  <a:srgbClr val="000000"/>
                </a:solidFill>
              </a:rPr>
              <a:t>Vivado</a:t>
            </a:r>
            <a:r>
              <a:rPr lang="en-US" sz="1400" b="1" dirty="0">
                <a:solidFill>
                  <a:srgbClr val="000000"/>
                </a:solidFill>
              </a:rPr>
              <a:t> IP Flow Target</a:t>
            </a:r>
            <a:r>
              <a:rPr lang="en-US" sz="1400" dirty="0">
                <a:solidFill>
                  <a:srgbClr val="000000"/>
                </a:solidFill>
              </a:rPr>
              <a:t>.</a:t>
            </a:r>
          </a:p>
          <a:p>
            <a:pPr>
              <a:lnSpc>
                <a:spcPct val="108000"/>
              </a:lnSpc>
              <a:spcAft>
                <a:spcPts val="250"/>
              </a:spcAft>
            </a:pPr>
            <a:r>
              <a:rPr lang="en-US" sz="1400" dirty="0">
                <a:solidFill>
                  <a:srgbClr val="009682"/>
                </a:solidFill>
              </a:rPr>
              <a:t>▪ </a:t>
            </a:r>
            <a:r>
              <a:rPr lang="en-US" sz="1400" dirty="0">
                <a:solidFill>
                  <a:srgbClr val="000000"/>
                </a:solidFill>
              </a:rPr>
              <a:t>Clock period </a:t>
            </a:r>
            <a:r>
              <a:rPr lang="en-US" sz="1400" dirty="0">
                <a:solidFill>
                  <a:srgbClr val="009682"/>
                </a:solidFill>
                <a:latin typeface="Consolas"/>
              </a:rPr>
              <a:t>20 ns</a:t>
            </a:r>
            <a:r>
              <a:rPr lang="en-US" sz="1400" dirty="0">
                <a:solidFill>
                  <a:srgbClr val="000000"/>
                </a:solidFill>
              </a:rPr>
              <a:t> (50 MHz) and part </a:t>
            </a:r>
            <a:r>
              <a:rPr lang="en-US" sz="1400" dirty="0">
                <a:solidFill>
                  <a:srgbClr val="009682"/>
                </a:solidFill>
                <a:latin typeface="Consolas"/>
              </a:rPr>
              <a:t>xc7z007sclg400-1</a:t>
            </a:r>
            <a:r>
              <a:rPr lang="en-US" sz="1400" dirty="0">
                <a:solidFill>
                  <a:srgbClr val="000000"/>
                </a:solidFill>
              </a:rPr>
              <a:t> — the Blackboard Zynq-7000 device.</a:t>
            </a:r>
          </a:p>
          <a:p>
            <a:pPr>
              <a:lnSpc>
                <a:spcPct val="108000"/>
              </a:lnSpc>
              <a:spcAft>
                <a:spcPts val="250"/>
              </a:spcAft>
            </a:pPr>
            <a:r>
              <a:rPr lang="en-US" sz="1400" dirty="0">
                <a:solidFill>
                  <a:srgbClr val="009682"/>
                </a:solidFill>
              </a:rPr>
              <a:t>▪ </a:t>
            </a:r>
            <a:r>
              <a:rPr lang="en-US" sz="1400" dirty="0">
                <a:solidFill>
                  <a:srgbClr val="000000"/>
                </a:solidFill>
              </a:rPr>
              <a:t>Wrong part or wrong clock here means the reports and the exported IP are useless later.</a:t>
            </a:r>
          </a:p>
          <a:p>
            <a:pPr marL="0" indent="0">
              <a:buNone/>
            </a:pPr>
            <a:endParaRPr lang="en-US" sz="1350" dirty="0"/>
          </a:p>
        </p:txBody>
      </p:sp>
      <p:sp>
        <p:nvSpPr>
          <p:cNvPr id="9" name="TextBox 8">
            <a:extLst>
              <a:ext uri="{FF2B5EF4-FFF2-40B4-BE49-F238E27FC236}">
                <a16:creationId xmlns:a16="http://schemas.microsoft.com/office/drawing/2014/main" id="{400999AF-4093-3245-69AD-27588124EDBC}"/>
              </a:ext>
            </a:extLst>
          </p:cNvPr>
          <p:cNvSpPr txBox="1"/>
          <p:nvPr/>
        </p:nvSpPr>
        <p:spPr>
          <a:xfrm>
            <a:off x="396000" y="951404"/>
            <a:ext cx="3943350" cy="507831"/>
          </a:xfrm>
          <a:prstGeom prst="rect">
            <a:avLst/>
          </a:prstGeom>
          <a:noFill/>
        </p:spPr>
        <p:txBody>
          <a:bodyPr wrap="square" rtlCol="0">
            <a:spAutoFit/>
          </a:bodyPr>
          <a:lstStyle/>
          <a:p>
            <a:r>
              <a:rPr lang="en-US" sz="1350" dirty="0"/>
              <a:t>At the initial configuration, we do not need to add any files to the Vitis HLS Project Wizard screens. </a:t>
            </a:r>
          </a:p>
        </p:txBody>
      </p:sp>
      <p:sp>
        <p:nvSpPr>
          <p:cNvPr id="4" name="Title 1">
            <a:extLst>
              <a:ext uri="{FF2B5EF4-FFF2-40B4-BE49-F238E27FC236}">
                <a16:creationId xmlns:a16="http://schemas.microsoft.com/office/drawing/2014/main" id="{10A5FCB9-F57C-BEBD-15CD-E8F75C5E3143}"/>
              </a:ext>
            </a:extLst>
          </p:cNvPr>
          <p:cNvSpPr>
            <a:spLocks noGrp="1"/>
          </p:cNvSpPr>
          <p:nvPr>
            <p:ph type="title"/>
          </p:nvPr>
        </p:nvSpPr>
        <p:spPr>
          <a:xfrm>
            <a:off x="396000" y="296244"/>
            <a:ext cx="6869178" cy="575989"/>
          </a:xfrm>
        </p:spPr>
        <p:txBody>
          <a:bodyPr wrap="square"/>
          <a:lstStyle/>
          <a:p>
            <a:r>
              <a:rPr sz="2400" b="1" dirty="0">
                <a:solidFill>
                  <a:srgbClr val="000000"/>
                </a:solidFill>
                <a:latin typeface="Arial"/>
              </a:rPr>
              <a:t>Solution settings: top function, part, clock</a:t>
            </a:r>
          </a:p>
        </p:txBody>
      </p:sp>
      <p:sp>
        <p:nvSpPr>
          <p:cNvPr id="7" name="Slide Number Placeholder 6">
            <a:extLst>
              <a:ext uri="{FF2B5EF4-FFF2-40B4-BE49-F238E27FC236}">
                <a16:creationId xmlns:a16="http://schemas.microsoft.com/office/drawing/2014/main" id="{A57C611E-C906-A124-830E-ED66339FE8CE}"/>
              </a:ext>
            </a:extLst>
          </p:cNvPr>
          <p:cNvSpPr>
            <a:spLocks noGrp="1"/>
          </p:cNvSpPr>
          <p:nvPr>
            <p:ph type="sldNum" sz="quarter" idx="12"/>
          </p:nvPr>
        </p:nvSpPr>
        <p:spPr/>
        <p:txBody>
          <a:bodyPr/>
          <a:lstStyle/>
          <a:p>
            <a:fld id="{3626266D-1553-1D42-A4A7-21630171A50C}" type="slidenum">
              <a:rPr lang="en-US" smtClean="0"/>
              <a:t>8</a:t>
            </a:fld>
            <a:endParaRPr lang="en-US"/>
          </a:p>
        </p:txBody>
      </p:sp>
      <p:pic>
        <p:nvPicPr>
          <p:cNvPr id="5" name="Picture 4">
            <a:extLst>
              <a:ext uri="{FF2B5EF4-FFF2-40B4-BE49-F238E27FC236}">
                <a16:creationId xmlns:a16="http://schemas.microsoft.com/office/drawing/2014/main" id="{31A4280F-1A9D-31B2-BAA4-416B547C24C6}"/>
              </a:ext>
            </a:extLst>
          </p:cNvPr>
          <p:cNvPicPr>
            <a:picLocks noChangeAspect="1"/>
          </p:cNvPicPr>
          <p:nvPr/>
        </p:nvPicPr>
        <p:blipFill>
          <a:blip r:embed="rId2"/>
          <a:stretch>
            <a:fillRect/>
          </a:stretch>
        </p:blipFill>
        <p:spPr>
          <a:xfrm>
            <a:off x="4572000" y="919774"/>
            <a:ext cx="3973675" cy="3586912"/>
          </a:xfrm>
          <a:prstGeom prst="rect">
            <a:avLst/>
          </a:prstGeom>
        </p:spPr>
      </p:pic>
    </p:spTree>
    <p:extLst>
      <p:ext uri="{BB962C8B-B14F-4D97-AF65-F5344CB8AC3E}">
        <p14:creationId xmlns:p14="http://schemas.microsoft.com/office/powerpoint/2010/main" val="948602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Starting Vivado 2022.2</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2336" y="969264"/>
            <a:ext cx="3931919" cy="345440"/>
          </a:xfrm>
          <a:prstGeom prst="rect">
            <a:avLst/>
          </a:prstGeom>
          <a:solidFill>
            <a:srgbClr val="F3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969264"/>
            <a:ext cx="41148" cy="345440"/>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033272"/>
            <a:ext cx="3730751" cy="217423"/>
          </a:xfrm>
          <a:prstGeom prst="rect">
            <a:avLst/>
          </a:prstGeom>
          <a:noFill/>
        </p:spPr>
        <p:txBody>
          <a:bodyPr wrap="square" lIns="0" tIns="0" rIns="0" bIns="0">
            <a:spAutoFit/>
          </a:bodyPr>
          <a:lstStyle/>
          <a:p>
            <a:pPr>
              <a:lnSpc>
                <a:spcPct val="105000"/>
              </a:lnSpc>
              <a:spcAft>
                <a:spcPts val="0"/>
              </a:spcAft>
            </a:pPr>
            <a:r>
              <a:rPr sz="1000">
                <a:solidFill>
                  <a:srgbClr val="16302C"/>
                </a:solidFill>
                <a:latin typeface="Consolas"/>
              </a:rPr>
              <a:t>vivado &amp;</a:t>
            </a:r>
          </a:p>
        </p:txBody>
      </p:sp>
      <p:sp>
        <p:nvSpPr>
          <p:cNvPr id="8" name="TextBox 7"/>
          <p:cNvSpPr txBox="1"/>
          <p:nvPr/>
        </p:nvSpPr>
        <p:spPr>
          <a:xfrm>
            <a:off x="402336" y="1378712"/>
            <a:ext cx="3931919" cy="1644975"/>
          </a:xfrm>
          <a:prstGeom prst="rect">
            <a:avLst/>
          </a:prstGeom>
          <a:noFill/>
        </p:spPr>
        <p:txBody>
          <a:bodyPr wrap="square" lIns="0" tIns="0" rIns="0" bIns="0">
            <a:spAutoFit/>
          </a:bodyPr>
          <a:lstStyle/>
          <a:p>
            <a:pPr>
              <a:lnSpc>
                <a:spcPct val="108000"/>
              </a:lnSpc>
              <a:spcAft>
                <a:spcPts val="250"/>
              </a:spcAft>
            </a:pPr>
            <a:r>
              <a:rPr sz="1200">
                <a:solidFill>
                  <a:srgbClr val="009682"/>
                </a:solidFill>
                <a:latin typeface="Arial"/>
              </a:rPr>
              <a:t>▪ </a:t>
            </a:r>
            <a:r>
              <a:rPr sz="1200" b="0" i="0">
                <a:solidFill>
                  <a:srgbClr val="000000"/>
                </a:solidFill>
                <a:latin typeface="Arial"/>
              </a:rPr>
              <a:t>In Lab 1 Vivado is only opened to prove the installation and the GUI work.</a:t>
            </a:r>
          </a:p>
          <a:p>
            <a:pPr>
              <a:lnSpc>
                <a:spcPct val="108000"/>
              </a:lnSpc>
              <a:spcAft>
                <a:spcPts val="250"/>
              </a:spcAft>
            </a:pPr>
            <a:r>
              <a:rPr sz="1200">
                <a:solidFill>
                  <a:srgbClr val="009682"/>
                </a:solidFill>
                <a:latin typeface="Arial"/>
              </a:rPr>
              <a:t>▪ </a:t>
            </a:r>
            <a:r>
              <a:rPr sz="1200" b="0" i="0">
                <a:solidFill>
                  <a:srgbClr val="000000"/>
                </a:solidFill>
                <a:latin typeface="Arial"/>
              </a:rPr>
              <a:t>Confirm the title bar reads </a:t>
            </a:r>
            <a:r>
              <a:rPr sz="1200" b="1" i="0">
                <a:solidFill>
                  <a:srgbClr val="000000"/>
                </a:solidFill>
                <a:latin typeface="Arial"/>
              </a:rPr>
              <a:t>2022.2</a:t>
            </a:r>
            <a:r>
              <a:rPr sz="1200" b="0" i="0">
                <a:solidFill>
                  <a:srgbClr val="000000"/>
                </a:solidFill>
                <a:latin typeface="Arial"/>
              </a:rPr>
              <a:t> — mixed versions break IP hand-over between HLS and Vivado.</a:t>
            </a:r>
          </a:p>
          <a:p>
            <a:pPr>
              <a:lnSpc>
                <a:spcPct val="108000"/>
              </a:lnSpc>
              <a:spcAft>
                <a:spcPts val="250"/>
              </a:spcAft>
            </a:pPr>
            <a:r>
              <a:rPr sz="1200">
                <a:solidFill>
                  <a:srgbClr val="009682"/>
                </a:solidFill>
                <a:latin typeface="Arial"/>
              </a:rPr>
              <a:t>▪ </a:t>
            </a:r>
            <a:r>
              <a:rPr sz="1200" b="0" i="0">
                <a:solidFill>
                  <a:srgbClr val="000000"/>
                </a:solidFill>
                <a:latin typeface="Arial"/>
              </a:rPr>
              <a:t>Close it again; no Vivado project is created in Lab 1.</a:t>
            </a:r>
          </a:p>
        </p:txBody>
      </p:sp>
      <p:sp>
        <p:nvSpPr>
          <p:cNvPr id="9" name="Rectangle 8"/>
          <p:cNvSpPr/>
          <p:nvPr/>
        </p:nvSpPr>
        <p:spPr>
          <a:xfrm>
            <a:off x="402336" y="3087695"/>
            <a:ext cx="3931919" cy="752475"/>
          </a:xfrm>
          <a:prstGeom prst="rect">
            <a:avLst/>
          </a:prstGeom>
          <a:solidFill>
            <a:srgbClr val="E5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2336" y="3087695"/>
            <a:ext cx="50292" cy="752475"/>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 y="3160847"/>
            <a:ext cx="3657599" cy="606171"/>
          </a:xfrm>
          <a:prstGeom prst="rect">
            <a:avLst/>
          </a:prstGeom>
          <a:noFill/>
        </p:spPr>
        <p:txBody>
          <a:bodyPr wrap="square" lIns="0" tIns="0" rIns="0" bIns="0">
            <a:spAutoFit/>
          </a:bodyPr>
          <a:lstStyle/>
          <a:p>
            <a:pPr>
              <a:lnSpc>
                <a:spcPct val="110000"/>
              </a:lnSpc>
            </a:pPr>
            <a:r>
              <a:rPr sz="1150" b="0" i="0" dirty="0">
                <a:solidFill>
                  <a:srgbClr val="000000"/>
                </a:solidFill>
                <a:latin typeface="Arial"/>
              </a:rPr>
              <a:t>Lab 2 preview. The IP you export at the end of Lab 1 is imported into a </a:t>
            </a:r>
            <a:r>
              <a:rPr sz="1150" b="0" i="0" dirty="0" err="1">
                <a:solidFill>
                  <a:srgbClr val="000000"/>
                </a:solidFill>
                <a:latin typeface="Arial"/>
              </a:rPr>
              <a:t>Vivado</a:t>
            </a:r>
            <a:r>
              <a:rPr sz="1150" b="0" i="0" dirty="0">
                <a:solidFill>
                  <a:srgbClr val="000000"/>
                </a:solidFill>
                <a:latin typeface="Arial"/>
              </a:rPr>
              <a:t> block design in Lab 2.1.</a:t>
            </a:r>
          </a:p>
        </p:txBody>
      </p:sp>
      <p:pic>
        <p:nvPicPr>
          <p:cNvPr id="14" name="Picture 13">
            <a:extLst>
              <a:ext uri="{FF2B5EF4-FFF2-40B4-BE49-F238E27FC236}">
                <a16:creationId xmlns:a16="http://schemas.microsoft.com/office/drawing/2014/main" id="{BACC122A-1D9F-3D6D-06F3-A11D98D60196}"/>
              </a:ext>
            </a:extLst>
          </p:cNvPr>
          <p:cNvPicPr>
            <a:picLocks noChangeAspect="1"/>
          </p:cNvPicPr>
          <p:nvPr/>
        </p:nvPicPr>
        <p:blipFill>
          <a:blip r:embed="rId2"/>
          <a:stretch>
            <a:fillRect/>
          </a:stretch>
        </p:blipFill>
        <p:spPr>
          <a:xfrm>
            <a:off x="4499227" y="1211860"/>
            <a:ext cx="4260345" cy="2278840"/>
          </a:xfrm>
          <a:prstGeom prst="rect">
            <a:avLst/>
          </a:prstGeom>
        </p:spPr>
      </p:pic>
      <p:sp>
        <p:nvSpPr>
          <p:cNvPr id="15" name="Slide Number Placeholder 14">
            <a:extLst>
              <a:ext uri="{FF2B5EF4-FFF2-40B4-BE49-F238E27FC236}">
                <a16:creationId xmlns:a16="http://schemas.microsoft.com/office/drawing/2014/main" id="{4EE3DB59-228B-467B-3106-826920C2B0E7}"/>
              </a:ext>
            </a:extLst>
          </p:cNvPr>
          <p:cNvSpPr>
            <a:spLocks noGrp="1"/>
          </p:cNvSpPr>
          <p:nvPr>
            <p:ph type="sldNum" sz="quarter" idx="12"/>
          </p:nvPr>
        </p:nvSpPr>
        <p:spPr/>
        <p:txBody>
          <a:bodyPr/>
          <a:lstStyle/>
          <a:p>
            <a:fld id="{61696EC4-B4CF-4701-AD06-A8439D6D8E12}" type="slidenum">
              <a:rPr lang="de-DE" smtClean="0"/>
              <a:t>9</a:t>
            </a:fld>
            <a:endParaRPr lang="de-D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a:solidFill>
                  <a:srgbClr val="000000"/>
                </a:solidFill>
                <a:latin typeface="Arial"/>
              </a:rPr>
              <a:t>Setup verification</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02336" y="969264"/>
            <a:ext cx="8339327" cy="16870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2336" y="969264"/>
            <a:ext cx="8339327" cy="32004"/>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8" y="1060704"/>
            <a:ext cx="8119871" cy="1522476"/>
          </a:xfrm>
          <a:prstGeom prst="rect">
            <a:avLst/>
          </a:prstGeom>
          <a:noFill/>
        </p:spPr>
        <p:txBody>
          <a:bodyPr wrap="square" lIns="0" tIns="0" rIns="0" bIns="0">
            <a:spAutoFit/>
          </a:bodyPr>
          <a:lstStyle/>
          <a:p>
            <a:pPr>
              <a:lnSpc>
                <a:spcPct val="106000"/>
              </a:lnSpc>
              <a:spcAft>
                <a:spcPts val="0"/>
              </a:spcAft>
            </a:pPr>
            <a:r>
              <a:rPr sz="1000">
                <a:solidFill>
                  <a:srgbClr val="16302C"/>
                </a:solidFill>
                <a:latin typeface="Consolas"/>
              </a:rPr>
              <a:t>[ok] logged in on the assigned lab machine</a:t>
            </a:r>
          </a:p>
          <a:p>
            <a:pPr>
              <a:lnSpc>
                <a:spcPct val="106000"/>
              </a:lnSpc>
              <a:spcAft>
                <a:spcPts val="0"/>
              </a:spcAft>
            </a:pPr>
            <a:r>
              <a:rPr sz="1000">
                <a:solidFill>
                  <a:srgbClr val="16302C"/>
                </a:solidFill>
                <a:latin typeface="Consolas"/>
              </a:rPr>
              <a:t>[ok] lab working directory exists and is writable</a:t>
            </a:r>
          </a:p>
          <a:p>
            <a:pPr>
              <a:lnSpc>
                <a:spcPct val="106000"/>
              </a:lnSpc>
              <a:spcAft>
                <a:spcPts val="0"/>
              </a:spcAft>
            </a:pPr>
            <a:r>
              <a:rPr sz="1000">
                <a:solidFill>
                  <a:srgbClr val="16302C"/>
                </a:solidFill>
                <a:latin typeface="Consolas"/>
              </a:rPr>
              <a:t>[ok] repository checked out, task directories visible</a:t>
            </a:r>
          </a:p>
          <a:p>
            <a:pPr>
              <a:lnSpc>
                <a:spcPct val="106000"/>
              </a:lnSpc>
              <a:spcAft>
                <a:spcPts val="0"/>
              </a:spcAft>
            </a:pPr>
            <a:r>
              <a:rPr sz="1000">
                <a:solidFill>
                  <a:srgbClr val="16302C"/>
                </a:solidFill>
                <a:latin typeface="Consolas"/>
              </a:rPr>
              <a:t>[ok] Xilinx 2022.2 environment sourced</a:t>
            </a:r>
          </a:p>
          <a:p>
            <a:pPr>
              <a:lnSpc>
                <a:spcPct val="106000"/>
              </a:lnSpc>
              <a:spcAft>
                <a:spcPts val="0"/>
              </a:spcAft>
            </a:pPr>
            <a:r>
              <a:rPr sz="1000">
                <a:solidFill>
                  <a:srgbClr val="16302C"/>
                </a:solidFill>
                <a:latin typeface="Consolas"/>
              </a:rPr>
              <a:t>[ok] vitis_hls -version and vivado -version both report 2022.2</a:t>
            </a:r>
          </a:p>
          <a:p>
            <a:pPr>
              <a:lnSpc>
                <a:spcPct val="106000"/>
              </a:lnSpc>
              <a:spcAft>
                <a:spcPts val="0"/>
              </a:spcAft>
            </a:pPr>
            <a:r>
              <a:rPr sz="1000">
                <a:solidFill>
                  <a:srgbClr val="16302C"/>
                </a:solidFill>
                <a:latin typeface="Consolas"/>
              </a:rPr>
              <a:t>[ok] X11 forwarding works, both GUIs open</a:t>
            </a:r>
          </a:p>
          <a:p>
            <a:pPr>
              <a:lnSpc>
                <a:spcPct val="106000"/>
              </a:lnSpc>
              <a:spcAft>
                <a:spcPts val="0"/>
              </a:spcAft>
            </a:pPr>
            <a:r>
              <a:rPr sz="1000">
                <a:solidFill>
                  <a:srgbClr val="16302C"/>
                </a:solidFill>
                <a:latin typeface="Consolas"/>
              </a:rPr>
              <a:t>[ok] Vitis HLS project created with top function and part configured</a:t>
            </a:r>
          </a:p>
          <a:p>
            <a:pPr>
              <a:lnSpc>
                <a:spcPct val="106000"/>
              </a:lnSpc>
              <a:spcAft>
                <a:spcPts val="0"/>
              </a:spcAft>
            </a:pPr>
            <a:r>
              <a:rPr sz="1000">
                <a:solidFill>
                  <a:srgbClr val="16302C"/>
                </a:solidFill>
                <a:latin typeface="Consolas"/>
              </a:rPr>
              <a:t> </a:t>
            </a:r>
          </a:p>
          <a:p>
            <a:pPr>
              <a:lnSpc>
                <a:spcPct val="106000"/>
              </a:lnSpc>
              <a:spcAft>
                <a:spcPts val="0"/>
              </a:spcAft>
            </a:pPr>
            <a:r>
              <a:rPr sz="1000">
                <a:solidFill>
                  <a:srgbClr val="16302C"/>
                </a:solidFill>
                <a:latin typeface="Consolas"/>
              </a:rPr>
              <a:t>[next] Lab 1.2 — implement the seven-segment decoder</a:t>
            </a:r>
          </a:p>
        </p:txBody>
      </p:sp>
      <p:sp>
        <p:nvSpPr>
          <p:cNvPr id="7" name="TextBox 6"/>
          <p:cNvSpPr txBox="1"/>
          <p:nvPr/>
        </p:nvSpPr>
        <p:spPr>
          <a:xfrm>
            <a:off x="402336" y="2720340"/>
            <a:ext cx="8339327" cy="771022"/>
          </a:xfrm>
          <a:prstGeom prst="rect">
            <a:avLst/>
          </a:prstGeom>
          <a:noFill/>
        </p:spPr>
        <p:txBody>
          <a:bodyPr wrap="square" lIns="0" tIns="0" rIns="0" bIns="0">
            <a:spAutoFit/>
          </a:bodyPr>
          <a:lstStyle/>
          <a:p>
            <a:pPr>
              <a:lnSpc>
                <a:spcPct val="108000"/>
              </a:lnSpc>
              <a:spcAft>
                <a:spcPts val="250"/>
              </a:spcAft>
            </a:pPr>
            <a:r>
              <a:rPr sz="1200">
                <a:solidFill>
                  <a:srgbClr val="009682"/>
                </a:solidFill>
                <a:latin typeface="Arial"/>
              </a:rPr>
              <a:t>▪ </a:t>
            </a:r>
            <a:r>
              <a:rPr sz="1200" b="0" i="0">
                <a:solidFill>
                  <a:srgbClr val="000000"/>
                </a:solidFill>
                <a:latin typeface="Arial"/>
              </a:rPr>
              <a:t>If any line above fails, fix it before writing code. Do not debug HLS on a broken environment.</a:t>
            </a:r>
          </a:p>
          <a:p>
            <a:pPr>
              <a:lnSpc>
                <a:spcPct val="108000"/>
              </a:lnSpc>
              <a:spcAft>
                <a:spcPts val="250"/>
              </a:spcAft>
            </a:pPr>
            <a:r>
              <a:rPr sz="1200">
                <a:solidFill>
                  <a:srgbClr val="009682"/>
                </a:solidFill>
                <a:latin typeface="Arial"/>
              </a:rPr>
              <a:t>▪ </a:t>
            </a:r>
            <a:r>
              <a:rPr sz="1200" b="0" i="0">
                <a:solidFill>
                  <a:srgbClr val="000000"/>
                </a:solidFill>
                <a:latin typeface="Arial"/>
              </a:rPr>
              <a:t>Record machine name, tool version and working directory in your notes — the first question in the oral check.</a:t>
            </a:r>
          </a:p>
        </p:txBody>
      </p:sp>
      <p:sp>
        <p:nvSpPr>
          <p:cNvPr id="11" name="Slide Number Placeholder 10">
            <a:extLst>
              <a:ext uri="{FF2B5EF4-FFF2-40B4-BE49-F238E27FC236}">
                <a16:creationId xmlns:a16="http://schemas.microsoft.com/office/drawing/2014/main" id="{9C2A82D7-DA14-71F1-DB26-932F94885DB5}"/>
              </a:ext>
            </a:extLst>
          </p:cNvPr>
          <p:cNvSpPr>
            <a:spLocks noGrp="1"/>
          </p:cNvSpPr>
          <p:nvPr>
            <p:ph type="sldNum" sz="quarter" idx="12"/>
          </p:nvPr>
        </p:nvSpPr>
        <p:spPr/>
        <p:txBody>
          <a:bodyPr/>
          <a:lstStyle/>
          <a:p>
            <a:fld id="{61696EC4-B4CF-4701-AD06-A8439D6D8E12}" type="slidenum">
              <a:rPr lang="de-DE" smtClean="0"/>
              <a:t>10</a:t>
            </a:fld>
            <a:endParaRPr lang="de-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endParaRPr/>
          </a:p>
        </p:txBody>
      </p:sp>
      <p:sp>
        <p:nvSpPr>
          <p:cNvPr id="3" name="Rectangle 2"/>
          <p:cNvSpPr/>
          <p:nvPr/>
        </p:nvSpPr>
        <p:spPr>
          <a:xfrm>
            <a:off x="0" y="1417320"/>
            <a:ext cx="9144000" cy="1417320"/>
          </a:xfrm>
          <a:prstGeom prst="rect">
            <a:avLst/>
          </a:prstGeom>
          <a:solidFill>
            <a:srgbClr val="E5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1645920"/>
            <a:ext cx="7882127" cy="548640"/>
          </a:xfrm>
          <a:prstGeom prst="rect">
            <a:avLst/>
          </a:prstGeom>
          <a:noFill/>
        </p:spPr>
        <p:txBody>
          <a:bodyPr wrap="square" lIns="0" tIns="0" rIns="0" bIns="0">
            <a:spAutoFit/>
          </a:bodyPr>
          <a:lstStyle/>
          <a:p>
            <a:r>
              <a:rPr sz="2600" b="1">
                <a:solidFill>
                  <a:srgbClr val="009682"/>
                </a:solidFill>
                <a:latin typeface="Arial"/>
              </a:rPr>
              <a:t>Section B — Lab 1.2: Seven-segment decoder</a:t>
            </a:r>
          </a:p>
        </p:txBody>
      </p:sp>
      <p:sp>
        <p:nvSpPr>
          <p:cNvPr id="5" name="TextBox 4"/>
          <p:cNvSpPr txBox="1"/>
          <p:nvPr/>
        </p:nvSpPr>
        <p:spPr>
          <a:xfrm>
            <a:off x="630936" y="2240280"/>
            <a:ext cx="7882127" cy="457200"/>
          </a:xfrm>
          <a:prstGeom prst="rect">
            <a:avLst/>
          </a:prstGeom>
          <a:noFill/>
        </p:spPr>
        <p:txBody>
          <a:bodyPr wrap="square" lIns="0" tIns="0" rIns="0" bIns="0">
            <a:spAutoFit/>
          </a:bodyPr>
          <a:lstStyle/>
          <a:p>
            <a:r>
              <a:rPr sz="1400" b="0" i="0">
                <a:solidFill>
                  <a:srgbClr val="6F6F6F"/>
                </a:solidFill>
                <a:latin typeface="Arial"/>
              </a:rPr>
              <a:t>From a C/C++ function to synthesized RTL.</a:t>
            </a:r>
          </a:p>
        </p:txBody>
      </p:sp>
      <p:sp>
        <p:nvSpPr>
          <p:cNvPr id="9" name="Slide Number Placeholder 8">
            <a:extLst>
              <a:ext uri="{FF2B5EF4-FFF2-40B4-BE49-F238E27FC236}">
                <a16:creationId xmlns:a16="http://schemas.microsoft.com/office/drawing/2014/main" id="{65AAF153-8A5F-E0CE-0D1F-D5D0164B8CFB}"/>
              </a:ext>
            </a:extLst>
          </p:cNvPr>
          <p:cNvSpPr>
            <a:spLocks noGrp="1"/>
          </p:cNvSpPr>
          <p:nvPr>
            <p:ph type="sldNum" sz="quarter" idx="12"/>
          </p:nvPr>
        </p:nvSpPr>
        <p:spPr/>
        <p:txBody>
          <a:bodyPr/>
          <a:lstStyle/>
          <a:p>
            <a:fld id="{61696EC4-B4CF-4701-AD06-A8439D6D8E12}" type="slidenum">
              <a:rPr lang="de-DE" smtClean="0"/>
              <a:t>11</a:t>
            </a:fld>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What this lab is about</a:t>
            </a:r>
          </a:p>
        </p:txBody>
      </p:sp>
      <p:sp>
        <p:nvSpPr>
          <p:cNvPr id="3" name="TextBox 2"/>
          <p:cNvSpPr txBox="1"/>
          <p:nvPr/>
        </p:nvSpPr>
        <p:spPr>
          <a:xfrm>
            <a:off x="365760" y="932688"/>
            <a:ext cx="8412480" cy="173736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500" dirty="0">
                <a:solidFill>
                  <a:srgbClr val="1A1A1A"/>
                </a:solidFill>
                <a:latin typeface="Arial"/>
              </a:rPr>
              <a:t>You write a C++ function. Vitis HLS turns it into real hardware (RTL).</a:t>
            </a:r>
          </a:p>
          <a:p>
            <a:pPr marL="182880" indent="-182880" algn="l">
              <a:lnSpc>
                <a:spcPct val="105000"/>
              </a:lnSpc>
              <a:spcAft>
                <a:spcPts val="600"/>
              </a:spcAft>
              <a:buClr>
                <a:srgbClr val="009682"/>
              </a:buClr>
              <a:buFont typeface="Arial"/>
              <a:buChar char="▪"/>
            </a:pPr>
            <a:r>
              <a:rPr sz="1500" dirty="0">
                <a:solidFill>
                  <a:srgbClr val="1A1A1A"/>
                </a:solidFill>
                <a:latin typeface="Arial"/>
              </a:rPr>
              <a:t>The function is not software: after synthesis it becomes a block with input and output wires.</a:t>
            </a:r>
          </a:p>
          <a:p>
            <a:pPr marL="182880" indent="-182880" algn="l">
              <a:lnSpc>
                <a:spcPct val="105000"/>
              </a:lnSpc>
              <a:spcAft>
                <a:spcPts val="600"/>
              </a:spcAft>
              <a:buClr>
                <a:srgbClr val="009682"/>
              </a:buClr>
              <a:buFont typeface="Arial"/>
              <a:buChar char="▪"/>
            </a:pPr>
            <a:r>
              <a:rPr sz="1500" dirty="0">
                <a:solidFill>
                  <a:srgbClr val="1A1A1A"/>
                </a:solidFill>
                <a:latin typeface="Arial"/>
              </a:rPr>
              <a:t>Target: drive the Blackboard's four-digit seven-segment display.</a:t>
            </a:r>
          </a:p>
          <a:p>
            <a:pPr marL="182880" indent="-182880" algn="l">
              <a:lnSpc>
                <a:spcPct val="105000"/>
              </a:lnSpc>
              <a:spcAft>
                <a:spcPts val="600"/>
              </a:spcAft>
              <a:buClr>
                <a:srgbClr val="009682"/>
              </a:buClr>
              <a:buFont typeface="Arial"/>
              <a:buChar char="▪"/>
            </a:pPr>
            <a:r>
              <a:rPr sz="1500" dirty="0">
                <a:solidFill>
                  <a:srgbClr val="1A1A1A"/>
                </a:solidFill>
                <a:latin typeface="Arial"/>
              </a:rPr>
              <a:t>No Verilog and no VHDL is written anywhere in this lab.</a:t>
            </a:r>
          </a:p>
        </p:txBody>
      </p:sp>
      <p:sp>
        <p:nvSpPr>
          <p:cNvPr id="4" name="Rounded Rectangle 3"/>
          <p:cNvSpPr/>
          <p:nvPr/>
        </p:nvSpPr>
        <p:spPr>
          <a:xfrm>
            <a:off x="365760" y="2788920"/>
            <a:ext cx="8412480" cy="777240"/>
          </a:xfrm>
          <a:prstGeom prst="roundRect">
            <a:avLst>
              <a:gd name="adj" fmla="val 3500"/>
            </a:avLst>
          </a:prstGeom>
          <a:solidFill>
            <a:srgbClr val="F7F7F6"/>
          </a:solidFill>
          <a:ln w="9525">
            <a:solidFill>
              <a:srgbClr val="E3E3E0"/>
            </a:solidFill>
          </a:ln>
          <a:effectLst/>
        </p:spPr>
        <p:style>
          <a:lnRef idx="1">
            <a:schemeClr val="accent1"/>
          </a:lnRef>
          <a:fillRef idx="3">
            <a:schemeClr val="accent1"/>
          </a:fillRef>
          <a:effectRef idx="2">
            <a:schemeClr val="accent1"/>
          </a:effectRef>
          <a:fontRef idx="minor">
            <a:schemeClr val="lt1"/>
          </a:fontRef>
        </p:style>
        <p:txBody>
          <a:bodyPr wrap="none" lIns="146304" tIns="91440" rIns="146304" bIns="91440" rtlCol="0" anchor="ctr">
            <a:noAutofit/>
          </a:bodyPr>
          <a:lstStyle/>
          <a:p>
            <a:pPr algn="ctr">
              <a:lnSpc>
                <a:spcPct val="115000"/>
              </a:lnSpc>
            </a:pPr>
            <a:r>
              <a:rPr sz="1200" dirty="0">
                <a:solidFill>
                  <a:srgbClr val="1A1A1A"/>
                </a:solidFill>
                <a:latin typeface="Consolas"/>
              </a:rPr>
              <a:t>C++ function  -&gt;  C simulation  -&gt;  C synthesis  -&gt;  RTL + reports  -&gt;  exported IP</a:t>
            </a:r>
          </a:p>
          <a:p>
            <a:pPr algn="ctr">
              <a:lnSpc>
                <a:spcPct val="115000"/>
              </a:lnSpc>
            </a:pPr>
            <a:r>
              <a:rPr sz="1200" dirty="0">
                <a:solidFill>
                  <a:srgbClr val="1A1A1A"/>
                </a:solidFill>
                <a:latin typeface="Consolas"/>
              </a:rPr>
              <a:t>                                                                        |</a:t>
            </a:r>
          </a:p>
          <a:p>
            <a:pPr algn="ctr">
              <a:lnSpc>
                <a:spcPct val="115000"/>
              </a:lnSpc>
            </a:pPr>
            <a:r>
              <a:rPr sz="1200" dirty="0">
                <a:solidFill>
                  <a:srgbClr val="1A1A1A"/>
                </a:solidFill>
                <a:latin typeface="Consolas"/>
              </a:rPr>
              <a:t>                                                    Lab 2:  </a:t>
            </a:r>
            <a:r>
              <a:rPr sz="1200" dirty="0" err="1">
                <a:solidFill>
                  <a:srgbClr val="1A1A1A"/>
                </a:solidFill>
                <a:latin typeface="Consolas"/>
              </a:rPr>
              <a:t>Vivado</a:t>
            </a:r>
            <a:r>
              <a:rPr sz="1200" dirty="0">
                <a:solidFill>
                  <a:srgbClr val="1A1A1A"/>
                </a:solidFill>
                <a:latin typeface="Consolas"/>
              </a:rPr>
              <a:t> block design  -&gt;  board</a:t>
            </a:r>
          </a:p>
        </p:txBody>
      </p:sp>
      <p:sp>
        <p:nvSpPr>
          <p:cNvPr id="5" name="Rounded Rectangle 4"/>
          <p:cNvSpPr/>
          <p:nvPr/>
        </p:nvSpPr>
        <p:spPr>
          <a:xfrm>
            <a:off x="365760" y="3703320"/>
            <a:ext cx="8412480" cy="685800"/>
          </a:xfrm>
          <a:prstGeom prst="roundRect">
            <a:avLst>
              <a:gd name="adj" fmla="val 6000"/>
            </a:avLst>
          </a:prstGeom>
          <a:solidFill>
            <a:srgbClr val="E8F5F3"/>
          </a:solidFill>
          <a:ln w="9525">
            <a:solidFill>
              <a:srgbClr val="BFE3DC"/>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dirty="0">
                <a:solidFill>
                  <a:srgbClr val="006B5C"/>
                </a:solidFill>
                <a:latin typeface="Arial"/>
              </a:rPr>
              <a:t>Note:  </a:t>
            </a:r>
            <a:r>
              <a:rPr sz="1250" dirty="0">
                <a:solidFill>
                  <a:srgbClr val="1A1A1A"/>
                </a:solidFill>
                <a:latin typeface="Arial"/>
              </a:rPr>
              <a:t>Tool roles. Vitis HLS turns C/C++ into an IP block. </a:t>
            </a:r>
            <a:r>
              <a:rPr sz="1250" dirty="0" err="1">
                <a:solidFill>
                  <a:srgbClr val="1A1A1A"/>
                </a:solidFill>
                <a:latin typeface="Arial"/>
              </a:rPr>
              <a:t>Vivado</a:t>
            </a:r>
            <a:r>
              <a:rPr sz="1250" dirty="0">
                <a:solidFill>
                  <a:srgbClr val="1A1A1A"/>
                </a:solidFill>
                <a:latin typeface="Arial"/>
              </a:rPr>
              <a:t> builds the system around it. Vitis builds the software that runs on the ARM core.</a:t>
            </a:r>
          </a:p>
        </p:txBody>
      </p:sp>
      <p:sp>
        <p:nvSpPr>
          <p:cNvPr id="7" name="Slide Number Placeholder 6">
            <a:extLst>
              <a:ext uri="{FF2B5EF4-FFF2-40B4-BE49-F238E27FC236}">
                <a16:creationId xmlns:a16="http://schemas.microsoft.com/office/drawing/2014/main" id="{FC81979C-E1B6-56A0-839B-F63BC6CB5FC3}"/>
              </a:ext>
            </a:extLst>
          </p:cNvPr>
          <p:cNvSpPr>
            <a:spLocks noGrp="1"/>
          </p:cNvSpPr>
          <p:nvPr>
            <p:ph type="sldNum" sz="quarter" idx="12"/>
          </p:nvPr>
        </p:nvSpPr>
        <p:spPr/>
        <p:txBody>
          <a:bodyPr/>
          <a:lstStyle/>
          <a:p>
            <a:fld id="{61696EC4-B4CF-4701-AD06-A8439D6D8E12}" type="slidenum">
              <a:rPr lang="de-DE" smtClean="0"/>
              <a:t>12</a:t>
            </a:fld>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1" dirty="0">
                <a:solidFill>
                  <a:srgbClr val="000000"/>
                </a:solidFill>
                <a:latin typeface="Arial"/>
              </a:rPr>
              <a:t>Task : Seven-segment decoder using HLS</a:t>
            </a:r>
          </a:p>
        </p:txBody>
      </p:sp>
      <p:sp>
        <p:nvSpPr>
          <p:cNvPr id="3" name="Rectangle 2"/>
          <p:cNvSpPr/>
          <p:nvPr/>
        </p:nvSpPr>
        <p:spPr>
          <a:xfrm>
            <a:off x="402336" y="914400"/>
            <a:ext cx="8339327" cy="2011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2336" y="969264"/>
            <a:ext cx="8339327" cy="898323"/>
          </a:xfrm>
          <a:prstGeom prst="rect">
            <a:avLst/>
          </a:prstGeom>
          <a:noFill/>
        </p:spPr>
        <p:txBody>
          <a:bodyPr wrap="square" lIns="0" tIns="0" rIns="0" bIns="0">
            <a:spAutoFit/>
          </a:bodyPr>
          <a:lstStyle/>
          <a:p>
            <a:pPr>
              <a:lnSpc>
                <a:spcPct val="108000"/>
              </a:lnSpc>
              <a:spcAft>
                <a:spcPts val="250"/>
              </a:spcAft>
            </a:pPr>
            <a:r>
              <a:rPr sz="1200" dirty="0">
                <a:solidFill>
                  <a:srgbClr val="009682"/>
                </a:solidFill>
                <a:latin typeface="Arial"/>
              </a:rPr>
              <a:t>▪ </a:t>
            </a:r>
            <a:r>
              <a:rPr sz="1200" b="0" i="0" dirty="0">
                <a:solidFill>
                  <a:srgbClr val="000000"/>
                </a:solidFill>
                <a:latin typeface="Arial"/>
              </a:rPr>
              <a:t>Implement a </a:t>
            </a:r>
            <a:r>
              <a:rPr lang="en-US" sz="1200" b="1" i="0" dirty="0">
                <a:solidFill>
                  <a:srgbClr val="000000"/>
                </a:solidFill>
                <a:latin typeface="Arial"/>
              </a:rPr>
              <a:t>two</a:t>
            </a:r>
            <a:r>
              <a:rPr sz="1200" b="1" i="0" dirty="0">
                <a:solidFill>
                  <a:srgbClr val="000000"/>
                </a:solidFill>
                <a:latin typeface="Arial"/>
              </a:rPr>
              <a:t>-digit decimal display decoder</a:t>
            </a:r>
            <a:r>
              <a:rPr sz="1200" b="0" i="0" dirty="0">
                <a:solidFill>
                  <a:srgbClr val="000000"/>
                </a:solidFill>
                <a:latin typeface="Arial"/>
              </a:rPr>
              <a:t> in C/C++.</a:t>
            </a:r>
          </a:p>
          <a:p>
            <a:pPr>
              <a:lnSpc>
                <a:spcPct val="108000"/>
              </a:lnSpc>
              <a:spcAft>
                <a:spcPts val="250"/>
              </a:spcAft>
            </a:pPr>
            <a:r>
              <a:rPr sz="1200" dirty="0">
                <a:solidFill>
                  <a:srgbClr val="009682"/>
                </a:solidFill>
                <a:latin typeface="Arial"/>
              </a:rPr>
              <a:t>▪ </a:t>
            </a:r>
            <a:r>
              <a:rPr sz="1200" b="0" i="0" dirty="0">
                <a:solidFill>
                  <a:srgbClr val="000000"/>
                </a:solidFill>
                <a:latin typeface="Arial"/>
              </a:rPr>
              <a:t>Convert an input value from </a:t>
            </a:r>
            <a:r>
              <a:rPr sz="1200" b="1" i="0" dirty="0">
                <a:solidFill>
                  <a:srgbClr val="000000"/>
                </a:solidFill>
                <a:latin typeface="Arial"/>
              </a:rPr>
              <a:t>0 to 99</a:t>
            </a:r>
            <a:r>
              <a:rPr sz="1200" b="0" i="0" dirty="0">
                <a:solidFill>
                  <a:srgbClr val="000000"/>
                </a:solidFill>
                <a:latin typeface="Arial"/>
              </a:rPr>
              <a:t> into two seven-segment patterns.</a:t>
            </a:r>
          </a:p>
          <a:p>
            <a:pPr>
              <a:lnSpc>
                <a:spcPct val="108000"/>
              </a:lnSpc>
              <a:spcAft>
                <a:spcPts val="250"/>
              </a:spcAft>
            </a:pPr>
            <a:r>
              <a:rPr sz="1200" dirty="0">
                <a:solidFill>
                  <a:srgbClr val="009682"/>
                </a:solidFill>
                <a:latin typeface="Arial"/>
              </a:rPr>
              <a:t>▪ </a:t>
            </a:r>
            <a:r>
              <a:rPr sz="1200" b="1" i="0" dirty="0">
                <a:solidFill>
                  <a:srgbClr val="000000"/>
                </a:solidFill>
                <a:latin typeface="Arial"/>
              </a:rPr>
              <a:t>Verify</a:t>
            </a:r>
            <a:r>
              <a:rPr sz="1200" b="0" i="0" dirty="0">
                <a:solidFill>
                  <a:srgbClr val="000000"/>
                </a:solidFill>
                <a:latin typeface="Arial"/>
              </a:rPr>
              <a:t> the design using C simulation.</a:t>
            </a:r>
          </a:p>
          <a:p>
            <a:pPr>
              <a:lnSpc>
                <a:spcPct val="108000"/>
              </a:lnSpc>
              <a:spcAft>
                <a:spcPts val="250"/>
              </a:spcAft>
            </a:pPr>
            <a:r>
              <a:rPr sz="1200" dirty="0">
                <a:solidFill>
                  <a:srgbClr val="009682"/>
                </a:solidFill>
                <a:latin typeface="Arial"/>
              </a:rPr>
              <a:t>▪ </a:t>
            </a:r>
            <a:r>
              <a:rPr sz="1200" b="1" i="0" dirty="0">
                <a:solidFill>
                  <a:srgbClr val="000000"/>
                </a:solidFill>
                <a:latin typeface="Arial"/>
              </a:rPr>
              <a:t>Synthesize</a:t>
            </a:r>
            <a:r>
              <a:rPr sz="1200" b="0" i="0" dirty="0">
                <a:solidFill>
                  <a:srgbClr val="000000"/>
                </a:solidFill>
                <a:latin typeface="Arial"/>
              </a:rPr>
              <a:t> the function into RTL using Vitis HLS.</a:t>
            </a:r>
          </a:p>
        </p:txBody>
      </p:sp>
      <p:sp>
        <p:nvSpPr>
          <p:cNvPr id="5" name="Rectangle 4"/>
          <p:cNvSpPr/>
          <p:nvPr/>
        </p:nvSpPr>
        <p:spPr>
          <a:xfrm>
            <a:off x="402336" y="2082149"/>
            <a:ext cx="8339327" cy="13568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2336" y="2082149"/>
            <a:ext cx="8339327" cy="32004"/>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208" y="2173589"/>
            <a:ext cx="8119871" cy="1134028"/>
          </a:xfrm>
          <a:prstGeom prst="rect">
            <a:avLst/>
          </a:prstGeom>
          <a:noFill/>
        </p:spPr>
        <p:txBody>
          <a:bodyPr wrap="square" lIns="0" tIns="0" rIns="0" bIns="0">
            <a:spAutoFit/>
          </a:bodyPr>
          <a:lstStyle/>
          <a:p>
            <a:pPr algn="ctr">
              <a:lnSpc>
                <a:spcPct val="106000"/>
              </a:lnSpc>
              <a:spcAft>
                <a:spcPts val="0"/>
              </a:spcAft>
            </a:pPr>
            <a:r>
              <a:rPr sz="1000" dirty="0">
                <a:solidFill>
                  <a:srgbClr val="16302C"/>
                </a:solidFill>
                <a:latin typeface="Consolas"/>
              </a:rPr>
              <a:t>Input value (0 … 99)</a:t>
            </a:r>
          </a:p>
          <a:p>
            <a:pPr algn="ctr">
              <a:lnSpc>
                <a:spcPct val="106000"/>
              </a:lnSpc>
              <a:spcAft>
                <a:spcPts val="0"/>
              </a:spcAft>
            </a:pPr>
            <a:r>
              <a:rPr sz="1000" dirty="0">
                <a:solidFill>
                  <a:srgbClr val="16302C"/>
                </a:solidFill>
                <a:latin typeface="Consolas"/>
              </a:rPr>
              <a:t>       ↓</a:t>
            </a:r>
          </a:p>
          <a:p>
            <a:pPr algn="ctr">
              <a:lnSpc>
                <a:spcPct val="106000"/>
              </a:lnSpc>
              <a:spcAft>
                <a:spcPts val="0"/>
              </a:spcAft>
            </a:pPr>
            <a:r>
              <a:rPr sz="1000" dirty="0">
                <a:solidFill>
                  <a:srgbClr val="16302C"/>
                </a:solidFill>
                <a:latin typeface="Consolas"/>
              </a:rPr>
              <a:t>C/C++ HLS function</a:t>
            </a:r>
            <a:r>
              <a:rPr lang="en-US" sz="1000" dirty="0">
                <a:solidFill>
                  <a:srgbClr val="16302C"/>
                </a:solidFill>
                <a:latin typeface="Consolas"/>
              </a:rPr>
              <a:t>:</a:t>
            </a:r>
            <a:r>
              <a:rPr sz="1000" dirty="0">
                <a:solidFill>
                  <a:srgbClr val="16302C"/>
                </a:solidFill>
                <a:latin typeface="Consolas"/>
              </a:rPr>
              <a:t> </a:t>
            </a:r>
            <a:r>
              <a:rPr sz="1000" dirty="0" err="1">
                <a:solidFill>
                  <a:srgbClr val="16302C"/>
                </a:solidFill>
                <a:latin typeface="Consolas"/>
              </a:rPr>
              <a:t>seven_segment</a:t>
            </a:r>
            <a:r>
              <a:rPr sz="1000" dirty="0">
                <a:solidFill>
                  <a:srgbClr val="16302C"/>
                </a:solidFill>
                <a:latin typeface="Consolas"/>
              </a:rPr>
              <a:t>()</a:t>
            </a:r>
          </a:p>
          <a:p>
            <a:pPr algn="ctr">
              <a:lnSpc>
                <a:spcPct val="106000"/>
              </a:lnSpc>
              <a:spcAft>
                <a:spcPts val="0"/>
              </a:spcAft>
            </a:pPr>
            <a:r>
              <a:rPr sz="1000" dirty="0">
                <a:solidFill>
                  <a:srgbClr val="16302C"/>
                </a:solidFill>
                <a:latin typeface="Consolas"/>
              </a:rPr>
              <a:t>       ↓</a:t>
            </a:r>
          </a:p>
          <a:p>
            <a:pPr algn="ctr">
              <a:lnSpc>
                <a:spcPct val="106000"/>
              </a:lnSpc>
              <a:spcAft>
                <a:spcPts val="0"/>
              </a:spcAft>
            </a:pPr>
            <a:r>
              <a:rPr sz="1000" dirty="0">
                <a:solidFill>
                  <a:srgbClr val="16302C"/>
                </a:solidFill>
                <a:latin typeface="Consolas"/>
              </a:rPr>
              <a:t>Tens digit and ones digit</a:t>
            </a:r>
          </a:p>
          <a:p>
            <a:pPr algn="ctr">
              <a:lnSpc>
                <a:spcPct val="106000"/>
              </a:lnSpc>
              <a:spcAft>
                <a:spcPts val="0"/>
              </a:spcAft>
            </a:pPr>
            <a:r>
              <a:rPr sz="1000" dirty="0">
                <a:solidFill>
                  <a:srgbClr val="16302C"/>
                </a:solidFill>
                <a:latin typeface="Consolas"/>
              </a:rPr>
              <a:t>       ↓</a:t>
            </a:r>
          </a:p>
          <a:p>
            <a:pPr algn="ctr">
              <a:lnSpc>
                <a:spcPct val="106000"/>
              </a:lnSpc>
              <a:spcAft>
                <a:spcPts val="0"/>
              </a:spcAft>
            </a:pPr>
            <a:r>
              <a:rPr sz="1000" dirty="0">
                <a:solidFill>
                  <a:srgbClr val="16302C"/>
                </a:solidFill>
                <a:latin typeface="Consolas"/>
              </a:rPr>
              <a:t>Two seven-segment patterns</a:t>
            </a:r>
          </a:p>
        </p:txBody>
      </p:sp>
      <p:sp>
        <p:nvSpPr>
          <p:cNvPr id="11" name="Slide Number Placeholder 10">
            <a:extLst>
              <a:ext uri="{FF2B5EF4-FFF2-40B4-BE49-F238E27FC236}">
                <a16:creationId xmlns:a16="http://schemas.microsoft.com/office/drawing/2014/main" id="{C910792F-2FFF-A810-F563-0554EB898598}"/>
              </a:ext>
            </a:extLst>
          </p:cNvPr>
          <p:cNvSpPr>
            <a:spLocks noGrp="1"/>
          </p:cNvSpPr>
          <p:nvPr>
            <p:ph type="sldNum" sz="quarter" idx="12"/>
          </p:nvPr>
        </p:nvSpPr>
        <p:spPr/>
        <p:txBody>
          <a:bodyPr/>
          <a:lstStyle/>
          <a:p>
            <a:fld id="{61696EC4-B4CF-4701-AD06-A8439D6D8E12}" type="slidenum">
              <a:rPr lang="de-DE" smtClean="0"/>
              <a:t>13</a:t>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The display: four digits, one bus</a:t>
            </a:r>
          </a:p>
        </p:txBody>
      </p:sp>
      <p:pic>
        <p:nvPicPr>
          <p:cNvPr id="3" name="Picture 2" descr="image10.png"/>
          <p:cNvPicPr>
            <a:picLocks noChangeAspect="1"/>
          </p:cNvPicPr>
          <p:nvPr/>
        </p:nvPicPr>
        <p:blipFill>
          <a:blip r:embed="rId2"/>
          <a:stretch>
            <a:fillRect/>
          </a:stretch>
        </p:blipFill>
        <p:spPr>
          <a:xfrm>
            <a:off x="643955" y="932688"/>
            <a:ext cx="3375530" cy="2880360"/>
          </a:xfrm>
          <a:prstGeom prst="rect">
            <a:avLst/>
          </a:prstGeom>
          <a:ln w="9525">
            <a:solidFill>
              <a:srgbClr val="CFCFCF"/>
            </a:solidFill>
          </a:ln>
          <a:effectLst/>
        </p:spPr>
      </p:pic>
      <p:sp>
        <p:nvSpPr>
          <p:cNvPr id="4" name="TextBox 3"/>
          <p:cNvSpPr txBox="1"/>
          <p:nvPr/>
        </p:nvSpPr>
        <p:spPr>
          <a:xfrm>
            <a:off x="365760" y="3886200"/>
            <a:ext cx="3931920" cy="320040"/>
          </a:xfrm>
          <a:prstGeom prst="rect">
            <a:avLst/>
          </a:prstGeom>
          <a:noFill/>
        </p:spPr>
        <p:txBody>
          <a:bodyPr wrap="square" lIns="0" tIns="0" rIns="0" bIns="0">
            <a:noAutofit/>
          </a:bodyPr>
          <a:lstStyle/>
          <a:p>
            <a:pPr algn="ctr">
              <a:lnSpc>
                <a:spcPct val="110000"/>
              </a:lnSpc>
            </a:pPr>
            <a:r>
              <a:rPr sz="1050" b="0" i="1" dirty="0">
                <a:solidFill>
                  <a:srgbClr val="595959"/>
                </a:solidFill>
                <a:latin typeface="Arial"/>
              </a:rPr>
              <a:t>Conceptual view: AXI-side registers driving the multiplexed seven-segment decoder</a:t>
            </a:r>
            <a:r>
              <a:rPr lang="en-US" sz="1050" b="0" i="1" dirty="0">
                <a:solidFill>
                  <a:srgbClr val="595959"/>
                </a:solidFill>
                <a:latin typeface="Arial"/>
              </a:rPr>
              <a:t>. We will get into AXIs on Lab2.</a:t>
            </a:r>
            <a:endParaRPr sz="1050" b="0" i="1" dirty="0">
              <a:solidFill>
                <a:srgbClr val="595959"/>
              </a:solidFill>
              <a:latin typeface="Arial"/>
            </a:endParaRPr>
          </a:p>
        </p:txBody>
      </p:sp>
      <p:sp>
        <p:nvSpPr>
          <p:cNvPr id="5" name="TextBox 4"/>
          <p:cNvSpPr txBox="1"/>
          <p:nvPr/>
        </p:nvSpPr>
        <p:spPr>
          <a:xfrm>
            <a:off x="4480560" y="932688"/>
            <a:ext cx="4297680" cy="329184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500">
                <a:solidFill>
                  <a:srgbClr val="1A1A1A"/>
                </a:solidFill>
                <a:latin typeface="Arial"/>
              </a:rPr>
              <a:t>Seven segments (A…G) plus a decimal point form one digit.</a:t>
            </a:r>
          </a:p>
          <a:p>
            <a:pPr marL="182880" indent="-182880" algn="l">
              <a:lnSpc>
                <a:spcPct val="105000"/>
              </a:lnSpc>
              <a:spcAft>
                <a:spcPts val="600"/>
              </a:spcAft>
              <a:buClr>
                <a:srgbClr val="009682"/>
              </a:buClr>
              <a:buFont typeface="Arial"/>
              <a:buChar char="▪"/>
            </a:pPr>
            <a:r>
              <a:rPr sz="1500">
                <a:solidFill>
                  <a:srgbClr val="1A1A1A"/>
                </a:solidFill>
                <a:latin typeface="Arial"/>
              </a:rPr>
              <a:t>The board has four digits, but they share one 8-bit segment bus.</a:t>
            </a:r>
          </a:p>
          <a:p>
            <a:pPr marL="182880" indent="-182880" algn="l">
              <a:lnSpc>
                <a:spcPct val="105000"/>
              </a:lnSpc>
              <a:spcAft>
                <a:spcPts val="600"/>
              </a:spcAft>
              <a:buClr>
                <a:srgbClr val="009682"/>
              </a:buClr>
              <a:buFont typeface="Arial"/>
              <a:buChar char="▪"/>
            </a:pPr>
            <a:r>
              <a:rPr sz="1500">
                <a:solidFill>
                  <a:srgbClr val="1A1A1A"/>
                </a:solidFill>
                <a:latin typeface="Arial"/>
              </a:rPr>
              <a:t>an[3:0] selects which digit is currently connected to that bus.</a:t>
            </a:r>
          </a:p>
          <a:p>
            <a:pPr marL="182880" indent="-182880" algn="l">
              <a:lnSpc>
                <a:spcPct val="105000"/>
              </a:lnSpc>
              <a:spcAft>
                <a:spcPts val="600"/>
              </a:spcAft>
              <a:buClr>
                <a:srgbClr val="009682"/>
              </a:buClr>
              <a:buFont typeface="Arial"/>
              <a:buChar char="▪"/>
            </a:pPr>
            <a:r>
              <a:rPr sz="1500">
                <a:solidFill>
                  <a:srgbClr val="1A1A1A"/>
                </a:solidFill>
                <a:latin typeface="Arial"/>
              </a:rPr>
              <a:t>Segments and anodes are both active-low: a 0 turns something on.</a:t>
            </a:r>
          </a:p>
        </p:txBody>
      </p:sp>
      <p:sp>
        <p:nvSpPr>
          <p:cNvPr id="7" name="Slide Number Placeholder 6">
            <a:extLst>
              <a:ext uri="{FF2B5EF4-FFF2-40B4-BE49-F238E27FC236}">
                <a16:creationId xmlns:a16="http://schemas.microsoft.com/office/drawing/2014/main" id="{008C05CD-E191-A1DC-0860-227D7122BD2C}"/>
              </a:ext>
            </a:extLst>
          </p:cNvPr>
          <p:cNvSpPr>
            <a:spLocks noGrp="1"/>
          </p:cNvSpPr>
          <p:nvPr>
            <p:ph type="sldNum" sz="quarter" idx="12"/>
          </p:nvPr>
        </p:nvSpPr>
        <p:spPr/>
        <p:txBody>
          <a:bodyPr/>
          <a:lstStyle/>
          <a:p>
            <a:fld id="{61696EC4-B4CF-4701-AD06-A8439D6D8E12}" type="slidenum">
              <a:rPr lang="de-DE" smtClean="0"/>
              <a:t>14</a:t>
            </a:fld>
            <a:endParaRPr lang="de-D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400" b="1" dirty="0">
                <a:solidFill>
                  <a:srgbClr val="1A1A1A"/>
                </a:solidFill>
                <a:latin typeface="Arial"/>
              </a:rPr>
              <a:t>You cannot show two digits at once</a:t>
            </a:r>
            <a:br>
              <a:rPr lang="en-US" sz="2400" b="1" dirty="0">
                <a:solidFill>
                  <a:srgbClr val="1A1A1A"/>
                </a:solidFill>
                <a:latin typeface="Arial"/>
              </a:rPr>
            </a:br>
            <a:r>
              <a:rPr lang="en-US" sz="1600" i="1" dirty="0"/>
              <a:t>At any single instant, only one digit can be lit</a:t>
            </a:r>
            <a:r>
              <a:rPr lang="en-US" sz="1600" dirty="0"/>
              <a:t> + </a:t>
            </a:r>
            <a:r>
              <a:rPr lang="en-US" sz="1600" i="1" dirty="0"/>
              <a:t>but the scan makes all four appear lit simultaneously to the eye</a:t>
            </a:r>
            <a:endParaRPr sz="2400" b="1" dirty="0">
              <a:solidFill>
                <a:srgbClr val="1A1A1A"/>
              </a:solidFill>
              <a:latin typeface="Arial"/>
            </a:endParaRPr>
          </a:p>
        </p:txBody>
      </p:sp>
      <p:sp>
        <p:nvSpPr>
          <p:cNvPr id="3" name="Rounded Rectangle 2"/>
          <p:cNvSpPr/>
          <p:nvPr/>
        </p:nvSpPr>
        <p:spPr>
          <a:xfrm>
            <a:off x="365760" y="932688"/>
            <a:ext cx="8412480" cy="685800"/>
          </a:xfrm>
          <a:prstGeom prst="roundRect">
            <a:avLst>
              <a:gd name="adj" fmla="val 6000"/>
            </a:avLst>
          </a:prstGeom>
          <a:solidFill>
            <a:srgbClr val="FCEFE1"/>
          </a:solidFill>
          <a:ln w="9525">
            <a:solidFill>
              <a:srgbClr val="F0CE9E"/>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dirty="0">
                <a:solidFill>
                  <a:srgbClr val="A05A00"/>
                </a:solidFill>
                <a:latin typeface="Arial"/>
              </a:rPr>
              <a:t>Important:  </a:t>
            </a:r>
            <a:r>
              <a:rPr sz="1250" dirty="0">
                <a:solidFill>
                  <a:srgbClr val="1A1A1A"/>
                </a:solidFill>
                <a:latin typeface="Arial"/>
              </a:rPr>
              <a:t>If two anodes are enabled at the same time, both digits receive the same pattern. Displaying 4 and 2 simultaneously is physically impossible.</a:t>
            </a:r>
          </a:p>
        </p:txBody>
      </p:sp>
      <p:sp>
        <p:nvSpPr>
          <p:cNvPr id="4" name="TextBox 3"/>
          <p:cNvSpPr txBox="1"/>
          <p:nvPr/>
        </p:nvSpPr>
        <p:spPr>
          <a:xfrm>
            <a:off x="365760" y="1783080"/>
            <a:ext cx="8412480" cy="109728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500" dirty="0">
                <a:solidFill>
                  <a:srgbClr val="1A1A1A"/>
                </a:solidFill>
                <a:latin typeface="Arial"/>
              </a:rPr>
              <a:t>The display is driven by time multiplexing: light one digit, then the next, quickly.</a:t>
            </a:r>
          </a:p>
          <a:p>
            <a:pPr marL="182880" indent="-182880" algn="l">
              <a:lnSpc>
                <a:spcPct val="105000"/>
              </a:lnSpc>
              <a:spcAft>
                <a:spcPts val="600"/>
              </a:spcAft>
              <a:buClr>
                <a:srgbClr val="009682"/>
              </a:buClr>
              <a:buFont typeface="Arial"/>
              <a:buChar char="▪"/>
            </a:pPr>
            <a:r>
              <a:rPr sz="1500" dirty="0">
                <a:solidFill>
                  <a:srgbClr val="1A1A1A"/>
                </a:solidFill>
                <a:latin typeface="Arial"/>
              </a:rPr>
              <a:t>At ~1 </a:t>
            </a:r>
            <a:r>
              <a:rPr sz="1500" dirty="0" err="1">
                <a:solidFill>
                  <a:srgbClr val="1A1A1A"/>
                </a:solidFill>
                <a:latin typeface="Arial"/>
              </a:rPr>
              <a:t>ms</a:t>
            </a:r>
            <a:r>
              <a:rPr sz="1500" dirty="0">
                <a:solidFill>
                  <a:srgbClr val="1A1A1A"/>
                </a:solidFill>
                <a:latin typeface="Arial"/>
              </a:rPr>
              <a:t> per digit the eye blends them into one steady four-digit number.</a:t>
            </a:r>
          </a:p>
          <a:p>
            <a:pPr marL="182880" indent="-182880" algn="l">
              <a:lnSpc>
                <a:spcPct val="105000"/>
              </a:lnSpc>
              <a:spcAft>
                <a:spcPts val="600"/>
              </a:spcAft>
              <a:buClr>
                <a:srgbClr val="009682"/>
              </a:buClr>
              <a:buFont typeface="Arial"/>
              <a:buChar char="▪"/>
            </a:pPr>
            <a:r>
              <a:rPr sz="1500" dirty="0">
                <a:solidFill>
                  <a:srgbClr val="1A1A1A"/>
                </a:solidFill>
                <a:latin typeface="Arial"/>
              </a:rPr>
              <a:t>So the block must remember which digit it is currently driving.</a:t>
            </a:r>
          </a:p>
        </p:txBody>
      </p:sp>
      <p:sp>
        <p:nvSpPr>
          <p:cNvPr id="5" name="Rounded Rectangle 4"/>
          <p:cNvSpPr/>
          <p:nvPr/>
        </p:nvSpPr>
        <p:spPr>
          <a:xfrm>
            <a:off x="365760" y="2971800"/>
            <a:ext cx="8412480" cy="1417320"/>
          </a:xfrm>
          <a:prstGeom prst="roundRect">
            <a:avLst>
              <a:gd name="adj" fmla="val 3500"/>
            </a:avLst>
          </a:prstGeom>
          <a:solidFill>
            <a:srgbClr val="F7F7F6"/>
          </a:solidFill>
          <a:ln w="9525">
            <a:solidFill>
              <a:srgbClr val="E3E3E0"/>
            </a:solidFill>
          </a:ln>
          <a:effectLst/>
        </p:spPr>
        <p:style>
          <a:lnRef idx="1">
            <a:schemeClr val="accent1"/>
          </a:lnRef>
          <a:fillRef idx="3">
            <a:schemeClr val="accent1"/>
          </a:fillRef>
          <a:effectRef idx="2">
            <a:schemeClr val="accent1"/>
          </a:effectRef>
          <a:fontRef idx="minor">
            <a:schemeClr val="lt1"/>
          </a:fontRef>
        </p:style>
        <p:txBody>
          <a:bodyPr wrap="none" lIns="146304" tIns="91440" rIns="146304" bIns="91440" rtlCol="0" anchor="ctr">
            <a:noAutofit/>
          </a:bodyPr>
          <a:lstStyle/>
          <a:p>
            <a:pPr algn="ctr">
              <a:lnSpc>
                <a:spcPct val="115000"/>
              </a:lnSpc>
            </a:pPr>
            <a:r>
              <a:rPr sz="1250" dirty="0">
                <a:solidFill>
                  <a:srgbClr val="1A1A1A"/>
                </a:solidFill>
                <a:latin typeface="Consolas"/>
              </a:rPr>
              <a:t>time ──►</a:t>
            </a:r>
          </a:p>
          <a:p>
            <a:pPr>
              <a:lnSpc>
                <a:spcPct val="115000"/>
              </a:lnSpc>
            </a:pPr>
            <a:r>
              <a:rPr sz="1250" dirty="0">
                <a:solidFill>
                  <a:srgbClr val="1A1A1A"/>
                </a:solidFill>
                <a:latin typeface="Consolas"/>
              </a:rPr>
              <a:t>  an0 lit, seg = pattern of "2"     (1 </a:t>
            </a:r>
            <a:r>
              <a:rPr sz="1250" dirty="0" err="1">
                <a:solidFill>
                  <a:srgbClr val="1A1A1A"/>
                </a:solidFill>
                <a:latin typeface="Consolas"/>
              </a:rPr>
              <a:t>ms</a:t>
            </a:r>
            <a:r>
              <a:rPr sz="1250" dirty="0">
                <a:solidFill>
                  <a:srgbClr val="1A1A1A"/>
                </a:solidFill>
                <a:latin typeface="Consolas"/>
              </a:rPr>
              <a:t>)</a:t>
            </a:r>
          </a:p>
          <a:p>
            <a:pPr>
              <a:lnSpc>
                <a:spcPct val="115000"/>
              </a:lnSpc>
            </a:pPr>
            <a:r>
              <a:rPr sz="1250" dirty="0">
                <a:solidFill>
                  <a:srgbClr val="1A1A1A"/>
                </a:solidFill>
                <a:latin typeface="Consolas"/>
              </a:rPr>
              <a:t>  an1 lit, seg = pattern of "4"     (1 </a:t>
            </a:r>
            <a:r>
              <a:rPr sz="1250" dirty="0" err="1">
                <a:solidFill>
                  <a:srgbClr val="1A1A1A"/>
                </a:solidFill>
                <a:latin typeface="Consolas"/>
              </a:rPr>
              <a:t>ms</a:t>
            </a:r>
            <a:r>
              <a:rPr sz="1250" dirty="0">
                <a:solidFill>
                  <a:srgbClr val="1A1A1A"/>
                </a:solidFill>
                <a:latin typeface="Consolas"/>
              </a:rPr>
              <a:t>)</a:t>
            </a:r>
          </a:p>
          <a:p>
            <a:pPr>
              <a:lnSpc>
                <a:spcPct val="115000"/>
              </a:lnSpc>
            </a:pPr>
            <a:r>
              <a:rPr sz="1250" dirty="0">
                <a:solidFill>
                  <a:srgbClr val="1A1A1A"/>
                </a:solidFill>
                <a:latin typeface="Consolas"/>
              </a:rPr>
              <a:t>  an2 lit, seg = blank              (1 </a:t>
            </a:r>
            <a:r>
              <a:rPr sz="1250" dirty="0" err="1">
                <a:solidFill>
                  <a:srgbClr val="1A1A1A"/>
                </a:solidFill>
                <a:latin typeface="Consolas"/>
              </a:rPr>
              <a:t>ms</a:t>
            </a:r>
            <a:r>
              <a:rPr sz="1250" dirty="0">
                <a:solidFill>
                  <a:srgbClr val="1A1A1A"/>
                </a:solidFill>
                <a:latin typeface="Consolas"/>
              </a:rPr>
              <a:t>)</a:t>
            </a:r>
          </a:p>
          <a:p>
            <a:pPr>
              <a:lnSpc>
                <a:spcPct val="115000"/>
              </a:lnSpc>
            </a:pPr>
            <a:r>
              <a:rPr sz="1250" dirty="0">
                <a:solidFill>
                  <a:srgbClr val="1A1A1A"/>
                </a:solidFill>
                <a:latin typeface="Consolas"/>
              </a:rPr>
              <a:t>  an3 lit, seg = blank              (1 </a:t>
            </a:r>
            <a:r>
              <a:rPr sz="1250" dirty="0" err="1">
                <a:solidFill>
                  <a:srgbClr val="1A1A1A"/>
                </a:solidFill>
                <a:latin typeface="Consolas"/>
              </a:rPr>
              <a:t>ms</a:t>
            </a:r>
            <a:r>
              <a:rPr sz="1250" dirty="0">
                <a:solidFill>
                  <a:srgbClr val="1A1A1A"/>
                </a:solidFill>
                <a:latin typeface="Consolas"/>
              </a:rPr>
              <a:t>)     … repeats 250x per second</a:t>
            </a:r>
          </a:p>
        </p:txBody>
      </p:sp>
      <p:sp>
        <p:nvSpPr>
          <p:cNvPr id="7" name="Slide Number Placeholder 6">
            <a:extLst>
              <a:ext uri="{FF2B5EF4-FFF2-40B4-BE49-F238E27FC236}">
                <a16:creationId xmlns:a16="http://schemas.microsoft.com/office/drawing/2014/main" id="{266B7591-85BC-1D36-BFEC-73F983849289}"/>
              </a:ext>
            </a:extLst>
          </p:cNvPr>
          <p:cNvSpPr>
            <a:spLocks noGrp="1"/>
          </p:cNvSpPr>
          <p:nvPr>
            <p:ph type="sldNum" sz="quarter" idx="12"/>
          </p:nvPr>
        </p:nvSpPr>
        <p:spPr/>
        <p:txBody>
          <a:bodyPr/>
          <a:lstStyle/>
          <a:p>
            <a:fld id="{61696EC4-B4CF-4701-AD06-A8439D6D8E12}" type="slidenum">
              <a:rPr lang="de-DE" smtClean="0"/>
              <a:t>15</a:t>
            </a:fld>
            <a:endParaRPr lang="de-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Combinational vs. clocked</a:t>
            </a:r>
          </a:p>
        </p:txBody>
      </p:sp>
      <p:sp>
        <p:nvSpPr>
          <p:cNvPr id="3" name="TextBox 2"/>
          <p:cNvSpPr txBox="1"/>
          <p:nvPr/>
        </p:nvSpPr>
        <p:spPr>
          <a:xfrm>
            <a:off x="365760" y="932688"/>
            <a:ext cx="8412480" cy="1874519"/>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50">
                <a:solidFill>
                  <a:srgbClr val="1A1A1A"/>
                </a:solidFill>
                <a:latin typeface="Arial"/>
              </a:rPr>
              <a:t>A combinational function has no memory: its output depends only on its inputs right now.</a:t>
            </a:r>
          </a:p>
          <a:p>
            <a:pPr marL="182880" indent="-182880" algn="l">
              <a:lnSpc>
                <a:spcPct val="105000"/>
              </a:lnSpc>
              <a:spcAft>
                <a:spcPts val="600"/>
              </a:spcAft>
              <a:buClr>
                <a:srgbClr val="009682"/>
              </a:buClr>
              <a:buFont typeface="Arial"/>
              <a:buChar char="▪"/>
            </a:pPr>
            <a:r>
              <a:rPr sz="1450">
                <a:solidFill>
                  <a:srgbClr val="1A1A1A"/>
                </a:solidFill>
                <a:latin typeface="Arial"/>
              </a:rPr>
              <a:t>Such a function can never scan, because scanning needs a notion of “later”.</a:t>
            </a:r>
          </a:p>
          <a:p>
            <a:pPr marL="182880" indent="-182880" algn="l">
              <a:lnSpc>
                <a:spcPct val="105000"/>
              </a:lnSpc>
              <a:spcAft>
                <a:spcPts val="600"/>
              </a:spcAft>
              <a:buClr>
                <a:srgbClr val="009682"/>
              </a:buClr>
              <a:buFont typeface="Arial"/>
              <a:buChar char="▪"/>
            </a:pPr>
            <a:r>
              <a:rPr sz="1450">
                <a:solidFill>
                  <a:srgbClr val="1A1A1A"/>
                </a:solidFill>
                <a:latin typeface="Arial"/>
              </a:rPr>
              <a:t>In HLS, static local variables become registers — they keep their value between clock cycles.</a:t>
            </a:r>
          </a:p>
          <a:p>
            <a:pPr marL="182880" indent="-182880" algn="l">
              <a:lnSpc>
                <a:spcPct val="105000"/>
              </a:lnSpc>
              <a:spcAft>
                <a:spcPts val="600"/>
              </a:spcAft>
              <a:buClr>
                <a:srgbClr val="009682"/>
              </a:buClr>
              <a:buFont typeface="Arial"/>
              <a:buChar char="▪"/>
            </a:pPr>
            <a:r>
              <a:rPr sz="1450">
                <a:solidFill>
                  <a:srgbClr val="1A1A1A"/>
                </a:solidFill>
                <a:latin typeface="Arial"/>
              </a:rPr>
              <a:t>With ap_ctrl_none the block is free-running: its body executes once every clock cycle.</a:t>
            </a:r>
          </a:p>
        </p:txBody>
      </p:sp>
      <p:sp>
        <p:nvSpPr>
          <p:cNvPr id="4" name="Rounded Rectangle 3"/>
          <p:cNvSpPr/>
          <p:nvPr/>
        </p:nvSpPr>
        <p:spPr>
          <a:xfrm>
            <a:off x="365760" y="2880360"/>
            <a:ext cx="8412480" cy="59436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50">
                <a:solidFill>
                  <a:srgbClr val="2B2B2B"/>
                </a:solidFill>
                <a:latin typeface="Consolas"/>
              </a:rPr>
              <a:t>static ap_uint&lt;16&gt; tick = 0;   // counts cycles inside one digit slot</a:t>
            </a:r>
          </a:p>
          <a:p>
            <a:pPr>
              <a:lnSpc>
                <a:spcPct val="112000"/>
              </a:lnSpc>
            </a:pPr>
            <a:r>
              <a:rPr sz="1250">
                <a:solidFill>
                  <a:srgbClr val="2B2B2B"/>
                </a:solidFill>
                <a:latin typeface="Consolas"/>
              </a:rPr>
              <a:t>static ap_uint&lt;2&gt;  pos  = 0;   // which digit is lit right now</a:t>
            </a:r>
          </a:p>
        </p:txBody>
      </p:sp>
      <p:sp>
        <p:nvSpPr>
          <p:cNvPr id="5" name="Rounded Rectangle 4"/>
          <p:cNvSpPr/>
          <p:nvPr/>
        </p:nvSpPr>
        <p:spPr>
          <a:xfrm>
            <a:off x="365760" y="3611880"/>
            <a:ext cx="8412480" cy="594360"/>
          </a:xfrm>
          <a:prstGeom prst="roundRect">
            <a:avLst>
              <a:gd name="adj" fmla="val 6000"/>
            </a:avLst>
          </a:prstGeom>
          <a:solidFill>
            <a:srgbClr val="E8F5F3"/>
          </a:solidFill>
          <a:ln w="9525">
            <a:solidFill>
              <a:srgbClr val="BFE3DC"/>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a:solidFill>
                  <a:srgbClr val="006B5C"/>
                </a:solidFill>
                <a:latin typeface="Arial"/>
              </a:rPr>
              <a:t>Note:  </a:t>
            </a:r>
            <a:r>
              <a:rPr sz="1250">
                <a:solidFill>
                  <a:srgbClr val="1A1A1A"/>
                </a:solidFill>
                <a:latin typeface="Arial"/>
              </a:rPr>
              <a:t>pos is 2 bits wide, so 3 + 1 wraps to 0 on its own: the scan runs 0 → 1 → 2 → 3 → 0 forever.</a:t>
            </a:r>
          </a:p>
        </p:txBody>
      </p:sp>
      <p:sp>
        <p:nvSpPr>
          <p:cNvPr id="7" name="Slide Number Placeholder 6">
            <a:extLst>
              <a:ext uri="{FF2B5EF4-FFF2-40B4-BE49-F238E27FC236}">
                <a16:creationId xmlns:a16="http://schemas.microsoft.com/office/drawing/2014/main" id="{6817218B-E737-EB97-E49A-4BAA90DF0EEA}"/>
              </a:ext>
            </a:extLst>
          </p:cNvPr>
          <p:cNvSpPr>
            <a:spLocks noGrp="1"/>
          </p:cNvSpPr>
          <p:nvPr>
            <p:ph type="sldNum" sz="quarter" idx="12"/>
          </p:nvPr>
        </p:nvSpPr>
        <p:spPr/>
        <p:txBody>
          <a:bodyPr/>
          <a:lstStyle/>
          <a:p>
            <a:fld id="{61696EC4-B4CF-4701-AD06-A8439D6D8E12}" type="slidenum">
              <a:rPr lang="de-DE" smtClean="0"/>
              <a:t>16</a:t>
            </a:fld>
            <a:endParaRPr lang="de-D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Which bit drives which segment</a:t>
            </a:r>
          </a:p>
        </p:txBody>
      </p:sp>
      <p:sp>
        <p:nvSpPr>
          <p:cNvPr id="3" name="TextBox 2"/>
          <p:cNvSpPr txBox="1"/>
          <p:nvPr/>
        </p:nvSpPr>
        <p:spPr>
          <a:xfrm>
            <a:off x="365760" y="932688"/>
            <a:ext cx="8412480" cy="274320"/>
          </a:xfrm>
          <a:prstGeom prst="rect">
            <a:avLst/>
          </a:prstGeom>
          <a:noFill/>
        </p:spPr>
        <p:txBody>
          <a:bodyPr wrap="square" lIns="0" tIns="0" rIns="0" bIns="0">
            <a:noAutofit/>
          </a:bodyPr>
          <a:lstStyle/>
          <a:p>
            <a:pPr algn="l">
              <a:lnSpc>
                <a:spcPct val="110000"/>
              </a:lnSpc>
            </a:pPr>
            <a:r>
              <a:rPr sz="1300" b="0" i="0" dirty="0">
                <a:solidFill>
                  <a:srgbClr val="595959"/>
                </a:solidFill>
                <a:latin typeface="Arial"/>
              </a:rPr>
              <a:t>The constraints file (XDC) fixes this mapping — it is not a free choice:</a:t>
            </a:r>
          </a:p>
        </p:txBody>
      </p:sp>
      <p:sp>
        <p:nvSpPr>
          <p:cNvPr id="4" name="Rounded Rectangle 3"/>
          <p:cNvSpPr/>
          <p:nvPr/>
        </p:nvSpPr>
        <p:spPr>
          <a:xfrm>
            <a:off x="365760" y="1261872"/>
            <a:ext cx="8412480" cy="86868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00" dirty="0">
                <a:solidFill>
                  <a:srgbClr val="2B2B2B"/>
                </a:solidFill>
                <a:latin typeface="Consolas"/>
              </a:rPr>
              <a:t>seg[0] = SSEG_CA (A)     seg[4] = SSEG_CE (E)</a:t>
            </a:r>
          </a:p>
          <a:p>
            <a:pPr>
              <a:lnSpc>
                <a:spcPct val="112000"/>
              </a:lnSpc>
            </a:pPr>
            <a:r>
              <a:rPr sz="1200" dirty="0">
                <a:solidFill>
                  <a:srgbClr val="2B2B2B"/>
                </a:solidFill>
                <a:latin typeface="Consolas"/>
              </a:rPr>
              <a:t>seg[1] = SSEG_CB (B)     seg[5] = SSEG_CF (F)</a:t>
            </a:r>
          </a:p>
          <a:p>
            <a:pPr>
              <a:lnSpc>
                <a:spcPct val="112000"/>
              </a:lnSpc>
            </a:pPr>
            <a:r>
              <a:rPr sz="1200" dirty="0">
                <a:solidFill>
                  <a:srgbClr val="2B2B2B"/>
                </a:solidFill>
                <a:latin typeface="Consolas"/>
              </a:rPr>
              <a:t>seg[2] = SSEG_CC (C)     seg[6] = SSEG_CG (G)</a:t>
            </a:r>
          </a:p>
          <a:p>
            <a:pPr>
              <a:lnSpc>
                <a:spcPct val="112000"/>
              </a:lnSpc>
            </a:pPr>
            <a:r>
              <a:rPr sz="1200" dirty="0">
                <a:solidFill>
                  <a:srgbClr val="2B2B2B"/>
                </a:solidFill>
                <a:latin typeface="Consolas"/>
              </a:rPr>
              <a:t>seg[3] = SSEG_CD (D)     seg[7] = SSEG_DP (decimal point)</a:t>
            </a:r>
          </a:p>
        </p:txBody>
      </p:sp>
      <p:sp>
        <p:nvSpPr>
          <p:cNvPr id="5" name="Rounded Rectangle 4"/>
          <p:cNvSpPr/>
          <p:nvPr/>
        </p:nvSpPr>
        <p:spPr>
          <a:xfrm>
            <a:off x="365760" y="2240280"/>
            <a:ext cx="8412480" cy="105156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00" dirty="0">
                <a:solidFill>
                  <a:srgbClr val="2B2B2B"/>
                </a:solidFill>
                <a:latin typeface="Consolas"/>
              </a:rPr>
              <a:t>static const unsigned SEG_A = 1u &lt;&lt; 0;   // … through …</a:t>
            </a:r>
          </a:p>
          <a:p>
            <a:pPr>
              <a:lnSpc>
                <a:spcPct val="112000"/>
              </a:lnSpc>
            </a:pPr>
            <a:r>
              <a:rPr sz="1200" dirty="0">
                <a:solidFill>
                  <a:srgbClr val="2B2B2B"/>
                </a:solidFill>
                <a:latin typeface="Consolas"/>
              </a:rPr>
              <a:t>static const unsigned SEG_G = 1u &lt;&lt; 6;</a:t>
            </a:r>
          </a:p>
          <a:p>
            <a:pPr>
              <a:lnSpc>
                <a:spcPct val="112000"/>
              </a:lnSpc>
            </a:pPr>
            <a:r>
              <a:rPr sz="1200" dirty="0">
                <a:solidFill>
                  <a:srgbClr val="2B2B2B"/>
                </a:solidFill>
                <a:latin typeface="Consolas"/>
              </a:rPr>
              <a:t> </a:t>
            </a:r>
          </a:p>
          <a:p>
            <a:pPr>
              <a:lnSpc>
                <a:spcPct val="112000"/>
              </a:lnSpc>
            </a:pPr>
            <a:r>
              <a:rPr sz="1200" dirty="0">
                <a:solidFill>
                  <a:srgbClr val="2B2B2B"/>
                </a:solidFill>
                <a:latin typeface="Consolas"/>
              </a:rPr>
              <a:t>case 1: return SEG_B | SEG_C;            //  |    (right bar)</a:t>
            </a:r>
          </a:p>
          <a:p>
            <a:pPr>
              <a:lnSpc>
                <a:spcPct val="112000"/>
              </a:lnSpc>
            </a:pPr>
            <a:r>
              <a:rPr sz="1200" dirty="0">
                <a:solidFill>
                  <a:srgbClr val="2B2B2B"/>
                </a:solidFill>
                <a:latin typeface="Consolas"/>
              </a:rPr>
              <a:t>case 7: return SEG_A | SEG_B | SEG_C;    // ‾|</a:t>
            </a:r>
          </a:p>
        </p:txBody>
      </p:sp>
      <p:sp>
        <p:nvSpPr>
          <p:cNvPr id="6" name="Rounded Rectangle 5"/>
          <p:cNvSpPr/>
          <p:nvPr/>
        </p:nvSpPr>
        <p:spPr>
          <a:xfrm>
            <a:off x="365760" y="3429000"/>
            <a:ext cx="8412480" cy="777240"/>
          </a:xfrm>
          <a:prstGeom prst="roundRect">
            <a:avLst>
              <a:gd name="adj" fmla="val 6000"/>
            </a:avLst>
          </a:prstGeom>
          <a:solidFill>
            <a:srgbClr val="FCEFE1"/>
          </a:solidFill>
          <a:ln w="9525">
            <a:solidFill>
              <a:srgbClr val="F0CE9E"/>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a:solidFill>
                  <a:srgbClr val="A05A00"/>
                </a:solidFill>
                <a:latin typeface="Arial"/>
              </a:rPr>
              <a:t>Important:  </a:t>
            </a:r>
            <a:r>
              <a:rPr sz="1250">
                <a:solidFill>
                  <a:srgbClr val="1A1A1A"/>
                </a:solidFill>
                <a:latin typeface="Arial"/>
              </a:rPr>
              <a:t>Get the bit order wrong and the display lies. If A lands in the wrong bit, every pattern is mirrored: 2 appears as 5, 6 as 9. Symmetric digits such as 0 and 8 hide the mistake.</a:t>
            </a:r>
          </a:p>
        </p:txBody>
      </p:sp>
      <p:sp>
        <p:nvSpPr>
          <p:cNvPr id="8" name="Slide Number Placeholder 7">
            <a:extLst>
              <a:ext uri="{FF2B5EF4-FFF2-40B4-BE49-F238E27FC236}">
                <a16:creationId xmlns:a16="http://schemas.microsoft.com/office/drawing/2014/main" id="{AD6195BC-C2A4-BDB0-2DEB-870B7B213F70}"/>
              </a:ext>
            </a:extLst>
          </p:cNvPr>
          <p:cNvSpPr>
            <a:spLocks noGrp="1"/>
          </p:cNvSpPr>
          <p:nvPr>
            <p:ph type="sldNum" sz="quarter" idx="12"/>
          </p:nvPr>
        </p:nvSpPr>
        <p:spPr/>
        <p:txBody>
          <a:bodyPr/>
          <a:lstStyle/>
          <a:p>
            <a:fld id="{61696EC4-B4CF-4701-AD06-A8439D6D8E12}" type="slidenum">
              <a:rPr lang="de-DE" smtClean="0"/>
              <a:t>17</a:t>
            </a:fld>
            <a:endParaRPr lang="de-D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Driving the anodes</a:t>
            </a:r>
          </a:p>
        </p:txBody>
      </p:sp>
      <p:sp>
        <p:nvSpPr>
          <p:cNvPr id="3" name="TextBox 2"/>
          <p:cNvSpPr txBox="1"/>
          <p:nvPr/>
        </p:nvSpPr>
        <p:spPr>
          <a:xfrm>
            <a:off x="365760" y="932688"/>
            <a:ext cx="3931920" cy="164592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00">
                <a:solidFill>
                  <a:srgbClr val="1A1A1A"/>
                </a:solidFill>
                <a:latin typeface="Arial"/>
              </a:rPr>
              <a:t>Only one anode may be low at any instant — that is the whole idea of the scan.</a:t>
            </a:r>
          </a:p>
          <a:p>
            <a:pPr marL="182880" indent="-182880" algn="l">
              <a:lnSpc>
                <a:spcPct val="105000"/>
              </a:lnSpc>
              <a:spcAft>
                <a:spcPts val="600"/>
              </a:spcAft>
              <a:buClr>
                <a:srgbClr val="009682"/>
              </a:buClr>
              <a:buFont typeface="Arial"/>
              <a:buChar char="▪"/>
            </a:pPr>
            <a:r>
              <a:rPr sz="1400">
                <a:solidFill>
                  <a:srgbClr val="1A1A1A"/>
                </a:solidFill>
                <a:latin typeface="Arial"/>
              </a:rPr>
              <a:t>A single-digit design would hardcode an = 0b1110 (digit 0 always on).</a:t>
            </a:r>
          </a:p>
          <a:p>
            <a:pPr marL="182880" indent="-182880" algn="l">
              <a:lnSpc>
                <a:spcPct val="105000"/>
              </a:lnSpc>
              <a:spcAft>
                <a:spcPts val="600"/>
              </a:spcAft>
              <a:buClr>
                <a:srgbClr val="009682"/>
              </a:buClr>
              <a:buFont typeface="Arial"/>
              <a:buChar char="▪"/>
            </a:pPr>
            <a:r>
              <a:rPr sz="1400">
                <a:solidFill>
                  <a:srgbClr val="1A1A1A"/>
                </a:solidFill>
                <a:latin typeface="Arial"/>
              </a:rPr>
              <a:t>The four-digit version is that same constant, shifted to the active position:</a:t>
            </a:r>
          </a:p>
        </p:txBody>
      </p:sp>
      <p:sp>
        <p:nvSpPr>
          <p:cNvPr id="4" name="Rounded Rectangle 3"/>
          <p:cNvSpPr/>
          <p:nvPr/>
        </p:nvSpPr>
        <p:spPr>
          <a:xfrm>
            <a:off x="365760" y="2697480"/>
            <a:ext cx="3931920" cy="50292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00">
                <a:solidFill>
                  <a:srgbClr val="2B2B2B"/>
                </a:solidFill>
                <a:latin typeface="Consolas"/>
              </a:rPr>
              <a:t>*an = ~(ap_uint&lt;4&gt;(1) &lt;&lt; pos);</a:t>
            </a:r>
          </a:p>
        </p:txBody>
      </p:sp>
      <p:graphicFrame>
        <p:nvGraphicFramePr>
          <p:cNvPr id="5" name="Table 4"/>
          <p:cNvGraphicFramePr>
            <a:graphicFrameLocks noGrp="1"/>
          </p:cNvGraphicFramePr>
          <p:nvPr/>
        </p:nvGraphicFramePr>
        <p:xfrm>
          <a:off x="4480560" y="932688"/>
          <a:ext cx="4297680" cy="1914144"/>
        </p:xfrm>
        <a:graphic>
          <a:graphicData uri="http://schemas.openxmlformats.org/drawingml/2006/table">
            <a:tbl>
              <a:tblPr>
                <a:tableStyleId>{5C22544A-7EE6-4342-B048-85BDC9FD1C3A}</a:tableStyleId>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tblGrid>
              <a:tr h="365760">
                <a:tc>
                  <a:txBody>
                    <a:bodyPr/>
                    <a:lstStyle/>
                    <a:p>
                      <a:r>
                        <a:rPr sz="1300" b="1">
                          <a:solidFill>
                            <a:srgbClr val="FFFFFF"/>
                          </a:solidFill>
                          <a:latin typeface="Arial"/>
                        </a:rPr>
                        <a:t>pos</a:t>
                      </a:r>
                    </a:p>
                  </a:txBody>
                  <a:tcPr marL="54864" marR="54864" marT="27432" marB="27432" anchor="ctr">
                    <a:solidFill>
                      <a:srgbClr val="009682"/>
                    </a:solidFill>
                  </a:tcPr>
                </a:tc>
                <a:tc>
                  <a:txBody>
                    <a:bodyPr/>
                    <a:lstStyle/>
                    <a:p>
                      <a:r>
                        <a:rPr sz="1300" b="1">
                          <a:solidFill>
                            <a:srgbClr val="FFFFFF"/>
                          </a:solidFill>
                          <a:latin typeface="Arial"/>
                        </a:rPr>
                        <a:t>an</a:t>
                      </a:r>
                    </a:p>
                  </a:txBody>
                  <a:tcPr marL="54864" marR="54864" marT="27432" marB="27432" anchor="ctr">
                    <a:solidFill>
                      <a:srgbClr val="009682"/>
                    </a:solidFill>
                  </a:tcPr>
                </a:tc>
                <a:tc>
                  <a:txBody>
                    <a:bodyPr/>
                    <a:lstStyle/>
                    <a:p>
                      <a:r>
                        <a:rPr sz="1300" b="1">
                          <a:solidFill>
                            <a:srgbClr val="FFFFFF"/>
                          </a:solidFill>
                          <a:latin typeface="Arial"/>
                        </a:rPr>
                        <a:t>digit lit</a:t>
                      </a:r>
                    </a:p>
                  </a:txBody>
                  <a:tcPr marL="54864" marR="54864" marT="27432" marB="27432" anchor="ctr">
                    <a:solidFill>
                      <a:srgbClr val="009682"/>
                    </a:solidFill>
                  </a:tcPr>
                </a:tc>
                <a:extLst>
                  <a:ext uri="{0D108BD9-81ED-4DB2-BD59-A6C34878D82A}">
                    <a16:rowId xmlns:a16="http://schemas.microsoft.com/office/drawing/2014/main" val="10000"/>
                  </a:ext>
                </a:extLst>
              </a:tr>
              <a:tr h="365760">
                <a:tc>
                  <a:txBody>
                    <a:bodyPr/>
                    <a:lstStyle/>
                    <a:p>
                      <a:r>
                        <a:rPr sz="1300">
                          <a:solidFill>
                            <a:srgbClr val="1A1A1A"/>
                          </a:solidFill>
                          <a:latin typeface="Arial"/>
                        </a:rPr>
                        <a:t>0</a:t>
                      </a:r>
                    </a:p>
                  </a:txBody>
                  <a:tcPr marL="54864" marR="54864" marT="27432" marB="27432" anchor="ctr">
                    <a:solidFill>
                      <a:srgbClr val="F2F8F7"/>
                    </a:solidFill>
                  </a:tcPr>
                </a:tc>
                <a:tc>
                  <a:txBody>
                    <a:bodyPr/>
                    <a:lstStyle/>
                    <a:p>
                      <a:r>
                        <a:rPr sz="1250">
                          <a:solidFill>
                            <a:srgbClr val="1A1A1A"/>
                          </a:solidFill>
                          <a:latin typeface="Consolas"/>
                        </a:rPr>
                        <a:t>1110</a:t>
                      </a:r>
                    </a:p>
                  </a:txBody>
                  <a:tcPr marL="54864" marR="54864" marT="27432" marB="27432" anchor="ctr">
                    <a:solidFill>
                      <a:srgbClr val="F2F8F7"/>
                    </a:solidFill>
                  </a:tcPr>
                </a:tc>
                <a:tc>
                  <a:txBody>
                    <a:bodyPr/>
                    <a:lstStyle/>
                    <a:p>
                      <a:r>
                        <a:rPr sz="1300">
                          <a:solidFill>
                            <a:srgbClr val="1A1A1A"/>
                          </a:solidFill>
                          <a:latin typeface="Arial"/>
                        </a:rPr>
                        <a:t>rightmost (ones)</a:t>
                      </a:r>
                    </a:p>
                  </a:txBody>
                  <a:tcPr marL="54864" marR="54864" marT="27432" marB="27432" anchor="ctr">
                    <a:solidFill>
                      <a:srgbClr val="F2F8F7"/>
                    </a:solidFill>
                  </a:tcPr>
                </a:tc>
                <a:extLst>
                  <a:ext uri="{0D108BD9-81ED-4DB2-BD59-A6C34878D82A}">
                    <a16:rowId xmlns:a16="http://schemas.microsoft.com/office/drawing/2014/main" val="10001"/>
                  </a:ext>
                </a:extLst>
              </a:tr>
              <a:tr h="365760">
                <a:tc>
                  <a:txBody>
                    <a:bodyPr/>
                    <a:lstStyle/>
                    <a:p>
                      <a:r>
                        <a:rPr sz="1300">
                          <a:solidFill>
                            <a:srgbClr val="1A1A1A"/>
                          </a:solidFill>
                          <a:latin typeface="Arial"/>
                        </a:rPr>
                        <a:t>1</a:t>
                      </a:r>
                    </a:p>
                  </a:txBody>
                  <a:tcPr marL="54864" marR="54864" marT="27432" marB="27432" anchor="ctr">
                    <a:solidFill>
                      <a:srgbClr val="FFFFFF"/>
                    </a:solidFill>
                  </a:tcPr>
                </a:tc>
                <a:tc>
                  <a:txBody>
                    <a:bodyPr/>
                    <a:lstStyle/>
                    <a:p>
                      <a:r>
                        <a:rPr sz="1250">
                          <a:solidFill>
                            <a:srgbClr val="1A1A1A"/>
                          </a:solidFill>
                          <a:latin typeface="Consolas"/>
                        </a:rPr>
                        <a:t>1101</a:t>
                      </a:r>
                    </a:p>
                  </a:txBody>
                  <a:tcPr marL="54864" marR="54864" marT="27432" marB="27432" anchor="ctr">
                    <a:solidFill>
                      <a:srgbClr val="FFFFFF"/>
                    </a:solidFill>
                  </a:tcPr>
                </a:tc>
                <a:tc>
                  <a:txBody>
                    <a:bodyPr/>
                    <a:lstStyle/>
                    <a:p>
                      <a:r>
                        <a:rPr sz="1300">
                          <a:solidFill>
                            <a:srgbClr val="1A1A1A"/>
                          </a:solidFill>
                          <a:latin typeface="Arial"/>
                        </a:rPr>
                        <a:t>tens</a:t>
                      </a:r>
                    </a:p>
                  </a:txBody>
                  <a:tcPr marL="54864" marR="54864" marT="27432" marB="27432" anchor="ctr">
                    <a:solidFill>
                      <a:srgbClr val="FFFFFF"/>
                    </a:solidFill>
                  </a:tcPr>
                </a:tc>
                <a:extLst>
                  <a:ext uri="{0D108BD9-81ED-4DB2-BD59-A6C34878D82A}">
                    <a16:rowId xmlns:a16="http://schemas.microsoft.com/office/drawing/2014/main" val="10002"/>
                  </a:ext>
                </a:extLst>
              </a:tr>
              <a:tr h="365760">
                <a:tc>
                  <a:txBody>
                    <a:bodyPr/>
                    <a:lstStyle/>
                    <a:p>
                      <a:r>
                        <a:rPr sz="1300">
                          <a:solidFill>
                            <a:srgbClr val="1A1A1A"/>
                          </a:solidFill>
                          <a:latin typeface="Arial"/>
                        </a:rPr>
                        <a:t>2</a:t>
                      </a:r>
                    </a:p>
                  </a:txBody>
                  <a:tcPr marL="54864" marR="54864" marT="27432" marB="27432" anchor="ctr">
                    <a:solidFill>
                      <a:srgbClr val="F2F8F7"/>
                    </a:solidFill>
                  </a:tcPr>
                </a:tc>
                <a:tc>
                  <a:txBody>
                    <a:bodyPr/>
                    <a:lstStyle/>
                    <a:p>
                      <a:r>
                        <a:rPr sz="1250">
                          <a:solidFill>
                            <a:srgbClr val="1A1A1A"/>
                          </a:solidFill>
                          <a:latin typeface="Consolas"/>
                        </a:rPr>
                        <a:t>1011</a:t>
                      </a:r>
                    </a:p>
                  </a:txBody>
                  <a:tcPr marL="54864" marR="54864" marT="27432" marB="27432" anchor="ctr">
                    <a:solidFill>
                      <a:srgbClr val="F2F8F7"/>
                    </a:solidFill>
                  </a:tcPr>
                </a:tc>
                <a:tc>
                  <a:txBody>
                    <a:bodyPr/>
                    <a:lstStyle/>
                    <a:p>
                      <a:r>
                        <a:rPr sz="1300">
                          <a:solidFill>
                            <a:srgbClr val="1A1A1A"/>
                          </a:solidFill>
                          <a:latin typeface="Arial"/>
                        </a:rPr>
                        <a:t>hundreds</a:t>
                      </a:r>
                    </a:p>
                  </a:txBody>
                  <a:tcPr marL="54864" marR="54864" marT="27432" marB="27432" anchor="ctr">
                    <a:solidFill>
                      <a:srgbClr val="F2F8F7"/>
                    </a:solidFill>
                  </a:tcPr>
                </a:tc>
                <a:extLst>
                  <a:ext uri="{0D108BD9-81ED-4DB2-BD59-A6C34878D82A}">
                    <a16:rowId xmlns:a16="http://schemas.microsoft.com/office/drawing/2014/main" val="10003"/>
                  </a:ext>
                </a:extLst>
              </a:tr>
              <a:tr h="365760">
                <a:tc>
                  <a:txBody>
                    <a:bodyPr/>
                    <a:lstStyle/>
                    <a:p>
                      <a:r>
                        <a:rPr sz="1300">
                          <a:solidFill>
                            <a:srgbClr val="1A1A1A"/>
                          </a:solidFill>
                          <a:latin typeface="Arial"/>
                        </a:rPr>
                        <a:t>3</a:t>
                      </a:r>
                    </a:p>
                  </a:txBody>
                  <a:tcPr marL="54864" marR="54864" marT="27432" marB="27432" anchor="ctr">
                    <a:solidFill>
                      <a:srgbClr val="FFFFFF"/>
                    </a:solidFill>
                  </a:tcPr>
                </a:tc>
                <a:tc>
                  <a:txBody>
                    <a:bodyPr/>
                    <a:lstStyle/>
                    <a:p>
                      <a:r>
                        <a:rPr sz="1250">
                          <a:solidFill>
                            <a:srgbClr val="1A1A1A"/>
                          </a:solidFill>
                          <a:latin typeface="Consolas"/>
                        </a:rPr>
                        <a:t>0111</a:t>
                      </a:r>
                    </a:p>
                  </a:txBody>
                  <a:tcPr marL="54864" marR="54864" marT="27432" marB="27432" anchor="ctr">
                    <a:solidFill>
                      <a:srgbClr val="FFFFFF"/>
                    </a:solidFill>
                  </a:tcPr>
                </a:tc>
                <a:tc>
                  <a:txBody>
                    <a:bodyPr/>
                    <a:lstStyle/>
                    <a:p>
                      <a:r>
                        <a:rPr sz="1300">
                          <a:solidFill>
                            <a:srgbClr val="1A1A1A"/>
                          </a:solidFill>
                          <a:latin typeface="Arial"/>
                        </a:rPr>
                        <a:t>leftmost (thousands)</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7" name="Slide Number Placeholder 6">
            <a:extLst>
              <a:ext uri="{FF2B5EF4-FFF2-40B4-BE49-F238E27FC236}">
                <a16:creationId xmlns:a16="http://schemas.microsoft.com/office/drawing/2014/main" id="{611EE5E4-A70A-4B43-A42B-56FB41218865}"/>
              </a:ext>
            </a:extLst>
          </p:cNvPr>
          <p:cNvSpPr>
            <a:spLocks noGrp="1"/>
          </p:cNvSpPr>
          <p:nvPr>
            <p:ph type="sldNum" sz="quarter" idx="12"/>
          </p:nvPr>
        </p:nvSpPr>
        <p:spPr/>
        <p:txBody>
          <a:bodyPr/>
          <a:lstStyle/>
          <a:p>
            <a:fld id="{61696EC4-B4CF-4701-AD06-A8439D6D8E12}" type="slidenum">
              <a:rPr lang="de-DE" smtClean="0"/>
              <a:t>18</a:t>
            </a:fld>
            <a:endParaRPr lang="de-D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Putting it together</a:t>
            </a:r>
          </a:p>
        </p:txBody>
      </p:sp>
      <p:sp>
        <p:nvSpPr>
          <p:cNvPr id="3" name="Rounded Rectangle 2"/>
          <p:cNvSpPr/>
          <p:nvPr/>
        </p:nvSpPr>
        <p:spPr>
          <a:xfrm>
            <a:off x="365760" y="932688"/>
            <a:ext cx="8412480" cy="251460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00">
                <a:solidFill>
                  <a:srgbClr val="2B2B2B"/>
                </a:solidFill>
                <a:latin typeface="Consolas"/>
              </a:rPr>
              <a:t>void seven_segment(ap_uint&lt;14&gt; value, ap_uint&lt;8&gt; *seg, ap_uint&lt;4&gt; *an) {</a:t>
            </a:r>
          </a:p>
          <a:p>
            <a:pPr>
              <a:lnSpc>
                <a:spcPct val="112000"/>
              </a:lnSpc>
            </a:pPr>
            <a:r>
              <a:rPr sz="1200">
                <a:solidFill>
                  <a:srgbClr val="2B2B2B"/>
                </a:solidFill>
                <a:latin typeface="Consolas"/>
              </a:rPr>
              <a:t>#pragma HLS INTERFACE ap_none port=value</a:t>
            </a:r>
          </a:p>
          <a:p>
            <a:pPr>
              <a:lnSpc>
                <a:spcPct val="112000"/>
              </a:lnSpc>
            </a:pPr>
            <a:r>
              <a:rPr sz="1200">
                <a:solidFill>
                  <a:srgbClr val="2B2B2B"/>
                </a:solidFill>
                <a:latin typeface="Consolas"/>
              </a:rPr>
              <a:t>#pragma HLS INTERFACE ap_none port=seg</a:t>
            </a:r>
          </a:p>
          <a:p>
            <a:pPr>
              <a:lnSpc>
                <a:spcPct val="112000"/>
              </a:lnSpc>
            </a:pPr>
            <a:r>
              <a:rPr sz="1200">
                <a:solidFill>
                  <a:srgbClr val="2B2B2B"/>
                </a:solidFill>
                <a:latin typeface="Consolas"/>
              </a:rPr>
              <a:t>#pragma HLS INTERFACE ap_none port=an</a:t>
            </a:r>
          </a:p>
          <a:p>
            <a:pPr>
              <a:lnSpc>
                <a:spcPct val="112000"/>
              </a:lnSpc>
            </a:pPr>
            <a:r>
              <a:rPr sz="1200">
                <a:solidFill>
                  <a:srgbClr val="2B2B2B"/>
                </a:solidFill>
                <a:latin typeface="Consolas"/>
              </a:rPr>
              <a:t>#pragma HLS INTERFACE ap_ctrl_none port=return</a:t>
            </a:r>
          </a:p>
          <a:p>
            <a:pPr>
              <a:lnSpc>
                <a:spcPct val="112000"/>
              </a:lnSpc>
            </a:pPr>
            <a:r>
              <a:rPr sz="1200">
                <a:solidFill>
                  <a:srgbClr val="2B2B2B"/>
                </a:solidFill>
                <a:latin typeface="Consolas"/>
              </a:rPr>
              <a:t>#pragma HLS PIPELINE II=1</a:t>
            </a:r>
          </a:p>
          <a:p>
            <a:pPr>
              <a:lnSpc>
                <a:spcPct val="112000"/>
              </a:lnSpc>
            </a:pPr>
            <a:r>
              <a:rPr sz="1200">
                <a:solidFill>
                  <a:srgbClr val="2B2B2B"/>
                </a:solidFill>
                <a:latin typeface="Consolas"/>
              </a:rPr>
              <a:t> </a:t>
            </a:r>
          </a:p>
          <a:p>
            <a:pPr>
              <a:lnSpc>
                <a:spcPct val="112000"/>
              </a:lnSpc>
            </a:pPr>
            <a:r>
              <a:rPr sz="1200">
                <a:solidFill>
                  <a:srgbClr val="2B2B2B"/>
                </a:solidFill>
                <a:latin typeface="Consolas"/>
              </a:rPr>
              <a:t>    /* advance tick / pos                        */</a:t>
            </a:r>
          </a:p>
          <a:p>
            <a:pPr>
              <a:lnSpc>
                <a:spcPct val="112000"/>
              </a:lnSpc>
            </a:pPr>
            <a:r>
              <a:rPr sz="1200">
                <a:solidFill>
                  <a:srgbClr val="2B2B2B"/>
                </a:solidFill>
                <a:latin typeface="Consolas"/>
              </a:rPr>
              <a:t>    /* pick the digit belonging to this position */</a:t>
            </a:r>
          </a:p>
          <a:p>
            <a:pPr>
              <a:lnSpc>
                <a:spcPct val="112000"/>
              </a:lnSpc>
            </a:pPr>
            <a:r>
              <a:rPr sz="1200">
                <a:solidFill>
                  <a:srgbClr val="2B2B2B"/>
                </a:solidFill>
                <a:latin typeface="Consolas"/>
              </a:rPr>
              <a:t>    /* blank the leading zeros                   */</a:t>
            </a:r>
          </a:p>
          <a:p>
            <a:pPr>
              <a:lnSpc>
                <a:spcPct val="112000"/>
              </a:lnSpc>
            </a:pPr>
            <a:r>
              <a:rPr sz="1200">
                <a:solidFill>
                  <a:srgbClr val="2B2B2B"/>
                </a:solidFill>
                <a:latin typeface="Consolas"/>
              </a:rPr>
              <a:t>    /* drive seg and an                          */</a:t>
            </a:r>
          </a:p>
          <a:p>
            <a:pPr>
              <a:lnSpc>
                <a:spcPct val="112000"/>
              </a:lnSpc>
            </a:pPr>
            <a:r>
              <a:rPr sz="1200">
                <a:solidFill>
                  <a:srgbClr val="2B2B2B"/>
                </a:solidFill>
                <a:latin typeface="Consolas"/>
              </a:rPr>
              <a:t>}</a:t>
            </a:r>
          </a:p>
        </p:txBody>
      </p:sp>
      <p:sp>
        <p:nvSpPr>
          <p:cNvPr id="4" name="TextBox 3"/>
          <p:cNvSpPr txBox="1"/>
          <p:nvPr/>
        </p:nvSpPr>
        <p:spPr>
          <a:xfrm>
            <a:off x="365760" y="3566160"/>
            <a:ext cx="8412480" cy="82296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00">
                <a:solidFill>
                  <a:srgbClr val="1A1A1A"/>
                </a:solidFill>
                <a:latin typeface="Arial"/>
              </a:rPr>
              <a:t>value is 0…9999. Two digits are the standard case; three and four come for free.</a:t>
            </a:r>
          </a:p>
          <a:p>
            <a:pPr marL="182880" indent="-182880" algn="l">
              <a:lnSpc>
                <a:spcPct val="105000"/>
              </a:lnSpc>
              <a:spcAft>
                <a:spcPts val="600"/>
              </a:spcAft>
              <a:buClr>
                <a:srgbClr val="009682"/>
              </a:buClr>
              <a:buFont typeface="Arial"/>
              <a:buChar char="▪"/>
            </a:pPr>
            <a:r>
              <a:rPr sz="1400">
                <a:solidFill>
                  <a:srgbClr val="1A1A1A"/>
                </a:solidFill>
                <a:latin typeface="Arial"/>
              </a:rPr>
              <a:t>Leading zeros are blanked, so 42 shows as ··42, not 0042.</a:t>
            </a:r>
          </a:p>
        </p:txBody>
      </p:sp>
      <p:sp>
        <p:nvSpPr>
          <p:cNvPr id="6" name="Slide Number Placeholder 5">
            <a:extLst>
              <a:ext uri="{FF2B5EF4-FFF2-40B4-BE49-F238E27FC236}">
                <a16:creationId xmlns:a16="http://schemas.microsoft.com/office/drawing/2014/main" id="{36511194-C4CE-57FF-750B-6C4E6303FB4A}"/>
              </a:ext>
            </a:extLst>
          </p:cNvPr>
          <p:cNvSpPr>
            <a:spLocks noGrp="1"/>
          </p:cNvSpPr>
          <p:nvPr>
            <p:ph type="sldNum" sz="quarter" idx="12"/>
          </p:nvPr>
        </p:nvSpPr>
        <p:spPr/>
        <p:txBody>
          <a:bodyPr/>
          <a:lstStyle/>
          <a:p>
            <a:fld id="{61696EC4-B4CF-4701-AD06-A8439D6D8E12}" type="slidenum">
              <a:rPr lang="de-DE" smtClean="0"/>
              <a:t>19</a:t>
            </a:fld>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The testbench</a:t>
            </a:r>
          </a:p>
        </p:txBody>
      </p:sp>
      <p:sp>
        <p:nvSpPr>
          <p:cNvPr id="3" name="TextBox 2"/>
          <p:cNvSpPr txBox="1"/>
          <p:nvPr/>
        </p:nvSpPr>
        <p:spPr>
          <a:xfrm>
            <a:off x="365760" y="932688"/>
            <a:ext cx="8412480" cy="105156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00" dirty="0">
                <a:solidFill>
                  <a:srgbClr val="1A1A1A"/>
                </a:solidFill>
                <a:latin typeface="Arial"/>
              </a:rPr>
              <a:t>The synthesized function has no </a:t>
            </a:r>
            <a:r>
              <a:rPr sz="1400" dirty="0" err="1">
                <a:solidFill>
                  <a:srgbClr val="1A1A1A"/>
                </a:solidFill>
                <a:latin typeface="Arial"/>
              </a:rPr>
              <a:t>cin</a:t>
            </a:r>
            <a:r>
              <a:rPr sz="1400" dirty="0">
                <a:solidFill>
                  <a:srgbClr val="1A1A1A"/>
                </a:solidFill>
                <a:latin typeface="Arial"/>
              </a:rPr>
              <a:t>, no </a:t>
            </a:r>
            <a:r>
              <a:rPr sz="1400" dirty="0" err="1">
                <a:solidFill>
                  <a:srgbClr val="1A1A1A"/>
                </a:solidFill>
                <a:latin typeface="Arial"/>
              </a:rPr>
              <a:t>scanf</a:t>
            </a:r>
            <a:r>
              <a:rPr sz="1400" dirty="0">
                <a:solidFill>
                  <a:srgbClr val="1A1A1A"/>
                </a:solidFill>
                <a:latin typeface="Arial"/>
              </a:rPr>
              <a:t>, no file I/O</a:t>
            </a:r>
            <a:r>
              <a:rPr lang="en-US" sz="1400" dirty="0">
                <a:solidFill>
                  <a:srgbClr val="1A1A1A"/>
                </a:solidFill>
                <a:latin typeface="Arial"/>
              </a:rPr>
              <a:t>,</a:t>
            </a:r>
            <a:r>
              <a:rPr sz="1400" dirty="0">
                <a:solidFill>
                  <a:srgbClr val="1A1A1A"/>
                </a:solidFill>
                <a:latin typeface="Arial"/>
              </a:rPr>
              <a:t> none of that is hardware</a:t>
            </a:r>
            <a:r>
              <a:rPr lang="en-US" sz="1400" dirty="0">
                <a:solidFill>
                  <a:srgbClr val="1A1A1A"/>
                </a:solidFill>
                <a:latin typeface="Arial"/>
              </a:rPr>
              <a:t> (and not supported in Vitis HLS)</a:t>
            </a:r>
            <a:r>
              <a:rPr sz="1400" dirty="0">
                <a:solidFill>
                  <a:srgbClr val="1A1A1A"/>
                </a:solidFill>
                <a:latin typeface="Arial"/>
              </a:rPr>
              <a:t>.</a:t>
            </a:r>
          </a:p>
          <a:p>
            <a:pPr marL="182880" indent="-182880" algn="l">
              <a:lnSpc>
                <a:spcPct val="105000"/>
              </a:lnSpc>
              <a:spcAft>
                <a:spcPts val="600"/>
              </a:spcAft>
              <a:buClr>
                <a:srgbClr val="009682"/>
              </a:buClr>
              <a:buFont typeface="Arial"/>
              <a:buChar char="▪"/>
            </a:pPr>
            <a:r>
              <a:rPr sz="1400" dirty="0">
                <a:solidFill>
                  <a:srgbClr val="1A1A1A"/>
                </a:solidFill>
                <a:latin typeface="Arial"/>
              </a:rPr>
              <a:t>The testbench is plain C++ that calls the function and checks its outputs.</a:t>
            </a:r>
          </a:p>
          <a:p>
            <a:pPr marL="182880" indent="-182880" algn="l">
              <a:lnSpc>
                <a:spcPct val="105000"/>
              </a:lnSpc>
              <a:spcAft>
                <a:spcPts val="600"/>
              </a:spcAft>
              <a:buClr>
                <a:srgbClr val="009682"/>
              </a:buClr>
              <a:buFont typeface="Arial"/>
              <a:buChar char="▪"/>
            </a:pPr>
            <a:r>
              <a:rPr sz="1400" dirty="0">
                <a:solidFill>
                  <a:srgbClr val="1A1A1A"/>
                </a:solidFill>
                <a:latin typeface="Arial"/>
              </a:rPr>
              <a:t>It uses fixed values, so any failure is reproducible.</a:t>
            </a:r>
          </a:p>
        </p:txBody>
      </p:sp>
      <p:sp>
        <p:nvSpPr>
          <p:cNvPr id="4" name="Rounded Rectangle 3"/>
          <p:cNvSpPr/>
          <p:nvPr/>
        </p:nvSpPr>
        <p:spPr>
          <a:xfrm>
            <a:off x="365760" y="2084831"/>
            <a:ext cx="8412480" cy="457200"/>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gn="ctr">
              <a:lnSpc>
                <a:spcPct val="112000"/>
              </a:lnSpc>
            </a:pPr>
            <a:r>
              <a:rPr sz="1250" dirty="0">
                <a:solidFill>
                  <a:srgbClr val="2B2B2B"/>
                </a:solidFill>
                <a:latin typeface="Consolas"/>
              </a:rPr>
              <a:t>unsigned int values[] = {0, 7, 42, 99, 100, 9999};</a:t>
            </a:r>
          </a:p>
        </p:txBody>
      </p:sp>
      <p:sp>
        <p:nvSpPr>
          <p:cNvPr id="5" name="TextBox 4"/>
          <p:cNvSpPr txBox="1"/>
          <p:nvPr/>
        </p:nvSpPr>
        <p:spPr>
          <a:xfrm>
            <a:off x="365760" y="2651760"/>
            <a:ext cx="8412480" cy="96012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00" dirty="0">
                <a:solidFill>
                  <a:srgbClr val="1A1A1A"/>
                </a:solidFill>
                <a:latin typeface="Arial"/>
              </a:rPr>
              <a:t>To observe a full scan it calls the function ~200 000 times and records which pattern each anode received.</a:t>
            </a:r>
          </a:p>
          <a:p>
            <a:pPr marL="182880" indent="-182880" algn="l">
              <a:lnSpc>
                <a:spcPct val="105000"/>
              </a:lnSpc>
              <a:spcAft>
                <a:spcPts val="600"/>
              </a:spcAft>
              <a:buClr>
                <a:srgbClr val="009682"/>
              </a:buClr>
              <a:buFont typeface="Arial"/>
              <a:buChar char="▪"/>
            </a:pPr>
            <a:r>
              <a:rPr sz="1400" dirty="0">
                <a:solidFill>
                  <a:srgbClr val="1A1A1A"/>
                </a:solidFill>
                <a:latin typeface="Arial"/>
              </a:rPr>
              <a:t>It also asserts that exactly one anode is active in every single cycle.</a:t>
            </a:r>
          </a:p>
        </p:txBody>
      </p:sp>
      <p:sp>
        <p:nvSpPr>
          <p:cNvPr id="6" name="Rounded Rectangle 5"/>
          <p:cNvSpPr/>
          <p:nvPr/>
        </p:nvSpPr>
        <p:spPr>
          <a:xfrm>
            <a:off x="365760" y="3675887"/>
            <a:ext cx="8412480" cy="594360"/>
          </a:xfrm>
          <a:prstGeom prst="roundRect">
            <a:avLst>
              <a:gd name="adj" fmla="val 6000"/>
            </a:avLst>
          </a:prstGeom>
          <a:solidFill>
            <a:srgbClr val="E8F5F3"/>
          </a:solidFill>
          <a:ln w="9525">
            <a:solidFill>
              <a:srgbClr val="BFE3DC"/>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a:solidFill>
                  <a:srgbClr val="006B5C"/>
                </a:solidFill>
                <a:latin typeface="Arial"/>
              </a:rPr>
              <a:t>Note:  </a:t>
            </a:r>
            <a:r>
              <a:rPr sz="1250">
                <a:solidFill>
                  <a:srgbClr val="1A1A1A"/>
                </a:solidFill>
                <a:latin typeface="Arial"/>
              </a:rPr>
              <a:t>Interactive input arrives in Lab 2.2, from a C program on the ARM processor — never from the testbench.</a:t>
            </a:r>
          </a:p>
        </p:txBody>
      </p:sp>
      <p:sp>
        <p:nvSpPr>
          <p:cNvPr id="8" name="Slide Number Placeholder 7">
            <a:extLst>
              <a:ext uri="{FF2B5EF4-FFF2-40B4-BE49-F238E27FC236}">
                <a16:creationId xmlns:a16="http://schemas.microsoft.com/office/drawing/2014/main" id="{E8E9AE13-21F6-3A2C-9433-A99D614D30F4}"/>
              </a:ext>
            </a:extLst>
          </p:cNvPr>
          <p:cNvSpPr>
            <a:spLocks noGrp="1"/>
          </p:cNvSpPr>
          <p:nvPr>
            <p:ph type="sldNum" sz="quarter" idx="12"/>
          </p:nvPr>
        </p:nvSpPr>
        <p:spPr/>
        <p:txBody>
          <a:bodyPr/>
          <a:lstStyle/>
          <a:p>
            <a:fld id="{61696EC4-B4CF-4701-AD06-A8439D6D8E12}" type="slidenum">
              <a:rPr lang="de-DE" smtClean="0"/>
              <a:t>20</a:t>
            </a:fld>
            <a:endParaRPr lang="de-D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Creating the Vitis HLS project</a:t>
            </a:r>
          </a:p>
        </p:txBody>
      </p:sp>
      <p:pic>
        <p:nvPicPr>
          <p:cNvPr id="3" name="Picture 2" descr="image9.png"/>
          <p:cNvPicPr>
            <a:picLocks noChangeAspect="1"/>
          </p:cNvPicPr>
          <p:nvPr/>
        </p:nvPicPr>
        <p:blipFill>
          <a:blip r:embed="rId2"/>
          <a:stretch>
            <a:fillRect/>
          </a:stretch>
        </p:blipFill>
        <p:spPr>
          <a:xfrm>
            <a:off x="396000" y="932688"/>
            <a:ext cx="2976862" cy="2743200"/>
          </a:xfrm>
          <a:prstGeom prst="rect">
            <a:avLst/>
          </a:prstGeom>
          <a:ln w="9525">
            <a:solidFill>
              <a:srgbClr val="CFCFCF"/>
            </a:solidFill>
          </a:ln>
          <a:effectLst/>
        </p:spPr>
      </p:pic>
      <p:sp>
        <p:nvSpPr>
          <p:cNvPr id="4" name="TextBox 3"/>
          <p:cNvSpPr txBox="1"/>
          <p:nvPr/>
        </p:nvSpPr>
        <p:spPr>
          <a:xfrm>
            <a:off x="365760" y="3749039"/>
            <a:ext cx="3931920" cy="320040"/>
          </a:xfrm>
          <a:prstGeom prst="rect">
            <a:avLst/>
          </a:prstGeom>
          <a:noFill/>
        </p:spPr>
        <p:txBody>
          <a:bodyPr wrap="square" lIns="0" tIns="0" rIns="0" bIns="0">
            <a:noAutofit/>
          </a:bodyPr>
          <a:lstStyle/>
          <a:p>
            <a:pPr algn="ctr">
              <a:lnSpc>
                <a:spcPct val="110000"/>
              </a:lnSpc>
            </a:pPr>
            <a:r>
              <a:rPr sz="1050" b="0" i="1" dirty="0">
                <a:solidFill>
                  <a:srgbClr val="595959"/>
                </a:solidFill>
                <a:latin typeface="Arial"/>
              </a:rPr>
              <a:t>New Vitis HLS Project: solution name, clock period, part, flow target</a:t>
            </a:r>
          </a:p>
        </p:txBody>
      </p:sp>
      <p:sp>
        <p:nvSpPr>
          <p:cNvPr id="5" name="Rounded Rectangle 4"/>
          <p:cNvSpPr/>
          <p:nvPr/>
        </p:nvSpPr>
        <p:spPr>
          <a:xfrm>
            <a:off x="3570059" y="945384"/>
            <a:ext cx="4958089" cy="822961"/>
          </a:xfrm>
          <a:prstGeom prst="roundRect">
            <a:avLst>
              <a:gd name="adj" fmla="val 3500"/>
            </a:avLst>
          </a:prstGeom>
          <a:solidFill>
            <a:srgbClr val="F3F3F1"/>
          </a:solidFill>
          <a:ln w="9525">
            <a:solidFill>
              <a:srgbClr val="DDDDD9"/>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oAutofit/>
          </a:bodyPr>
          <a:lstStyle/>
          <a:p>
            <a:pPr>
              <a:lnSpc>
                <a:spcPct val="112000"/>
              </a:lnSpc>
            </a:pPr>
            <a:r>
              <a:rPr sz="1100" dirty="0">
                <a:solidFill>
                  <a:srgbClr val="2B2B2B"/>
                </a:solidFill>
                <a:latin typeface="Consolas"/>
              </a:rPr>
              <a:t>source /Software/</a:t>
            </a:r>
            <a:r>
              <a:rPr sz="1100" dirty="0" err="1">
                <a:solidFill>
                  <a:srgbClr val="2B2B2B"/>
                </a:solidFill>
                <a:latin typeface="Consolas"/>
              </a:rPr>
              <a:t>xilinx</a:t>
            </a:r>
            <a:r>
              <a:rPr sz="1100" dirty="0">
                <a:solidFill>
                  <a:srgbClr val="2B2B2B"/>
                </a:solidFill>
                <a:latin typeface="Consolas"/>
              </a:rPr>
              <a:t>/2022.2/</a:t>
            </a:r>
            <a:r>
              <a:rPr sz="1100" dirty="0" err="1">
                <a:solidFill>
                  <a:srgbClr val="2B2B2B"/>
                </a:solidFill>
                <a:latin typeface="Consolas"/>
              </a:rPr>
              <a:t>Vitis_HLS</a:t>
            </a:r>
            <a:r>
              <a:rPr sz="1100" dirty="0">
                <a:solidFill>
                  <a:srgbClr val="2B2B2B"/>
                </a:solidFill>
                <a:latin typeface="Consolas"/>
              </a:rPr>
              <a:t>/2022.2/settings64.sh</a:t>
            </a:r>
            <a:r>
              <a:rPr lang="en-US" sz="1100" dirty="0">
                <a:solidFill>
                  <a:srgbClr val="2B2B2B"/>
                </a:solidFill>
                <a:latin typeface="Consolas"/>
              </a:rPr>
              <a:t> </a:t>
            </a:r>
          </a:p>
          <a:p>
            <a:pPr>
              <a:lnSpc>
                <a:spcPct val="112000"/>
              </a:lnSpc>
            </a:pPr>
            <a:r>
              <a:rPr sz="1100" dirty="0" err="1">
                <a:solidFill>
                  <a:srgbClr val="2B2B2B"/>
                </a:solidFill>
                <a:latin typeface="Consolas"/>
              </a:rPr>
              <a:t>vitis_hls</a:t>
            </a:r>
            <a:r>
              <a:rPr sz="1100" dirty="0">
                <a:solidFill>
                  <a:srgbClr val="2B2B2B"/>
                </a:solidFill>
                <a:latin typeface="Consolas"/>
              </a:rPr>
              <a:t> &amp;</a:t>
            </a:r>
          </a:p>
        </p:txBody>
      </p:sp>
      <p:sp>
        <p:nvSpPr>
          <p:cNvPr id="6" name="TextBox 5"/>
          <p:cNvSpPr txBox="1"/>
          <p:nvPr/>
        </p:nvSpPr>
        <p:spPr>
          <a:xfrm>
            <a:off x="3622300" y="1841496"/>
            <a:ext cx="4297680" cy="173736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350" dirty="0">
                <a:solidFill>
                  <a:srgbClr val="1A1A1A"/>
                </a:solidFill>
                <a:latin typeface="Arial"/>
              </a:rPr>
              <a:t>Design files: </a:t>
            </a:r>
            <a:r>
              <a:rPr sz="1350" dirty="0" err="1">
                <a:solidFill>
                  <a:srgbClr val="1A1A1A"/>
                </a:solidFill>
                <a:latin typeface="Arial"/>
              </a:rPr>
              <a:t>seven_segment.cpp</a:t>
            </a:r>
            <a:r>
              <a:rPr sz="1350" dirty="0">
                <a:solidFill>
                  <a:srgbClr val="1A1A1A"/>
                </a:solidFill>
                <a:latin typeface="Arial"/>
              </a:rPr>
              <a:t>, </a:t>
            </a:r>
            <a:r>
              <a:rPr sz="1350" dirty="0" err="1">
                <a:solidFill>
                  <a:srgbClr val="1A1A1A"/>
                </a:solidFill>
                <a:latin typeface="Arial"/>
              </a:rPr>
              <a:t>seven_segment.h</a:t>
            </a:r>
            <a:endParaRPr sz="1350" dirty="0">
              <a:solidFill>
                <a:srgbClr val="1A1A1A"/>
              </a:solidFill>
              <a:latin typeface="Arial"/>
            </a:endParaRPr>
          </a:p>
          <a:p>
            <a:pPr marL="182880" indent="-182880" algn="l">
              <a:lnSpc>
                <a:spcPct val="105000"/>
              </a:lnSpc>
              <a:spcAft>
                <a:spcPts val="600"/>
              </a:spcAft>
              <a:buClr>
                <a:srgbClr val="009682"/>
              </a:buClr>
              <a:buFont typeface="Arial"/>
              <a:buChar char="▪"/>
            </a:pPr>
            <a:r>
              <a:rPr sz="1350" dirty="0">
                <a:solidFill>
                  <a:srgbClr val="1A1A1A"/>
                </a:solidFill>
                <a:latin typeface="Arial"/>
              </a:rPr>
              <a:t>Testbench: </a:t>
            </a:r>
            <a:r>
              <a:rPr sz="1350" dirty="0" err="1">
                <a:solidFill>
                  <a:srgbClr val="1A1A1A"/>
                </a:solidFill>
                <a:latin typeface="Arial"/>
              </a:rPr>
              <a:t>seven_segment_tb.cpp</a:t>
            </a:r>
            <a:r>
              <a:rPr sz="1350" dirty="0">
                <a:solidFill>
                  <a:srgbClr val="1A1A1A"/>
                </a:solidFill>
                <a:latin typeface="Arial"/>
              </a:rPr>
              <a:t> — added on the separate testbench page.</a:t>
            </a:r>
          </a:p>
          <a:p>
            <a:pPr marL="182880" indent="-182880" algn="l">
              <a:lnSpc>
                <a:spcPct val="105000"/>
              </a:lnSpc>
              <a:spcAft>
                <a:spcPts val="600"/>
              </a:spcAft>
              <a:buClr>
                <a:srgbClr val="009682"/>
              </a:buClr>
              <a:buFont typeface="Arial"/>
              <a:buChar char="▪"/>
            </a:pPr>
            <a:r>
              <a:rPr sz="1350" dirty="0">
                <a:solidFill>
                  <a:srgbClr val="1A1A1A"/>
                </a:solidFill>
                <a:latin typeface="Arial"/>
              </a:rPr>
              <a:t>Top function </a:t>
            </a:r>
            <a:r>
              <a:rPr sz="1350" dirty="0" err="1">
                <a:solidFill>
                  <a:srgbClr val="1A1A1A"/>
                </a:solidFill>
                <a:latin typeface="Arial"/>
              </a:rPr>
              <a:t>seven_segment</a:t>
            </a:r>
            <a:r>
              <a:rPr sz="1350" dirty="0">
                <a:solidFill>
                  <a:srgbClr val="1A1A1A"/>
                </a:solidFill>
                <a:latin typeface="Arial"/>
              </a:rPr>
              <a:t>; part xc7z007sclg400-1; clock 20 ns (50 MHz).</a:t>
            </a:r>
          </a:p>
        </p:txBody>
      </p:sp>
      <p:sp>
        <p:nvSpPr>
          <p:cNvPr id="8" name="Slide Number Placeholder 7">
            <a:extLst>
              <a:ext uri="{FF2B5EF4-FFF2-40B4-BE49-F238E27FC236}">
                <a16:creationId xmlns:a16="http://schemas.microsoft.com/office/drawing/2014/main" id="{FE55ED75-5C79-B37A-1703-764C5A282853}"/>
              </a:ext>
            </a:extLst>
          </p:cNvPr>
          <p:cNvSpPr>
            <a:spLocks noGrp="1"/>
          </p:cNvSpPr>
          <p:nvPr>
            <p:ph type="sldNum" sz="quarter" idx="12"/>
          </p:nvPr>
        </p:nvSpPr>
        <p:spPr/>
        <p:txBody>
          <a:bodyPr/>
          <a:lstStyle/>
          <a:p>
            <a:fld id="{61696EC4-B4CF-4701-AD06-A8439D6D8E12}" type="slidenum">
              <a:rPr lang="de-DE" smtClean="0"/>
              <a:t>21</a:t>
            </a:fld>
            <a:endParaRPr lang="de-D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C simulation</a:t>
            </a:r>
          </a:p>
        </p:txBody>
      </p:sp>
      <p:sp>
        <p:nvSpPr>
          <p:cNvPr id="3" name="TextBox 2"/>
          <p:cNvSpPr txBox="1"/>
          <p:nvPr/>
        </p:nvSpPr>
        <p:spPr>
          <a:xfrm>
            <a:off x="365760" y="932688"/>
            <a:ext cx="8412480" cy="128016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500">
                <a:solidFill>
                  <a:srgbClr val="1A1A1A"/>
                </a:solidFill>
                <a:latin typeface="Arial"/>
              </a:rPr>
              <a:t>C simulation compiles the function as ordinary C++ — no hardware is generated yet.</a:t>
            </a:r>
          </a:p>
          <a:p>
            <a:pPr marL="182880" indent="-182880" algn="l">
              <a:lnSpc>
                <a:spcPct val="105000"/>
              </a:lnSpc>
              <a:spcAft>
                <a:spcPts val="600"/>
              </a:spcAft>
              <a:buClr>
                <a:srgbClr val="009682"/>
              </a:buClr>
              <a:buFont typeface="Arial"/>
              <a:buChar char="▪"/>
            </a:pPr>
            <a:r>
              <a:rPr sz="1500">
                <a:solidFill>
                  <a:srgbClr val="1A1A1A"/>
                </a:solidFill>
                <a:latin typeface="Arial"/>
              </a:rPr>
              <a:t>It answers one question: is the digit-to-pattern mapping correct?</a:t>
            </a:r>
          </a:p>
          <a:p>
            <a:pPr marL="182880" indent="-182880" algn="l">
              <a:lnSpc>
                <a:spcPct val="105000"/>
              </a:lnSpc>
              <a:spcAft>
                <a:spcPts val="600"/>
              </a:spcAft>
              <a:buClr>
                <a:srgbClr val="009682"/>
              </a:buClr>
              <a:buFont typeface="Arial"/>
              <a:buChar char="▪"/>
            </a:pPr>
            <a:r>
              <a:rPr sz="1500">
                <a:solidFill>
                  <a:srgbClr val="1A1A1A"/>
                </a:solidFill>
                <a:latin typeface="Arial"/>
              </a:rPr>
              <a:t>It runs your fixed test vectors and reports pass or fail.</a:t>
            </a:r>
          </a:p>
        </p:txBody>
      </p:sp>
      <p:sp>
        <p:nvSpPr>
          <p:cNvPr id="4" name="Rounded Rectangle 3"/>
          <p:cNvSpPr/>
          <p:nvPr/>
        </p:nvSpPr>
        <p:spPr>
          <a:xfrm>
            <a:off x="365760" y="2240280"/>
            <a:ext cx="8412480" cy="1097280"/>
          </a:xfrm>
          <a:prstGeom prst="roundRect">
            <a:avLst>
              <a:gd name="adj" fmla="val 3500"/>
            </a:avLst>
          </a:prstGeom>
          <a:solidFill>
            <a:srgbClr val="F7F7F6"/>
          </a:solidFill>
          <a:ln w="9525">
            <a:solidFill>
              <a:srgbClr val="E3E3E0"/>
            </a:solidFill>
          </a:ln>
          <a:effectLst/>
        </p:spPr>
        <p:style>
          <a:lnRef idx="1">
            <a:schemeClr val="accent1"/>
          </a:lnRef>
          <a:fillRef idx="3">
            <a:schemeClr val="accent1"/>
          </a:fillRef>
          <a:effectRef idx="2">
            <a:schemeClr val="accent1"/>
          </a:effectRef>
          <a:fontRef idx="minor">
            <a:schemeClr val="lt1"/>
          </a:fontRef>
        </p:style>
        <p:txBody>
          <a:bodyPr wrap="none" lIns="146304" tIns="91440" rIns="146304" bIns="91440" rtlCol="0" anchor="ctr">
            <a:noAutofit/>
          </a:bodyPr>
          <a:lstStyle/>
          <a:p>
            <a:pPr algn="ctr">
              <a:lnSpc>
                <a:spcPct val="115000"/>
              </a:lnSpc>
            </a:pPr>
            <a:r>
              <a:rPr sz="1350">
                <a:solidFill>
                  <a:srgbClr val="1A1A1A"/>
                </a:solidFill>
                <a:latin typeface="Consolas"/>
              </a:rPr>
              <a:t>$ Run C Simulation</a:t>
            </a:r>
          </a:p>
          <a:p>
            <a:pPr>
              <a:lnSpc>
                <a:spcPct val="115000"/>
              </a:lnSpc>
            </a:pPr>
            <a:r>
              <a:rPr sz="1350">
                <a:solidFill>
                  <a:srgbClr val="1A1A1A"/>
                </a:solidFill>
                <a:latin typeface="Consolas"/>
              </a:rPr>
              <a:t>  seven_segment test passed</a:t>
            </a:r>
          </a:p>
          <a:p>
            <a:pPr>
              <a:lnSpc>
                <a:spcPct val="115000"/>
              </a:lnSpc>
            </a:pPr>
            <a:r>
              <a:rPr sz="1350">
                <a:solidFill>
                  <a:srgbClr val="1A1A1A"/>
                </a:solidFill>
                <a:latin typeface="Consolas"/>
              </a:rPr>
              <a:t>  CSim done with 0 errors</a:t>
            </a:r>
          </a:p>
        </p:txBody>
      </p:sp>
      <p:sp>
        <p:nvSpPr>
          <p:cNvPr id="5" name="Rounded Rectangle 4"/>
          <p:cNvSpPr/>
          <p:nvPr/>
        </p:nvSpPr>
        <p:spPr>
          <a:xfrm>
            <a:off x="365760" y="3520440"/>
            <a:ext cx="8412480" cy="594360"/>
          </a:xfrm>
          <a:prstGeom prst="roundRect">
            <a:avLst>
              <a:gd name="adj" fmla="val 6000"/>
            </a:avLst>
          </a:prstGeom>
          <a:solidFill>
            <a:srgbClr val="FCEFE1"/>
          </a:solidFill>
          <a:ln w="9525">
            <a:solidFill>
              <a:srgbClr val="F0CE9E"/>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a:solidFill>
                  <a:srgbClr val="A05A00"/>
                </a:solidFill>
                <a:latin typeface="Arial"/>
              </a:rPr>
              <a:t>Important:  </a:t>
            </a:r>
            <a:r>
              <a:rPr sz="1250">
                <a:solidFill>
                  <a:srgbClr val="1A1A1A"/>
                </a:solidFill>
                <a:latin typeface="Arial"/>
              </a:rPr>
              <a:t>C simulation cannot see timing. Everything on the next slide is invisible here.</a:t>
            </a:r>
          </a:p>
        </p:txBody>
      </p:sp>
      <p:sp>
        <p:nvSpPr>
          <p:cNvPr id="7" name="Slide Number Placeholder 6">
            <a:extLst>
              <a:ext uri="{FF2B5EF4-FFF2-40B4-BE49-F238E27FC236}">
                <a16:creationId xmlns:a16="http://schemas.microsoft.com/office/drawing/2014/main" id="{C7F94831-98E2-A9EE-B17B-6776CBEAC220}"/>
              </a:ext>
            </a:extLst>
          </p:cNvPr>
          <p:cNvSpPr>
            <a:spLocks noGrp="1"/>
          </p:cNvSpPr>
          <p:nvPr>
            <p:ph type="sldNum" sz="quarter" idx="12"/>
          </p:nvPr>
        </p:nvSpPr>
        <p:spPr/>
        <p:txBody>
          <a:bodyPr/>
          <a:lstStyle/>
          <a:p>
            <a:fld id="{61696EC4-B4CF-4701-AD06-A8439D6D8E12}" type="slidenum">
              <a:rPr lang="de-DE" smtClean="0"/>
              <a:t>22</a:t>
            </a:fld>
            <a:endParaRPr lang="de-D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C synthesis — and the number that matters</a:t>
            </a:r>
          </a:p>
        </p:txBody>
      </p:sp>
      <p:pic>
        <p:nvPicPr>
          <p:cNvPr id="3" name="Picture 2" descr="image14.png"/>
          <p:cNvPicPr>
            <a:picLocks noChangeAspect="1"/>
          </p:cNvPicPr>
          <p:nvPr/>
        </p:nvPicPr>
        <p:blipFill>
          <a:blip r:embed="rId2"/>
          <a:stretch>
            <a:fillRect/>
          </a:stretch>
        </p:blipFill>
        <p:spPr>
          <a:xfrm>
            <a:off x="365760" y="1664710"/>
            <a:ext cx="3931920" cy="1279155"/>
          </a:xfrm>
          <a:prstGeom prst="rect">
            <a:avLst/>
          </a:prstGeom>
          <a:ln w="9525">
            <a:solidFill>
              <a:srgbClr val="CFCFCF"/>
            </a:solidFill>
          </a:ln>
          <a:effectLst/>
        </p:spPr>
      </p:pic>
      <p:sp>
        <p:nvSpPr>
          <p:cNvPr id="4" name="TextBox 3"/>
          <p:cNvSpPr txBox="1"/>
          <p:nvPr/>
        </p:nvSpPr>
        <p:spPr>
          <a:xfrm>
            <a:off x="365760" y="3086100"/>
            <a:ext cx="3931920" cy="320040"/>
          </a:xfrm>
          <a:prstGeom prst="rect">
            <a:avLst/>
          </a:prstGeom>
          <a:noFill/>
        </p:spPr>
        <p:txBody>
          <a:bodyPr wrap="square" lIns="0" tIns="0" rIns="0" bIns="0">
            <a:noAutofit/>
          </a:bodyPr>
          <a:lstStyle/>
          <a:p>
            <a:pPr algn="ctr">
              <a:lnSpc>
                <a:spcPct val="110000"/>
              </a:lnSpc>
            </a:pPr>
            <a:r>
              <a:rPr sz="1050" b="0" i="1" dirty="0">
                <a:solidFill>
                  <a:srgbClr val="595959"/>
                </a:solidFill>
                <a:latin typeface="Arial"/>
              </a:rPr>
              <a:t>Synthesis summary: Timing Estimate and Interval in the Performance &amp; Resource table</a:t>
            </a:r>
          </a:p>
        </p:txBody>
      </p:sp>
      <p:sp>
        <p:nvSpPr>
          <p:cNvPr id="5" name="TextBox 4"/>
          <p:cNvSpPr txBox="1"/>
          <p:nvPr/>
        </p:nvSpPr>
        <p:spPr>
          <a:xfrm>
            <a:off x="4480560" y="932688"/>
            <a:ext cx="4297680" cy="228600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350" dirty="0">
                <a:solidFill>
                  <a:srgbClr val="1A1A1A"/>
                </a:solidFill>
                <a:latin typeface="Arial"/>
              </a:rPr>
              <a:t>Check Interval = 1: the block performs one execution per clock cycle.</a:t>
            </a:r>
          </a:p>
          <a:p>
            <a:pPr marL="182880" indent="-182880" algn="l">
              <a:lnSpc>
                <a:spcPct val="105000"/>
              </a:lnSpc>
              <a:spcAft>
                <a:spcPts val="600"/>
              </a:spcAft>
              <a:buClr>
                <a:srgbClr val="009682"/>
              </a:buClr>
              <a:buFont typeface="Arial"/>
              <a:buChar char="▪"/>
            </a:pPr>
            <a:r>
              <a:rPr sz="1350" dirty="0">
                <a:solidFill>
                  <a:srgbClr val="1A1A1A"/>
                </a:solidFill>
                <a:latin typeface="Arial"/>
              </a:rPr>
              <a:t>Without #pragma HLS PIPELINE II=1 the tool spreads the body over ~35 cycles. The scan then runs 35× too slowly and the display flickers visibly.</a:t>
            </a:r>
          </a:p>
          <a:p>
            <a:pPr marL="182880" indent="-182880" algn="l">
              <a:lnSpc>
                <a:spcPct val="105000"/>
              </a:lnSpc>
              <a:spcAft>
                <a:spcPts val="600"/>
              </a:spcAft>
              <a:buClr>
                <a:srgbClr val="009682"/>
              </a:buClr>
              <a:buFont typeface="Arial"/>
              <a:buChar char="▪"/>
            </a:pPr>
            <a:r>
              <a:rPr sz="1350" dirty="0">
                <a:solidFill>
                  <a:srgbClr val="1A1A1A"/>
                </a:solidFill>
                <a:latin typeface="Arial"/>
              </a:rPr>
              <a:t>Also check: estimated clock under 20 ns, and no BRAM or DSP for a decoder.</a:t>
            </a:r>
          </a:p>
        </p:txBody>
      </p:sp>
      <p:sp>
        <p:nvSpPr>
          <p:cNvPr id="6" name="Rounded Rectangle 5"/>
          <p:cNvSpPr/>
          <p:nvPr/>
        </p:nvSpPr>
        <p:spPr>
          <a:xfrm>
            <a:off x="4480560" y="3246120"/>
            <a:ext cx="4297680" cy="1051560"/>
          </a:xfrm>
          <a:prstGeom prst="roundRect">
            <a:avLst>
              <a:gd name="adj" fmla="val 6000"/>
            </a:avLst>
          </a:prstGeom>
          <a:solidFill>
            <a:srgbClr val="E8F5F3"/>
          </a:solidFill>
          <a:ln w="9525">
            <a:solidFill>
              <a:srgbClr val="BFE3DC"/>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250" b="1">
                <a:solidFill>
                  <a:srgbClr val="006B5C"/>
                </a:solidFill>
                <a:latin typeface="Arial"/>
              </a:rPr>
              <a:t>Note:  </a:t>
            </a:r>
            <a:r>
              <a:rPr sz="1250">
                <a:solidFill>
                  <a:srgbClr val="1A1A1A"/>
                </a:solidFill>
                <a:latin typeface="Arial"/>
              </a:rPr>
              <a:t>This is the lesson of the lab. The C simulation passes either way. Only the synthesis report reveals the problem.</a:t>
            </a:r>
          </a:p>
        </p:txBody>
      </p:sp>
      <p:sp>
        <p:nvSpPr>
          <p:cNvPr id="8" name="Slide Number Placeholder 7">
            <a:extLst>
              <a:ext uri="{FF2B5EF4-FFF2-40B4-BE49-F238E27FC236}">
                <a16:creationId xmlns:a16="http://schemas.microsoft.com/office/drawing/2014/main" id="{96D8F6C6-7EE6-36D8-EB94-EF5BA764C26B}"/>
              </a:ext>
            </a:extLst>
          </p:cNvPr>
          <p:cNvSpPr>
            <a:spLocks noGrp="1"/>
          </p:cNvSpPr>
          <p:nvPr>
            <p:ph type="sldNum" sz="quarter" idx="12"/>
          </p:nvPr>
        </p:nvSpPr>
        <p:spPr/>
        <p:txBody>
          <a:bodyPr/>
          <a:lstStyle/>
          <a:p>
            <a:fld id="{61696EC4-B4CF-4701-AD06-A8439D6D8E12}" type="slidenum">
              <a:rPr lang="de-DE" smtClean="0"/>
              <a:t>23</a:t>
            </a:fld>
            <a:endParaRPr lang="de-D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Exporting the IP</a:t>
            </a:r>
          </a:p>
        </p:txBody>
      </p:sp>
      <p:pic>
        <p:nvPicPr>
          <p:cNvPr id="3" name="Picture 2" descr="image16.png"/>
          <p:cNvPicPr>
            <a:picLocks noChangeAspect="1"/>
          </p:cNvPicPr>
          <p:nvPr/>
        </p:nvPicPr>
        <p:blipFill>
          <a:blip r:embed="rId2"/>
          <a:stretch>
            <a:fillRect/>
          </a:stretch>
        </p:blipFill>
        <p:spPr>
          <a:xfrm>
            <a:off x="990600" y="932688"/>
            <a:ext cx="2682240" cy="3108960"/>
          </a:xfrm>
          <a:prstGeom prst="rect">
            <a:avLst/>
          </a:prstGeom>
          <a:ln w="9525">
            <a:solidFill>
              <a:srgbClr val="CFCFCF"/>
            </a:solidFill>
          </a:ln>
          <a:effectLst/>
        </p:spPr>
      </p:pic>
      <p:sp>
        <p:nvSpPr>
          <p:cNvPr id="4" name="TextBox 3"/>
          <p:cNvSpPr txBox="1"/>
          <p:nvPr/>
        </p:nvSpPr>
        <p:spPr>
          <a:xfrm>
            <a:off x="365760" y="4069080"/>
            <a:ext cx="3931920" cy="320040"/>
          </a:xfrm>
          <a:prstGeom prst="rect">
            <a:avLst/>
          </a:prstGeom>
          <a:noFill/>
        </p:spPr>
        <p:txBody>
          <a:bodyPr wrap="square" lIns="0" tIns="0" rIns="0" bIns="0">
            <a:noAutofit/>
          </a:bodyPr>
          <a:lstStyle/>
          <a:p>
            <a:pPr algn="ctr">
              <a:lnSpc>
                <a:spcPct val="110000"/>
              </a:lnSpc>
            </a:pPr>
            <a:r>
              <a:rPr sz="1050" b="0" i="1">
                <a:solidFill>
                  <a:srgbClr val="595959"/>
                </a:solidFill>
                <a:latin typeface="Arial"/>
              </a:rPr>
              <a:t>Export RTL dialog: format Vivado IP (.zip)</a:t>
            </a:r>
          </a:p>
        </p:txBody>
      </p:sp>
      <p:sp>
        <p:nvSpPr>
          <p:cNvPr id="5" name="TextBox 4"/>
          <p:cNvSpPr txBox="1"/>
          <p:nvPr/>
        </p:nvSpPr>
        <p:spPr>
          <a:xfrm>
            <a:off x="4480560" y="932688"/>
            <a:ext cx="4297680" cy="2377440"/>
          </a:xfrm>
          <a:prstGeom prst="rect">
            <a:avLst/>
          </a:prstGeom>
          <a:noFill/>
        </p:spPr>
        <p:txBody>
          <a:bodyPr wrap="square" lIns="0" tIns="0" rIns="0" bIns="0">
            <a:noAutofit/>
          </a:bodyPr>
          <a:lstStyle/>
          <a:p>
            <a:pPr marL="182880" indent="-182880" algn="l">
              <a:lnSpc>
                <a:spcPct val="105000"/>
              </a:lnSpc>
              <a:spcAft>
                <a:spcPts val="600"/>
              </a:spcAft>
              <a:buClr>
                <a:srgbClr val="009682"/>
              </a:buClr>
              <a:buFont typeface="Arial"/>
              <a:buChar char="▪"/>
            </a:pPr>
            <a:r>
              <a:rPr sz="1400">
                <a:solidFill>
                  <a:srgbClr val="1A1A1A"/>
                </a:solidFill>
                <a:latin typeface="Arial"/>
              </a:rPr>
              <a:t>Solution → Export RTL, format Vivado IP (.zip).</a:t>
            </a:r>
          </a:p>
          <a:p>
            <a:pPr marL="182880" indent="-182880" algn="l">
              <a:lnSpc>
                <a:spcPct val="105000"/>
              </a:lnSpc>
              <a:spcAft>
                <a:spcPts val="600"/>
              </a:spcAft>
              <a:buClr>
                <a:srgbClr val="009682"/>
              </a:buClr>
              <a:buFont typeface="Arial"/>
              <a:buChar char="▪"/>
            </a:pPr>
            <a:r>
              <a:rPr sz="1400">
                <a:solidFill>
                  <a:srgbClr val="1A1A1A"/>
                </a:solidFill>
                <a:latin typeface="Arial"/>
              </a:rPr>
              <a:t>Verify afterwards that solution1/impl/export.zip and solution1/impl/ip/component.xml exist.</a:t>
            </a:r>
          </a:p>
          <a:p>
            <a:pPr marL="182880" indent="-182880" algn="l">
              <a:lnSpc>
                <a:spcPct val="105000"/>
              </a:lnSpc>
              <a:spcAft>
                <a:spcPts val="600"/>
              </a:spcAft>
              <a:buClr>
                <a:srgbClr val="009682"/>
              </a:buClr>
              <a:buFont typeface="Arial"/>
              <a:buChar char="▪"/>
            </a:pPr>
            <a:r>
              <a:rPr sz="1400">
                <a:solidFill>
                  <a:srgbClr val="1A1A1A"/>
                </a:solidFill>
                <a:latin typeface="Arial"/>
              </a:rPr>
              <a:t>This exported IP is exactly what Lab 2 imports into a Vivado block design.</a:t>
            </a:r>
          </a:p>
        </p:txBody>
      </p:sp>
      <p:sp>
        <p:nvSpPr>
          <p:cNvPr id="7" name="Slide Number Placeholder 6">
            <a:extLst>
              <a:ext uri="{FF2B5EF4-FFF2-40B4-BE49-F238E27FC236}">
                <a16:creationId xmlns:a16="http://schemas.microsoft.com/office/drawing/2014/main" id="{DABE7587-62BC-0625-A324-6875FF216021}"/>
              </a:ext>
            </a:extLst>
          </p:cNvPr>
          <p:cNvSpPr>
            <a:spLocks noGrp="1"/>
          </p:cNvSpPr>
          <p:nvPr>
            <p:ph type="sldNum" sz="quarter" idx="12"/>
          </p:nvPr>
        </p:nvSpPr>
        <p:spPr/>
        <p:txBody>
          <a:bodyPr/>
          <a:lstStyle/>
          <a:p>
            <a:fld id="{61696EC4-B4CF-4701-AD06-A8439D6D8E12}" type="slidenum">
              <a:rPr lang="de-DE" smtClean="0"/>
              <a:t>24</a:t>
            </a:fld>
            <a:endParaRPr lang="de-D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A1A1A"/>
                </a:solidFill>
                <a:latin typeface="Arial"/>
              </a:rPr>
              <a:t>Checklist</a:t>
            </a:r>
          </a:p>
        </p:txBody>
      </p:sp>
      <p:sp>
        <p:nvSpPr>
          <p:cNvPr id="3" name="TextBox 2"/>
          <p:cNvSpPr txBox="1"/>
          <p:nvPr/>
        </p:nvSpPr>
        <p:spPr>
          <a:xfrm>
            <a:off x="365760" y="932688"/>
            <a:ext cx="8412480" cy="1554480"/>
          </a:xfrm>
          <a:prstGeom prst="rect">
            <a:avLst/>
          </a:prstGeom>
          <a:noFill/>
        </p:spPr>
        <p:txBody>
          <a:bodyPr wrap="square" lIns="0" tIns="0" rIns="0" bIns="0">
            <a:noAutofit/>
          </a:bodyPr>
          <a:lstStyle/>
          <a:p>
            <a:pPr>
              <a:lnSpc>
                <a:spcPct val="105000"/>
              </a:lnSpc>
              <a:spcAft>
                <a:spcPts val="500"/>
              </a:spcAft>
            </a:pPr>
            <a:r>
              <a:rPr sz="1250" b="1">
                <a:solidFill>
                  <a:srgbClr val="006B5C"/>
                </a:solidFill>
                <a:latin typeface="Arial"/>
              </a:rPr>
              <a:t>✓  </a:t>
            </a:r>
            <a:r>
              <a:rPr sz="1250">
                <a:solidFill>
                  <a:srgbClr val="1A1A1A"/>
                </a:solidFill>
                <a:latin typeface="Arial"/>
              </a:rPr>
              <a:t>Vitis HLS project created, part and clock configured</a:t>
            </a:r>
          </a:p>
          <a:p>
            <a:pPr>
              <a:lnSpc>
                <a:spcPct val="105000"/>
              </a:lnSpc>
              <a:spcAft>
                <a:spcPts val="500"/>
              </a:spcAft>
            </a:pPr>
            <a:r>
              <a:rPr sz="1250" b="1">
                <a:solidFill>
                  <a:srgbClr val="006B5C"/>
                </a:solidFill>
                <a:latin typeface="Arial"/>
              </a:rPr>
              <a:t>✓  </a:t>
            </a:r>
            <a:r>
              <a:rPr sz="1250">
                <a:solidFill>
                  <a:srgbClr val="1A1A1A"/>
                </a:solidFill>
                <a:latin typeface="Arial"/>
              </a:rPr>
              <a:t>Segment table written from the XDC pin mapping</a:t>
            </a:r>
          </a:p>
          <a:p>
            <a:pPr>
              <a:lnSpc>
                <a:spcPct val="105000"/>
              </a:lnSpc>
              <a:spcAft>
                <a:spcPts val="500"/>
              </a:spcAft>
            </a:pPr>
            <a:r>
              <a:rPr sz="1250" b="1">
                <a:solidFill>
                  <a:srgbClr val="006B5C"/>
                </a:solidFill>
                <a:latin typeface="Arial"/>
              </a:rPr>
              <a:t>✓  </a:t>
            </a:r>
            <a:r>
              <a:rPr sz="1250">
                <a:solidFill>
                  <a:srgbClr val="1A1A1A"/>
                </a:solidFill>
                <a:latin typeface="Arial"/>
              </a:rPr>
              <a:t>Scan implemented with static tick / pos registers</a:t>
            </a:r>
          </a:p>
          <a:p>
            <a:pPr>
              <a:lnSpc>
                <a:spcPct val="105000"/>
              </a:lnSpc>
              <a:spcAft>
                <a:spcPts val="500"/>
              </a:spcAft>
            </a:pPr>
            <a:r>
              <a:rPr sz="1250" b="1">
                <a:solidFill>
                  <a:srgbClr val="006B5C"/>
                </a:solidFill>
                <a:latin typeface="Arial"/>
              </a:rPr>
              <a:t>✓  </a:t>
            </a:r>
            <a:r>
              <a:rPr sz="1250">
                <a:solidFill>
                  <a:srgbClr val="1A1A1A"/>
                </a:solidFill>
                <a:latin typeface="Arial"/>
              </a:rPr>
              <a:t>Anodes driven as ~(1 &lt;&lt; pos), exactly one active at a time</a:t>
            </a:r>
          </a:p>
          <a:p>
            <a:pPr>
              <a:lnSpc>
                <a:spcPct val="105000"/>
              </a:lnSpc>
              <a:spcAft>
                <a:spcPts val="500"/>
              </a:spcAft>
            </a:pPr>
            <a:r>
              <a:rPr sz="1250" b="1">
                <a:solidFill>
                  <a:srgbClr val="006B5C"/>
                </a:solidFill>
                <a:latin typeface="Arial"/>
              </a:rPr>
              <a:t>✓  </a:t>
            </a:r>
            <a:r>
              <a:rPr sz="1250">
                <a:solidFill>
                  <a:srgbClr val="1A1A1A"/>
                </a:solidFill>
                <a:latin typeface="Arial"/>
              </a:rPr>
              <a:t>C simulation passes on the fixed vectors</a:t>
            </a:r>
          </a:p>
          <a:p>
            <a:pPr>
              <a:lnSpc>
                <a:spcPct val="105000"/>
              </a:lnSpc>
              <a:spcAft>
                <a:spcPts val="500"/>
              </a:spcAft>
            </a:pPr>
            <a:r>
              <a:rPr sz="1250" b="1">
                <a:solidFill>
                  <a:srgbClr val="006B5C"/>
                </a:solidFill>
                <a:latin typeface="Arial"/>
              </a:rPr>
              <a:t>✓  </a:t>
            </a:r>
            <a:r>
              <a:rPr sz="1250">
                <a:solidFill>
                  <a:srgbClr val="1A1A1A"/>
                </a:solidFill>
                <a:latin typeface="Arial"/>
              </a:rPr>
              <a:t>Synthesis report checked: Interval = 1, timing met</a:t>
            </a:r>
          </a:p>
          <a:p>
            <a:pPr>
              <a:lnSpc>
                <a:spcPct val="105000"/>
              </a:lnSpc>
              <a:spcAft>
                <a:spcPts val="500"/>
              </a:spcAft>
            </a:pPr>
            <a:r>
              <a:rPr sz="1250" b="1">
                <a:solidFill>
                  <a:srgbClr val="006B5C"/>
                </a:solidFill>
                <a:latin typeface="Arial"/>
              </a:rPr>
              <a:t>✓  </a:t>
            </a:r>
            <a:r>
              <a:rPr sz="1250">
                <a:solidFill>
                  <a:srgbClr val="1A1A1A"/>
                </a:solidFill>
                <a:latin typeface="Arial"/>
              </a:rPr>
              <a:t>IP exported</a:t>
            </a:r>
          </a:p>
        </p:txBody>
      </p:sp>
      <p:sp>
        <p:nvSpPr>
          <p:cNvPr id="4" name="TextBox 3"/>
          <p:cNvSpPr txBox="1"/>
          <p:nvPr/>
        </p:nvSpPr>
        <p:spPr>
          <a:xfrm>
            <a:off x="365760" y="2743200"/>
            <a:ext cx="8412480" cy="320040"/>
          </a:xfrm>
          <a:prstGeom prst="rect">
            <a:avLst/>
          </a:prstGeom>
          <a:noFill/>
        </p:spPr>
        <p:txBody>
          <a:bodyPr wrap="square" lIns="0" tIns="0" rIns="0" bIns="0">
            <a:noAutofit/>
          </a:bodyPr>
          <a:lstStyle/>
          <a:p>
            <a:pPr algn="l">
              <a:lnSpc>
                <a:spcPct val="110000"/>
              </a:lnSpc>
            </a:pPr>
            <a:r>
              <a:rPr sz="1300" b="1" i="0" dirty="0">
                <a:solidFill>
                  <a:srgbClr val="4664AA"/>
                </a:solidFill>
                <a:latin typeface="Arial"/>
              </a:rPr>
              <a:t>[next] Lab 2 — the same block, controlled by the processor over AXI</a:t>
            </a:r>
          </a:p>
        </p:txBody>
      </p:sp>
      <p:graphicFrame>
        <p:nvGraphicFramePr>
          <p:cNvPr id="5" name="Table 4"/>
          <p:cNvGraphicFramePr>
            <a:graphicFrameLocks noGrp="1"/>
          </p:cNvGraphicFramePr>
          <p:nvPr/>
        </p:nvGraphicFramePr>
        <p:xfrm>
          <a:off x="365760" y="3063240"/>
          <a:ext cx="5120640" cy="1051560"/>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262890">
                <a:tc>
                  <a:txBody>
                    <a:bodyPr/>
                    <a:lstStyle/>
                    <a:p>
                      <a:r>
                        <a:rPr sz="1250" b="1">
                          <a:solidFill>
                            <a:srgbClr val="FFFFFF"/>
                          </a:solidFill>
                          <a:latin typeface="Arial"/>
                        </a:rPr>
                        <a:t>Reference result</a:t>
                      </a:r>
                    </a:p>
                  </a:txBody>
                  <a:tcPr marL="54864" marR="54864" marT="27432" marB="27432" anchor="ctr">
                    <a:solidFill>
                      <a:srgbClr val="009682"/>
                    </a:solidFill>
                  </a:tcPr>
                </a:tc>
                <a:tc>
                  <a:txBody>
                    <a:bodyPr/>
                    <a:lstStyle/>
                    <a:p>
                      <a:r>
                        <a:rPr sz="1250" b="1">
                          <a:solidFill>
                            <a:srgbClr val="FFFFFF"/>
                          </a:solidFill>
                          <a:latin typeface="Arial"/>
                        </a:rPr>
                        <a:t>Value</a:t>
                      </a:r>
                    </a:p>
                  </a:txBody>
                  <a:tcPr marL="54864" marR="54864" marT="27432" marB="27432" anchor="ctr">
                    <a:solidFill>
                      <a:srgbClr val="009682"/>
                    </a:solidFill>
                  </a:tcPr>
                </a:tc>
                <a:extLst>
                  <a:ext uri="{0D108BD9-81ED-4DB2-BD59-A6C34878D82A}">
                    <a16:rowId xmlns:a16="http://schemas.microsoft.com/office/drawing/2014/main" val="10000"/>
                  </a:ext>
                </a:extLst>
              </a:tr>
              <a:tr h="262890">
                <a:tc>
                  <a:txBody>
                    <a:bodyPr/>
                    <a:lstStyle/>
                    <a:p>
                      <a:r>
                        <a:rPr sz="1250">
                          <a:solidFill>
                            <a:srgbClr val="1A1A1A"/>
                          </a:solidFill>
                          <a:latin typeface="Arial"/>
                        </a:rPr>
                        <a:t>Interval (II)</a:t>
                      </a:r>
                    </a:p>
                  </a:txBody>
                  <a:tcPr marL="54864" marR="54864" marT="27432" marB="27432" anchor="ctr">
                    <a:solidFill>
                      <a:srgbClr val="F2F8F7"/>
                    </a:solidFill>
                  </a:tcPr>
                </a:tc>
                <a:tc>
                  <a:txBody>
                    <a:bodyPr/>
                    <a:lstStyle/>
                    <a:p>
                      <a:r>
                        <a:rPr sz="1250">
                          <a:solidFill>
                            <a:srgbClr val="1A1A1A"/>
                          </a:solidFill>
                          <a:latin typeface="Arial"/>
                        </a:rPr>
                        <a:t>1</a:t>
                      </a:r>
                    </a:p>
                  </a:txBody>
                  <a:tcPr marL="54864" marR="54864" marT="27432" marB="27432" anchor="ctr">
                    <a:solidFill>
                      <a:srgbClr val="F2F8F7"/>
                    </a:solidFill>
                  </a:tcPr>
                </a:tc>
                <a:extLst>
                  <a:ext uri="{0D108BD9-81ED-4DB2-BD59-A6C34878D82A}">
                    <a16:rowId xmlns:a16="http://schemas.microsoft.com/office/drawing/2014/main" val="10001"/>
                  </a:ext>
                </a:extLst>
              </a:tr>
              <a:tr h="262890">
                <a:tc>
                  <a:txBody>
                    <a:bodyPr/>
                    <a:lstStyle/>
                    <a:p>
                      <a:r>
                        <a:rPr sz="1250">
                          <a:solidFill>
                            <a:srgbClr val="1A1A1A"/>
                          </a:solidFill>
                          <a:latin typeface="Arial"/>
                        </a:rPr>
                        <a:t>Estimated Fmax</a:t>
                      </a:r>
                    </a:p>
                  </a:txBody>
                  <a:tcPr marL="54864" marR="54864" marT="27432" marB="27432" anchor="ctr">
                    <a:solidFill>
                      <a:srgbClr val="FFFFFF"/>
                    </a:solidFill>
                  </a:tcPr>
                </a:tc>
                <a:tc>
                  <a:txBody>
                    <a:bodyPr/>
                    <a:lstStyle/>
                    <a:p>
                      <a:r>
                        <a:rPr sz="1250">
                          <a:solidFill>
                            <a:srgbClr val="1A1A1A"/>
                          </a:solidFill>
                          <a:latin typeface="Arial"/>
                        </a:rPr>
                        <a:t>~111 MHz (target 50 MHz)</a:t>
                      </a:r>
                    </a:p>
                  </a:txBody>
                  <a:tcPr marL="54864" marR="54864" marT="27432" marB="27432" anchor="ctr">
                    <a:solidFill>
                      <a:srgbClr val="FFFFFF"/>
                    </a:solidFill>
                  </a:tcPr>
                </a:tc>
                <a:extLst>
                  <a:ext uri="{0D108BD9-81ED-4DB2-BD59-A6C34878D82A}">
                    <a16:rowId xmlns:a16="http://schemas.microsoft.com/office/drawing/2014/main" val="10002"/>
                  </a:ext>
                </a:extLst>
              </a:tr>
              <a:tr h="262890">
                <a:tc>
                  <a:txBody>
                    <a:bodyPr/>
                    <a:lstStyle/>
                    <a:p>
                      <a:r>
                        <a:rPr sz="1250">
                          <a:solidFill>
                            <a:srgbClr val="1A1A1A"/>
                          </a:solidFill>
                          <a:latin typeface="Arial"/>
                        </a:rPr>
                        <a:t>BRAM / DSP</a:t>
                      </a:r>
                    </a:p>
                  </a:txBody>
                  <a:tcPr marL="54864" marR="54864" marT="27432" marB="27432" anchor="ctr">
                    <a:solidFill>
                      <a:srgbClr val="F2F8F7"/>
                    </a:solidFill>
                  </a:tcPr>
                </a:tc>
                <a:tc>
                  <a:txBody>
                    <a:bodyPr/>
                    <a:lstStyle/>
                    <a:p>
                      <a:r>
                        <a:rPr sz="1250">
                          <a:solidFill>
                            <a:srgbClr val="1A1A1A"/>
                          </a:solidFill>
                          <a:latin typeface="Arial"/>
                        </a:rPr>
                        <a:t>0 / 0</a:t>
                      </a:r>
                    </a:p>
                  </a:txBody>
                  <a:tcPr marL="54864" marR="54864" marT="27432" marB="27432" anchor="ctr">
                    <a:solidFill>
                      <a:srgbClr val="F2F8F7"/>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623560" y="3063240"/>
            <a:ext cx="3154680" cy="1234440"/>
          </a:xfrm>
          <a:prstGeom prst="roundRect">
            <a:avLst>
              <a:gd name="adj" fmla="val 6000"/>
            </a:avLst>
          </a:prstGeom>
          <a:solidFill>
            <a:srgbClr val="E8F5F3"/>
          </a:solidFill>
          <a:ln w="9525">
            <a:solidFill>
              <a:srgbClr val="BFE3DC"/>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5000"/>
              </a:lnSpc>
            </a:pPr>
            <a:r>
              <a:rPr sz="1150" b="1" dirty="0">
                <a:solidFill>
                  <a:srgbClr val="006B5C"/>
                </a:solidFill>
                <a:latin typeface="Arial"/>
              </a:rPr>
              <a:t>Note:  </a:t>
            </a:r>
            <a:r>
              <a:rPr sz="1150" dirty="0">
                <a:solidFill>
                  <a:srgbClr val="1A1A1A"/>
                </a:solidFill>
                <a:latin typeface="Arial"/>
              </a:rPr>
              <a:t>Deliverables. The three source files, the synthesis report, the exported IP, and a short answer to: why does this display need a clock at all?</a:t>
            </a:r>
          </a:p>
        </p:txBody>
      </p:sp>
      <p:sp>
        <p:nvSpPr>
          <p:cNvPr id="8" name="Slide Number Placeholder 7">
            <a:extLst>
              <a:ext uri="{FF2B5EF4-FFF2-40B4-BE49-F238E27FC236}">
                <a16:creationId xmlns:a16="http://schemas.microsoft.com/office/drawing/2014/main" id="{35CA17CF-1B90-5C81-AD2F-14DEB9729932}"/>
              </a:ext>
            </a:extLst>
          </p:cNvPr>
          <p:cNvSpPr>
            <a:spLocks noGrp="1"/>
          </p:cNvSpPr>
          <p:nvPr>
            <p:ph type="sldNum" sz="quarter" idx="12"/>
          </p:nvPr>
        </p:nvSpPr>
        <p:spPr/>
        <p:txBody>
          <a:bodyPr/>
          <a:lstStyle/>
          <a:p>
            <a:fld id="{61696EC4-B4CF-4701-AD06-A8439D6D8E12}" type="slidenum">
              <a:rPr lang="de-DE" smtClean="0"/>
              <a:t>25</a:t>
            </a:fld>
            <a:endParaRPr lang="de-DE"/>
          </a:p>
        </p:txBody>
      </p:sp>
    </p:spTree>
  </p:cSld>
  <p:clrMapOvr>
    <a:masterClrMapping/>
  </p:clrMapOvr>
</p:sld>
</file>

<file path=ppt/theme/theme1.xml><?xml version="1.0" encoding="utf-8"?>
<a:theme xmlns:a="http://schemas.openxmlformats.org/drawingml/2006/main" name="Design1">
  <a:themeElements>
    <a:clrScheme name="KIT">
      <a:dk1>
        <a:sysClr val="windowText" lastClr="000000"/>
      </a:dk1>
      <a:lt1>
        <a:sysClr val="window" lastClr="FFFFFF"/>
      </a:lt1>
      <a:dk2>
        <a:srgbClr val="009682"/>
      </a:dk2>
      <a:lt2>
        <a:srgbClr val="D9D9D9"/>
      </a:lt2>
      <a:accent1>
        <a:srgbClr val="009682"/>
      </a:accent1>
      <a:accent2>
        <a:srgbClr val="4664AA"/>
      </a:accent2>
      <a:accent3>
        <a:srgbClr val="D9D9D9"/>
      </a:accent3>
      <a:accent4>
        <a:srgbClr val="4CB5A7"/>
      </a:accent4>
      <a:accent5>
        <a:srgbClr val="7D92C3"/>
      </a:accent5>
      <a:accent6>
        <a:srgbClr val="7FCAC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sign1" id="{D385F135-4BB1-4144-883F-BD663B3FA4BF}" vid="{9BD07EEE-6672-4655-8F7E-3FE0E154673F}"/>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Design1</Template>
  <TotalTime>73</TotalTime>
  <Words>2644</Words>
  <Application>Microsoft Macintosh PowerPoint</Application>
  <PresentationFormat>Custom</PresentationFormat>
  <Paragraphs>235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Consolas</vt:lpstr>
      <vt:lpstr>Design1</vt:lpstr>
      <vt:lpstr>PowerPoint Presentation</vt:lpstr>
      <vt:lpstr>PowerPoint Presentation</vt:lpstr>
      <vt:lpstr>Lab objective and tool flow</vt:lpstr>
      <vt:lpstr>Repository structure</vt:lpstr>
      <vt:lpstr>PowerPoint Presentation</vt:lpstr>
      <vt:lpstr>Starting Vitis HLS 2022.2</vt:lpstr>
      <vt:lpstr>New project: name, location, sources</vt:lpstr>
      <vt:lpstr>Solution settings: top function, part, clock</vt:lpstr>
      <vt:lpstr>Starting Vivado 2022.2</vt:lpstr>
      <vt:lpstr>Setup verification</vt:lpstr>
      <vt:lpstr>PowerPoint Presentation</vt:lpstr>
      <vt:lpstr>What this lab is about</vt:lpstr>
      <vt:lpstr>Task : Seven-segment decoder using HLS</vt:lpstr>
      <vt:lpstr>The display: four digits, one bus</vt:lpstr>
      <vt:lpstr>You cannot show two digits at once At any single instant, only one digit can be lit + but the scan makes all four appear lit simultaneously to the eye</vt:lpstr>
      <vt:lpstr>Combinational vs. clocked</vt:lpstr>
      <vt:lpstr>Which bit drives which segment</vt:lpstr>
      <vt:lpstr>Driving the anodes</vt:lpstr>
      <vt:lpstr>Putting it together</vt:lpstr>
      <vt:lpstr>The testbench</vt:lpstr>
      <vt:lpstr>Creating the Vitis HLS project</vt:lpstr>
      <vt:lpstr>C simulation</vt:lpstr>
      <vt:lpstr>C synthesis — and the number that matters</vt:lpstr>
      <vt:lpstr>Exporting the IP</vt:lpstr>
      <vt:lpstr>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Franzi</dc:creator>
  <cp:lastModifiedBy>urelg</cp:lastModifiedBy>
  <cp:revision>91</cp:revision>
  <dcterms:created xsi:type="dcterms:W3CDTF">2017-12-07T14:50:50Z</dcterms:created>
  <dcterms:modified xsi:type="dcterms:W3CDTF">2026-08-01T23:42:00Z</dcterms:modified>
</cp:coreProperties>
</file>